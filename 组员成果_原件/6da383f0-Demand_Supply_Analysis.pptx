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0" i="0" u="none" strike="noStrike" kern="1200" baseline="0">
                <a:solidFill>
                  <a:srgbClr val="1F2933"/>
                </a:solidFill>
                <a:latin typeface="+mn-lt"/>
                <a:ea typeface="+mn-ea"/>
                <a:cs typeface="+mn-cs"/>
              </a:defRPr>
            </a:pPr>
            <a:r>
              <a:rPr sz="1100" b="0" i="0" u="none" strike="noStrike">
                <a:solidFill>
                  <a:srgbClr val="1F2933"/>
                </a:solidFill>
                <a:latin typeface="+mn-lt"/>
              </a:rPr>
              <a:t>Deliveries vs demolition, 2021–2025 total (no. of ships)</a:t>
            </a:r>
            <a:endParaRPr sz="1100" b="0" i="0" u="none" strike="noStrike">
              <a:solidFill>
                <a:srgbClr val="1F2933"/>
              </a:solidFill>
              <a:latin typeface="+mn-lt"/>
            </a:endParaRPr>
          </a:p>
        </c:rich>
      </c:tx>
      <c:layout/>
      <c:overlay val="0"/>
    </c:title>
    <c:autoTitleDeleted val="0"/>
    <c:plotArea>
      <c:layout/>
      <c:barChart>
        <c:barDir val="col"/>
        <c:grouping val="clustered"/>
        <c:varyColors val="0"/>
        <c:ser>
          <c:idx val="0"/>
          <c:order val="0"/>
          <c:tx>
            <c:strRef>
              <c:f>Sheet1!$B$1</c:f>
              <c:strCache>
                <c:ptCount val="1"/>
                <c:pt idx="0">
                  <c:v>Deliveries</c:v>
                </c:pt>
              </c:strCache>
            </c:strRef>
          </c:tx>
          <c:spPr>
            <a:solidFill>
              <a:srgbClr val="1B998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Kamsarmax/Panamax</c:v>
                </c:pt>
                <c:pt idx="1">
                  <c:v>MR (40–55k)</c:v>
                </c:pt>
                <c:pt idx="2">
                  <c:v>Aframax crude</c:v>
                </c:pt>
                <c:pt idx="3">
                  <c:v>LR2</c:v>
                </c:pt>
              </c:strCache>
            </c:strRef>
          </c:cat>
          <c:val>
            <c:numRef>
              <c:f>Sheet1!$B$2:$B$5</c:f>
              <c:numCache>
                <c:formatCode>General</c:formatCode>
                <c:ptCount val="4"/>
                <c:pt idx="0">
                  <c:v>609</c:v>
                </c:pt>
                <c:pt idx="1">
                  <c:v>251</c:v>
                </c:pt>
                <c:pt idx="2">
                  <c:v>71</c:v>
                </c:pt>
                <c:pt idx="3">
                  <c:v>143</c:v>
                </c:pt>
              </c:numCache>
            </c:numRef>
          </c:val>
        </c:ser>
        <c:ser>
          <c:idx val="1"/>
          <c:order val="1"/>
          <c:tx>
            <c:strRef>
              <c:f>Sheet1!$C$1</c:f>
              <c:strCache>
                <c:ptCount val="1"/>
                <c:pt idx="0">
                  <c:v>Demolition</c:v>
                </c:pt>
              </c:strCache>
            </c:strRef>
          </c:tx>
          <c:spPr>
            <a:solidFill>
              <a:srgbClr val="8D99AE"/>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Kamsarmax/Panamax</c:v>
                </c:pt>
                <c:pt idx="1">
                  <c:v>MR (40–55k)</c:v>
                </c:pt>
                <c:pt idx="2">
                  <c:v>Aframax crude</c:v>
                </c:pt>
                <c:pt idx="3">
                  <c:v>LR2</c:v>
                </c:pt>
              </c:strCache>
            </c:strRef>
          </c:cat>
          <c:val>
            <c:numRef>
              <c:f>Sheet1!$C$2:$C$5</c:f>
              <c:numCache>
                <c:formatCode>General</c:formatCode>
                <c:ptCount val="4"/>
                <c:pt idx="0">
                  <c:v>93</c:v>
                </c:pt>
                <c:pt idx="1">
                  <c:v>64</c:v>
                </c:pt>
                <c:pt idx="2">
                  <c:v>46</c:v>
                </c:pt>
                <c:pt idx="3">
                  <c:v>14</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000" b="0" i="0" u="none" strike="noStrike" kern="1200" baseline="0">
                <a:solidFill>
                  <a:srgbClr val="5C6B7A"/>
                </a:solidFill>
                <a:latin typeface="+mn-lt"/>
                <a:ea typeface="+mn-ea"/>
                <a:cs typeface="+mn-cs"/>
              </a:defRPr>
            </a:pPr>
          </a:p>
        </c:txPr>
        <c:crossAx val="2094734552"/>
        <c:crosses val="autoZero"/>
        <c:auto val="1"/>
        <c:lblAlgn val="ctr"/>
        <c:lblOffset val="100"/>
        <c:noMultiLvlLbl val="1"/>
      </c:catAx>
      <c:valAx>
        <c:axId val="2094734552"/>
        <c:scaling>
          <c:orientation val="minMax"/>
          <c:max val="700"/>
        </c:scaling>
        <c:delete val="0"/>
        <c:axPos val="l"/>
        <c:majorGridlines>
          <c:spPr>
            <a:ln w="6350" cap="flat" cmpd="sng" algn="ctr">
              <a:solidFill>
                <a:srgbClr val="E3E8EE"/>
              </a:solidFill>
              <a:prstDash val="solid"/>
              <a:round/>
            </a:ln>
          </c:spPr>
        </c:majorGridlines>
        <c:numFmt formatCode="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900" b="0" i="0" u="none" strike="noStrike" kern="1200" baseline="0">
                <a:solidFill>
                  <a:srgbClr val="5C6B7A"/>
                </a:solidFill>
                <a:latin typeface="+mn-lt"/>
                <a:ea typeface="+mn-ea"/>
                <a:cs typeface="+mn-cs"/>
              </a:defRPr>
            </a:pPr>
          </a:p>
        </c:txPr>
        <c:crossAx val="2094734554"/>
        <c:crosses val="autoZero"/>
        <c:crossBetween val="between"/>
      </c:valAx>
      <c:spPr>
        <a:noFill/>
        <a:ln>
          <a:noFill/>
        </a:ln>
        <a:effectLst/>
      </c:spPr>
    </c:plotArea>
    <c:legend>
      <c:legendPos val="t"/>
      <c:layout/>
      <c:overlay val="0"/>
      <c:txPr>
        <a:bodyPr rot="0" spcFirstLastPara="0" vertOverflow="ellipsis" vert="horz" wrap="square" anchor="ctr" anchorCtr="1"/>
        <a:lstStyle/>
        <a:p>
          <a:pPr>
            <a:defRPr lang="zh-CN" sz="1000" b="0" i="0" u="none" strike="noStrike" kern="1200" baseline="0">
              <a:solidFill>
                <a:srgbClr val="1F2933"/>
              </a:solidFill>
              <a:latin typeface="+mn-lt"/>
              <a:ea typeface="+mn-ea"/>
              <a:cs typeface="+mn-lt"/>
            </a:defRPr>
          </a:pPr>
        </a:p>
      </c:txPr>
    </c:legend>
    <c:plotVisOnly val="1"/>
    <c:dispBlanksAs val="span"/>
    <c:showDLblsOverMax val="0"/>
    <c:extLst>
      <c:ext uri="{0b15fc19-7d7d-44ad-8c2d-2c3a37ce22c3}">
        <chartProps xmlns="https://web.wps.cn/et/2018/main" chartId="{b2ea437b-8864-4f5c-ac51-e97af178b6a1}"/>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0" i="0" u="none" strike="noStrike" kern="1200" baseline="0">
                <a:solidFill>
                  <a:srgbClr val="1F2933"/>
                </a:solidFill>
                <a:latin typeface="+mn-lt"/>
                <a:ea typeface="+mn-ea"/>
                <a:cs typeface="+mn-cs"/>
              </a:defRPr>
            </a:pPr>
            <a:r>
              <a:rPr sz="1100" b="0" i="0" u="none" strike="noStrike">
                <a:solidFill>
                  <a:srgbClr val="1F2933"/>
                </a:solidFill>
                <a:latin typeface="+mn-lt"/>
              </a:rPr>
              <a:t>Orderbook by scheduled delivery year (no. of ships)</a:t>
            </a:r>
            <a:endParaRPr sz="1100" b="0" i="0" u="none" strike="noStrike">
              <a:solidFill>
                <a:srgbClr val="1F2933"/>
              </a:solidFill>
              <a:latin typeface="+mn-lt"/>
            </a:endParaRPr>
          </a:p>
        </c:rich>
      </c:tx>
      <c:layout/>
      <c:overlay val="0"/>
    </c:title>
    <c:autoTitleDeleted val="0"/>
    <c:plotArea>
      <c:layout/>
      <c:barChart>
        <c:barDir val="col"/>
        <c:grouping val="clustered"/>
        <c:varyColors val="0"/>
        <c:ser>
          <c:idx val="0"/>
          <c:order val="0"/>
          <c:tx>
            <c:strRef>
              <c:f>Sheet1!$B$1</c:f>
              <c:strCache>
                <c:ptCount val="1"/>
                <c:pt idx="0">
                  <c:v>Kamsarmax</c:v>
                </c:pt>
              </c:strCache>
            </c:strRef>
          </c:tx>
          <c:spPr>
            <a:solidFill>
              <a:srgbClr val="0B2545"/>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2026*</c:v>
                </c:pt>
                <c:pt idx="1">
                  <c:v>2027</c:v>
                </c:pt>
                <c:pt idx="2">
                  <c:v>2028</c:v>
                </c:pt>
                <c:pt idx="3">
                  <c:v>2029</c:v>
                </c:pt>
                <c:pt idx="4">
                  <c:v>2030</c:v>
                </c:pt>
              </c:strCache>
            </c:strRef>
          </c:cat>
          <c:val>
            <c:numRef>
              <c:f>Sheet1!$B$2:$B$6</c:f>
              <c:numCache>
                <c:formatCode>General</c:formatCode>
                <c:ptCount val="5"/>
                <c:pt idx="0">
                  <c:v>45</c:v>
                </c:pt>
                <c:pt idx="1">
                  <c:v>171</c:v>
                </c:pt>
                <c:pt idx="2">
                  <c:v>141</c:v>
                </c:pt>
                <c:pt idx="3">
                  <c:v>84</c:v>
                </c:pt>
                <c:pt idx="4">
                  <c:v>31</c:v>
                </c:pt>
              </c:numCache>
            </c:numRef>
          </c:val>
        </c:ser>
        <c:ser>
          <c:idx val="1"/>
          <c:order val="1"/>
          <c:tx>
            <c:strRef>
              <c:f>Sheet1!$C$1</c:f>
              <c:strCache>
                <c:ptCount val="1"/>
                <c:pt idx="0">
                  <c:v>MR</c:v>
                </c:pt>
              </c:strCache>
            </c:strRef>
          </c:tx>
          <c:spPr>
            <a:solidFill>
              <a:srgbClr val="E09F3E"/>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2026*</c:v>
                </c:pt>
                <c:pt idx="1">
                  <c:v>2027</c:v>
                </c:pt>
                <c:pt idx="2">
                  <c:v>2028</c:v>
                </c:pt>
                <c:pt idx="3">
                  <c:v>2029</c:v>
                </c:pt>
                <c:pt idx="4">
                  <c:v>2030</c:v>
                </c:pt>
              </c:strCache>
            </c:strRef>
          </c:cat>
          <c:val>
            <c:numRef>
              <c:f>Sheet1!$C$2:$C$6</c:f>
              <c:numCache>
                <c:formatCode>General</c:formatCode>
                <c:ptCount val="5"/>
                <c:pt idx="0">
                  <c:v>42</c:v>
                </c:pt>
                <c:pt idx="1">
                  <c:v>106</c:v>
                </c:pt>
                <c:pt idx="2">
                  <c:v>107</c:v>
                </c:pt>
                <c:pt idx="3">
                  <c:v>97</c:v>
                </c:pt>
                <c:pt idx="4">
                  <c:v>14</c:v>
                </c:pt>
              </c:numCache>
            </c:numRef>
          </c:val>
        </c:ser>
        <c:ser>
          <c:idx val="2"/>
          <c:order val="2"/>
          <c:tx>
            <c:strRef>
              <c:f>Sheet1!$D$1</c:f>
              <c:strCache>
                <c:ptCount val="1"/>
                <c:pt idx="0">
                  <c:v>Aframax crude</c:v>
                </c:pt>
              </c:strCache>
            </c:strRef>
          </c:tx>
          <c:spPr>
            <a:solidFill>
              <a:srgbClr val="1B998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2026*</c:v>
                </c:pt>
                <c:pt idx="1">
                  <c:v>2027</c:v>
                </c:pt>
                <c:pt idx="2">
                  <c:v>2028</c:v>
                </c:pt>
                <c:pt idx="3">
                  <c:v>2029</c:v>
                </c:pt>
                <c:pt idx="4">
                  <c:v>2030</c:v>
                </c:pt>
              </c:strCache>
            </c:strRef>
          </c:cat>
          <c:val>
            <c:numRef>
              <c:f>Sheet1!$D$2:$D$6</c:f>
              <c:numCache>
                <c:formatCode>General</c:formatCode>
                <c:ptCount val="5"/>
                <c:pt idx="0">
                  <c:v>10</c:v>
                </c:pt>
                <c:pt idx="1">
                  <c:v>18</c:v>
                </c:pt>
                <c:pt idx="2">
                  <c:v>15</c:v>
                </c:pt>
                <c:pt idx="3">
                  <c:v>13</c:v>
                </c:pt>
                <c:pt idx="4">
                  <c:v>6</c:v>
                </c:pt>
              </c:numCache>
            </c:numRef>
          </c:val>
        </c:ser>
        <c:ser>
          <c:idx val="3"/>
          <c:order val="3"/>
          <c:tx>
            <c:strRef>
              <c:f>Sheet1!$E$1</c:f>
              <c:strCache>
                <c:ptCount val="1"/>
                <c:pt idx="0">
                  <c:v>LR2</c:v>
                </c:pt>
              </c:strCache>
            </c:strRef>
          </c:tx>
          <c:spPr>
            <a:solidFill>
              <a:srgbClr val="D1495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2026*</c:v>
                </c:pt>
                <c:pt idx="1">
                  <c:v>2027</c:v>
                </c:pt>
                <c:pt idx="2">
                  <c:v>2028</c:v>
                </c:pt>
                <c:pt idx="3">
                  <c:v>2029</c:v>
                </c:pt>
                <c:pt idx="4">
                  <c:v>2030</c:v>
                </c:pt>
              </c:strCache>
            </c:strRef>
          </c:cat>
          <c:val>
            <c:numRef>
              <c:f>Sheet1!$E$2:$E$6</c:f>
              <c:numCache>
                <c:formatCode>General</c:formatCode>
                <c:ptCount val="5"/>
                <c:pt idx="0">
                  <c:v>10</c:v>
                </c:pt>
                <c:pt idx="1">
                  <c:v>62</c:v>
                </c:pt>
                <c:pt idx="2">
                  <c:v>71</c:v>
                </c:pt>
                <c:pt idx="3">
                  <c:v>53</c:v>
                </c:pt>
                <c:pt idx="4">
                  <c:v>3</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000" b="0" i="0" u="none" strike="noStrike" kern="1200" baseline="0">
                <a:solidFill>
                  <a:srgbClr val="5C6B7A"/>
                </a:solidFill>
                <a:latin typeface="+mn-lt"/>
                <a:ea typeface="+mn-ea"/>
                <a:cs typeface="+mn-cs"/>
              </a:defRPr>
            </a:pPr>
          </a:p>
        </c:txPr>
        <c:crossAx val="2094734552"/>
        <c:crosses val="autoZero"/>
        <c:auto val="1"/>
        <c:lblAlgn val="ctr"/>
        <c:lblOffset val="100"/>
        <c:noMultiLvlLbl val="1"/>
      </c:catAx>
      <c:valAx>
        <c:axId val="2094734552"/>
        <c:scaling>
          <c:orientation val="minMax"/>
          <c:max val="200"/>
        </c:scaling>
        <c:delete val="0"/>
        <c:axPos val="l"/>
        <c:majorGridlines>
          <c:spPr>
            <a:ln w="6350" cap="flat" cmpd="sng" algn="ctr">
              <a:solidFill>
                <a:srgbClr val="E3E8EE"/>
              </a:solidFill>
              <a:prstDash val="solid"/>
              <a:round/>
            </a:ln>
          </c:spPr>
        </c:majorGridlines>
        <c:numFmt formatCode="0"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900" b="0" i="0" u="none" strike="noStrike" kern="1200" baseline="0">
                <a:solidFill>
                  <a:srgbClr val="5C6B7A"/>
                </a:solidFill>
                <a:latin typeface="+mn-lt"/>
                <a:ea typeface="+mn-ea"/>
                <a:cs typeface="+mn-cs"/>
              </a:defRPr>
            </a:pPr>
          </a:p>
        </c:txPr>
        <c:crossAx val="2094734554"/>
        <c:crosses val="autoZero"/>
        <c:crossBetween val="between"/>
      </c:valAx>
      <c:spPr>
        <a:noFill/>
        <a:ln>
          <a:noFill/>
        </a:ln>
        <a:effectLst/>
      </c:spPr>
    </c:plotArea>
    <c:legend>
      <c:legendPos val="t"/>
      <c:layout/>
      <c:overlay val="0"/>
      <c:txPr>
        <a:bodyPr rot="0" spcFirstLastPara="0" vertOverflow="ellipsis" vert="horz" wrap="square" anchor="ctr" anchorCtr="1"/>
        <a:lstStyle/>
        <a:p>
          <a:pPr>
            <a:defRPr lang="zh-CN" sz="1000" b="0" i="0" u="none" strike="noStrike" kern="1200" baseline="0">
              <a:solidFill>
                <a:srgbClr val="1F2933"/>
              </a:solidFill>
              <a:latin typeface="+mn-lt"/>
              <a:ea typeface="+mn-ea"/>
              <a:cs typeface="+mn-lt"/>
            </a:defRPr>
          </a:pPr>
        </a:p>
      </c:txPr>
    </c:legend>
    <c:plotVisOnly val="1"/>
    <c:dispBlanksAs val="span"/>
    <c:showDLblsOverMax val="0"/>
    <c:extLst>
      <c:ext uri="{0b15fc19-7d7d-44ad-8c2d-2c3a37ce22c3}">
        <chartProps xmlns="https://web.wps.cn/et/2018/main" chartId="{22d55641-318b-4825-93ed-2b1b7ed2d9d2}"/>
      </c:ext>
    </c:extLst>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100" b="0" i="0" u="none" strike="noStrike" kern="1200" baseline="0">
                <a:solidFill>
                  <a:srgbClr val="1F2933"/>
                </a:solidFill>
                <a:latin typeface="+mn-lt"/>
                <a:ea typeface="+mn-ea"/>
                <a:cs typeface="+mn-cs"/>
              </a:defRPr>
            </a:pPr>
            <a:r>
              <a:rPr sz="1100" b="0" i="0" u="none" strike="noStrike">
                <a:solidFill>
                  <a:srgbClr val="1F2933"/>
                </a:solidFill>
                <a:latin typeface="+mn-lt"/>
              </a:rPr>
              <a:t>Orderbook vs ships aged 20+ (no. of ships)</a:t>
            </a:r>
            <a:endParaRPr sz="1100" b="0" i="0" u="none" strike="noStrike">
              <a:solidFill>
                <a:srgbClr val="1F2933"/>
              </a:solidFill>
              <a:latin typeface="+mn-lt"/>
            </a:endParaRPr>
          </a:p>
        </c:rich>
      </c:tx>
      <c:layout/>
      <c:overlay val="0"/>
    </c:title>
    <c:autoTitleDeleted val="0"/>
    <c:plotArea>
      <c:layout/>
      <c:barChart>
        <c:barDir val="bar"/>
        <c:grouping val="clustered"/>
        <c:varyColors val="0"/>
        <c:ser>
          <c:idx val="0"/>
          <c:order val="0"/>
          <c:tx>
            <c:strRef>
              <c:f>Sheet1!$B$1</c:f>
              <c:strCache>
                <c:ptCount val="1"/>
                <c:pt idx="0">
                  <c:v>Orderbook</c:v>
                </c:pt>
              </c:strCache>
            </c:strRef>
          </c:tx>
          <c:spPr>
            <a:solidFill>
              <a:srgbClr val="1B998B"/>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Kamsarmax</c:v>
                </c:pt>
                <c:pt idx="1">
                  <c:v>MR</c:v>
                </c:pt>
                <c:pt idx="2">
                  <c:v>Aframax crude</c:v>
                </c:pt>
                <c:pt idx="3">
                  <c:v>LR2</c:v>
                </c:pt>
              </c:strCache>
            </c:strRef>
          </c:cat>
          <c:val>
            <c:numRef>
              <c:f>Sheet1!$B$2:$B$5</c:f>
              <c:numCache>
                <c:formatCode>General</c:formatCode>
                <c:ptCount val="4"/>
                <c:pt idx="0">
                  <c:v>472</c:v>
                </c:pt>
                <c:pt idx="1">
                  <c:v>367</c:v>
                </c:pt>
                <c:pt idx="2">
                  <c:v>62</c:v>
                </c:pt>
                <c:pt idx="3">
                  <c:v>199</c:v>
                </c:pt>
              </c:numCache>
            </c:numRef>
          </c:val>
        </c:ser>
        <c:ser>
          <c:idx val="1"/>
          <c:order val="1"/>
          <c:tx>
            <c:strRef>
              <c:f>Sheet1!$C$1</c:f>
              <c:strCache>
                <c:ptCount val="1"/>
                <c:pt idx="0">
                  <c:v>Ships aged 20+ (built ≤2006)</c:v>
                </c:pt>
              </c:strCache>
            </c:strRef>
          </c:tx>
          <c:spPr>
            <a:solidFill>
              <a:srgbClr val="8D99AE"/>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rgbClr val="1F2933"/>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Kamsarmax</c:v>
                </c:pt>
                <c:pt idx="1">
                  <c:v>MR</c:v>
                </c:pt>
                <c:pt idx="2">
                  <c:v>Aframax crude</c:v>
                </c:pt>
                <c:pt idx="3">
                  <c:v>LR2</c:v>
                </c:pt>
              </c:strCache>
            </c:strRef>
          </c:cat>
          <c:val>
            <c:numRef>
              <c:f>Sheet1!$C$2:$C$5</c:f>
              <c:numCache>
                <c:formatCode>General</c:formatCode>
                <c:ptCount val="4"/>
                <c:pt idx="0">
                  <c:v>618</c:v>
                </c:pt>
                <c:pt idx="1">
                  <c:v>568</c:v>
                </c:pt>
                <c:pt idx="2">
                  <c:v>223</c:v>
                </c:pt>
                <c:pt idx="3">
                  <c:v>59</c:v>
                </c:pt>
              </c:numCache>
            </c:numRef>
          </c:val>
        </c:ser>
        <c:dLbls>
          <c:showLegendKey val="0"/>
          <c:showVal val="1"/>
          <c:showCatName val="0"/>
          <c:showSerName val="0"/>
          <c:showPercent val="0"/>
          <c:showBubbleSize val="0"/>
        </c:dLbls>
        <c:gapWidth val="50"/>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000" b="0" i="0" u="none" strike="noStrike" kern="1200" baseline="0">
                <a:solidFill>
                  <a:srgbClr val="5C6B7A"/>
                </a:solidFill>
                <a:latin typeface="+mn-lt"/>
                <a:ea typeface="+mn-ea"/>
                <a:cs typeface="+mn-cs"/>
              </a:defRPr>
            </a:pPr>
          </a:p>
        </c:txPr>
        <c:crossAx val="2094734552"/>
        <c:crosses val="autoZero"/>
        <c:auto val="1"/>
        <c:lblAlgn val="ctr"/>
        <c:lblOffset val="100"/>
        <c:noMultiLvlLbl val="1"/>
      </c:catAx>
      <c:valAx>
        <c:axId val="2094734552"/>
        <c:scaling>
          <c:orientation val="minMax"/>
          <c:max val="750"/>
          <c:min val="0"/>
        </c:scaling>
        <c:delete val="1"/>
        <c:axPos val="t"/>
        <c:numFmt formatCode="0" sourceLinked="0"/>
        <c:majorTickMark val="out"/>
        <c:minorTickMark val="none"/>
        <c:tickLblPos val="low"/>
        <c:txPr>
          <a:bodyPr rot="-60000000" spcFirstLastPara="0" vertOverflow="ellipsis" vert="horz" wrap="square" anchor="ctr" anchorCtr="1"/>
          <a:lstStyle/>
          <a:p>
            <a:pPr>
              <a:defRPr lang="zh-CN" sz="900" b="0" i="0" u="none" strike="noStrike" kern="1200" baseline="0">
                <a:solidFill>
                  <a:srgbClr val="5C6B7A"/>
                </a:solidFill>
                <a:latin typeface="+mn-lt"/>
                <a:ea typeface="+mn-ea"/>
                <a:cs typeface="+mn-cs"/>
              </a:defRPr>
            </a:pPr>
          </a:p>
        </c:txPr>
        <c:crossAx val="2094734554"/>
        <c:crosses val="autoZero"/>
        <c:crossBetween val="between"/>
      </c:valAx>
      <c:spPr>
        <a:noFill/>
        <a:ln>
          <a:noFill/>
        </a:ln>
        <a:effectLst/>
      </c:spPr>
    </c:plotArea>
    <c:legend>
      <c:legendPos val="t"/>
      <c:layout/>
      <c:overlay val="0"/>
      <c:txPr>
        <a:bodyPr rot="0" spcFirstLastPara="0" vertOverflow="ellipsis" vert="horz" wrap="square" anchor="ctr" anchorCtr="1"/>
        <a:lstStyle/>
        <a:p>
          <a:pPr>
            <a:defRPr lang="zh-CN" sz="1000" b="0" i="0" u="none" strike="noStrike" kern="1200" baseline="0">
              <a:solidFill>
                <a:srgbClr val="1F2933"/>
              </a:solidFill>
              <a:latin typeface="+mn-lt"/>
              <a:ea typeface="+mn-ea"/>
              <a:cs typeface="+mn-lt"/>
            </a:defRPr>
          </a:pPr>
        </a:p>
      </c:txPr>
    </c:legend>
    <c:plotVisOnly val="1"/>
    <c:dispBlanksAs val="span"/>
    <c:showDLblsOverMax val="0"/>
    <c:extLst>
      <c:ext uri="{0b15fc19-7d7d-44ad-8c2d-2c3a37ce22c3}">
        <chartProps xmlns="https://web.wps.cn/et/2018/main" chartId="{64a06484-6d8b-46d3-b47c-a785a39f5a1e}"/>
      </c:ext>
    </c:extLst>
  </c:chart>
  <c:spPr>
    <a:noFill/>
    <a:ln>
      <a:noFill/>
    </a:ln>
    <a:effectLst/>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part answers two simple questions: is there enough cargo for our ships, and are too many new ships coming? Let's start with demand. The key idea is that our three trades run on three different engines, and that's exactly why we split the money. For the Kamsarmaxes, the engine is minerals. Guinea's bauxite exports were up 29% in the first four months of this year, and Simandou iron ore is just starting to ship. Guinea to China is a really long voyage, so every tonne keeps a ship busy for longer. Grain is having a bumper year too. For the MRs, it's refinery geography: refining keeps moving east, products travel further, and Clarksons expects product trade to grow 6.3% next year. Crude is honestly a bit strange. Volumes fell 7.3% this year, but the average voyage got 3.3% longer, because ships are going the long way round. That's demand created by conflict, and we don't fully trust it. So our one Aframax goes straight onto a three-year charter.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supply. Supply really comes down to two numbers: ships arriving from the shipyard, and ships leaving for the scrapyard. Look at the bulkers. From 2021 to 2025, 609 Panamax and Kamsarmax bulkers were delivered, but only 93 were scrapped, about one in seven. When freight rates are this good, nobody wants to scrap a ship that still makes money. So for bulkers, fleet growth is basically just new deliveries. Crude Aframax is the exception. Only 71 were delivered in five years, and 46 were scrapped. In 2025, three came in and eight went out, so the fleet actually shrank.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coming next? This chart is the orderbook, ships already ordered, by delivery year. Two things jump out. First, there's a wave in 2027 and 2028: 171 Kamsarmaxes in 2027, and more than 100 MRs a year. That's our biggest supply risk, and it's why we fix part of our income before the wave arrives. Second, look at the coral bars, the LR2s. Their orderbook is 35% of the fleet. An LR2 is the same size as an Aframax and can switch into crude, so it's the hidden competitor. The pure crude Aframax orderbook is under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question, and I think the most important one: will the new ships just replace the old ones? Here I compare the orderbook with ships that are already over 20 years old, the natural candidates for scrapping. For Kamsarmax and MR, the old ships outnumber the new orders, so once scrapping comes back, most new ships simply replace them. Crude Aframax is the tightest: 223 old ships against just 62 on order. LR2 is the opposite: 199 on order, only 59 old ships. So our verdict: buy bulk and MR, but lock in some income before 2027, and buy the Aframax only with a long charter. Thanks, that's demand and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body" idx="100" hasCustomPrompt="1"/>
          </p:nvPr>
        </p:nvSpPr>
        <p:spPr>
          <a:xfrm>
            <a:off x="457200" y="201168"/>
            <a:ext cx="6858000" cy="274320"/>
          </a:xfrm>
          <a:prstGeom prst="rect">
            <a:avLst/>
          </a:prstGeom>
          <a:noFill/>
        </p:spPr>
        <p:txBody>
          <a:bodyPr wrap="square" rtlCol="0"/>
          <a:lstStyle>
            <a:lvl1pPr marL="0" indent="0">
              <a:buNone/>
              <a:defRPr lang="en-US" sz="1100" b="1" kern="0" spc="200" dirty="0">
                <a:solidFill>
                  <a:schemeClr val="accent3"/>
                </a:solidFill>
              </a:defRPr>
            </a:lvl1pPr>
          </a:lstStyle>
          <a:p>
            <a:pPr marL="0" indent="0">
              <a:buNone/>
            </a:pPr>
            <a:endParaRPr lang="en-US" sz="1100" dirty="0"/>
          </a:p>
        </p:txBody>
      </p:sp>
      <p:sp>
        <p:nvSpPr>
          <p:cNvPr id="3" name="Text 0"/>
          <p:cNvSpPr/>
          <p:nvPr>
            <p:ph type="title" idx="101" hasCustomPrompt="1"/>
          </p:nvPr>
        </p:nvSpPr>
        <p:spPr>
          <a:xfrm>
            <a:off x="457200" y="457200"/>
            <a:ext cx="8229600" cy="548640"/>
          </a:xfrm>
          <a:prstGeom prst="rect">
            <a:avLst/>
          </a:prstGeom>
          <a:noFill/>
        </p:spPr>
        <p:txBody>
          <a:bodyPr wrap="square" rtlCol="0"/>
          <a:lstStyle>
            <a:lvl1pPr marL="0" indent="0" algn="l">
              <a:buNone/>
              <a:defRPr lang="en-US" sz="2600" b="1" dirty="0">
                <a:solidFill>
                  <a:schemeClr val="tx2"/>
                </a:solidFill>
                <a:latin typeface="Cambria" panose="02040503050406030204" pitchFamily="34" charset="0"/>
                <a:ea typeface="Cambria" panose="02040503050406030204" pitchFamily="34" charset="-122"/>
                <a:cs typeface="Cambria" panose="02040503050406030204"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28032"/>
            <a:ext cx="365760" cy="228600"/>
          </a:xfrm>
          <a:prstGeom prst="rect">
            <a:avLst/>
          </a:prstGeom>
        </p:spPr>
        <p:txBody>
          <a:bodyPr/>
          <a:lstStyle>
            <a:lvl1pPr>
              <a:defRPr sz="900">
                <a:solidFill>
                  <a:srgbClr val="8D99AE"/>
                </a:solidFill>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p:spPr>
        <p:txBody>
          <a:bodyPr/>
          <a:lstStyle>
            <a:lvl1pPr>
              <a:defRPr sz="900">
                <a:solidFill>
                  <a:srgbClr val="8D99AE"/>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457200" y="201168"/>
            <a:ext cx="6858000" cy="274320"/>
          </a:xfrm>
          <a:prstGeom prst="rect">
            <a:avLst/>
          </a:prstGeom>
          <a:noFill/>
        </p:spPr>
        <p:txBody>
          <a:bodyPr wrap="square" lIns="0" tIns="0" rIns="0" bIns="0" rtlCol="0"/>
          <a:lstStyle/>
          <a:p>
            <a:pPr marL="0" indent="0">
              <a:buNone/>
            </a:pPr>
            <a:r>
              <a:rPr lang="en-US" sz="1100" b="1" kern="0" spc="200" dirty="0">
                <a:solidFill>
                  <a:schemeClr val="accent3"/>
                </a:solidFill>
              </a:rPr>
              <a:t>DEMAND &amp; SUPPLY  ·  1 / 4</a:t>
            </a:r>
            <a:endParaRPr lang="en-US" sz="1100" dirty="0"/>
          </a:p>
        </p:txBody>
      </p:sp>
      <p:sp>
        <p:nvSpPr>
          <p:cNvPr id="3" name="Text 0"/>
          <p:cNvSpPr/>
          <p:nvPr>
            <p:ph type="title" idx="101" hasCustomPrompt="1"/>
          </p:nvPr>
        </p:nvSpPr>
        <p:spPr>
          <a:xfrm>
            <a:off x="457200" y="457200"/>
            <a:ext cx="8229600" cy="548640"/>
          </a:xfrm>
          <a:prstGeom prst="rect">
            <a:avLst/>
          </a:prstGeom>
          <a:noFill/>
        </p:spPr>
        <p:txBody>
          <a:bodyPr wrap="square" lIns="0" tIns="0" rIns="0" bIns="0" rtlCol="0" anchor="t"/>
          <a:lstStyle/>
          <a:p>
            <a:pPr marL="0" indent="0" algn="l">
              <a:buNone/>
            </a:pPr>
            <a:r>
              <a:rPr lang="en-US" sz="2600" b="1" dirty="0">
                <a:solidFill>
                  <a:schemeClr val="tx2"/>
                </a:solidFill>
                <a:latin typeface="Cambria" panose="02040503050406030204" pitchFamily="34" charset="0"/>
                <a:ea typeface="Cambria" panose="02040503050406030204" pitchFamily="34" charset="-122"/>
                <a:cs typeface="Cambria" panose="02040503050406030204" pitchFamily="34" charset="-120"/>
              </a:rPr>
              <a:t>Demand: three trades, three different engines</a:t>
            </a:r>
            <a:endParaRPr lang="en-US" sz="2600" dirty="0"/>
          </a:p>
        </p:txBody>
      </p:sp>
      <p:sp>
        <p:nvSpPr>
          <p:cNvPr id="4" name="card0"/>
          <p:cNvSpPr/>
          <p:nvPr/>
        </p:nvSpPr>
        <p:spPr>
          <a:xfrm>
            <a:off x="457200" y="1188720"/>
            <a:ext cx="2606040" cy="3200400"/>
          </a:xfrm>
          <a:prstGeom prst="roundRect">
            <a:avLst>
              <a:gd name="adj" fmla="val 2807"/>
            </a:avLst>
          </a:prstGeom>
          <a:solidFill>
            <a:schemeClr val="bg2"/>
          </a:solidFill>
          <a:ln w="12700">
            <a:solidFill>
              <a:schemeClr val="bg2"/>
            </a:solidFill>
            <a:prstDash val="solid"/>
          </a:ln>
        </p:spPr>
      </p:sp>
      <p:sp>
        <p:nvSpPr>
          <p:cNvPr id="5" name="Shape 3"/>
          <p:cNvSpPr/>
          <p:nvPr/>
        </p:nvSpPr>
        <p:spPr>
          <a:xfrm>
            <a:off x="640080" y="1371600"/>
            <a:ext cx="457200" cy="457200"/>
          </a:xfrm>
          <a:prstGeom prst="ellipse">
            <a:avLst/>
          </a:prstGeom>
          <a:solidFill>
            <a:srgbClr val="0B2545"/>
          </a:solidFill>
          <a:ln w="12700">
            <a:solidFill>
              <a:srgbClr val="0B2545"/>
            </a:solidFill>
            <a:prstDash val="solid"/>
          </a:ln>
        </p:spPr>
      </p:sp>
      <p:pic>
        <p:nvPicPr>
          <p:cNvPr id="6" name="Image 0" descr="preencoded.png"/>
          <p:cNvPicPr>
            <a:picLocks noChangeAspect="1"/>
          </p:cNvPicPr>
          <p:nvPr/>
        </p:nvPicPr>
        <p:blipFill>
          <a:blip r:embed="rId1"/>
          <a:stretch>
            <a:fillRect/>
          </a:stretch>
        </p:blipFill>
        <p:spPr>
          <a:xfrm>
            <a:off x="740664" y="1472184"/>
            <a:ext cx="256032" cy="256032"/>
          </a:xfrm>
          <a:prstGeom prst="rect">
            <a:avLst/>
          </a:prstGeom>
        </p:spPr>
      </p:pic>
      <p:sp>
        <p:nvSpPr>
          <p:cNvPr id="7" name="Text 4"/>
          <p:cNvSpPr txBox="1"/>
          <p:nvPr/>
        </p:nvSpPr>
        <p:spPr>
          <a:xfrm>
            <a:off x="1207008" y="1353312"/>
            <a:ext cx="1737360" cy="274320"/>
          </a:xfrm>
          <a:prstGeom prst="rect">
            <a:avLst/>
          </a:prstGeom>
          <a:noFill/>
        </p:spPr>
        <p:txBody>
          <a:bodyPr wrap="square" lIns="0" tIns="0" rIns="0" bIns="0" rtlCol="0" anchor="ctr"/>
          <a:lstStyle/>
          <a:p>
            <a:pPr marL="0" indent="0">
              <a:buNone/>
            </a:pPr>
            <a:r>
              <a:rPr lang="en-US" sz="1400" b="1" dirty="0">
                <a:solidFill>
                  <a:schemeClr val="tx2"/>
                </a:solidFill>
              </a:rPr>
              <a:t>Kamsarmax ×2</a:t>
            </a:r>
            <a:endParaRPr lang="en-US" sz="1400" dirty="0"/>
          </a:p>
        </p:txBody>
      </p:sp>
      <p:sp>
        <p:nvSpPr>
          <p:cNvPr id="8" name="Text 5"/>
          <p:cNvSpPr txBox="1"/>
          <p:nvPr/>
        </p:nvSpPr>
        <p:spPr>
          <a:xfrm>
            <a:off x="1207008" y="1618488"/>
            <a:ext cx="1737360" cy="274320"/>
          </a:xfrm>
          <a:prstGeom prst="rect">
            <a:avLst/>
          </a:prstGeom>
          <a:noFill/>
        </p:spPr>
        <p:txBody>
          <a:bodyPr wrap="square" lIns="0" tIns="0" rIns="0" bIns="0" rtlCol="0" anchor="t"/>
          <a:lstStyle/>
          <a:p>
            <a:pPr marL="0" indent="0">
              <a:buNone/>
            </a:pPr>
            <a:r>
              <a:rPr lang="en-US" sz="1000" dirty="0">
                <a:solidFill>
                  <a:schemeClr val="tx1"/>
                </a:solidFill>
              </a:rPr>
              <a:t>Guinea bauxite → China; Australian coal; grain</a:t>
            </a:r>
            <a:endParaRPr lang="en-US" sz="1000" dirty="0"/>
          </a:p>
        </p:txBody>
      </p:sp>
      <p:sp>
        <p:nvSpPr>
          <p:cNvPr id="9" name="Text 6"/>
          <p:cNvSpPr txBox="1"/>
          <p:nvPr/>
        </p:nvSpPr>
        <p:spPr>
          <a:xfrm>
            <a:off x="640080" y="2011680"/>
            <a:ext cx="2240280" cy="640080"/>
          </a:xfrm>
          <a:prstGeom prst="rect">
            <a:avLst/>
          </a:prstGeom>
          <a:noFill/>
        </p:spPr>
        <p:txBody>
          <a:bodyPr wrap="square" lIns="0" tIns="0" rIns="0" bIns="0" rtlCol="0" anchor="ctr"/>
          <a:lstStyle/>
          <a:p>
            <a:pPr marL="0" indent="0">
              <a:buNone/>
            </a:pPr>
            <a:r>
              <a:rPr lang="en-US" sz="3600" b="1" dirty="0">
                <a:solidFill>
                  <a:srgbClr val="0B2545"/>
                </a:solidFill>
                <a:latin typeface="Cambria" panose="02040503050406030204" pitchFamily="34" charset="0"/>
                <a:ea typeface="Cambria" panose="02040503050406030204" pitchFamily="34" charset="-122"/>
                <a:cs typeface="Cambria" panose="02040503050406030204" pitchFamily="34" charset="-120"/>
              </a:rPr>
              <a:t>+29%</a:t>
            </a:r>
            <a:endParaRPr lang="en-US" sz="3600" dirty="0"/>
          </a:p>
        </p:txBody>
      </p:sp>
      <p:sp>
        <p:nvSpPr>
          <p:cNvPr id="10" name="Text 7"/>
          <p:cNvSpPr txBox="1"/>
          <p:nvPr/>
        </p:nvSpPr>
        <p:spPr>
          <a:xfrm>
            <a:off x="640080" y="2651760"/>
            <a:ext cx="2240280" cy="411480"/>
          </a:xfrm>
          <a:prstGeom prst="rect">
            <a:avLst/>
          </a:prstGeom>
          <a:noFill/>
        </p:spPr>
        <p:txBody>
          <a:bodyPr wrap="square" lIns="0" tIns="0" rIns="0" bIns="0" rtlCol="0" anchor="t"/>
          <a:lstStyle/>
          <a:p>
            <a:pPr marL="0" indent="0">
              <a:buNone/>
            </a:pPr>
            <a:r>
              <a:rPr lang="en-US" sz="1050" b="1" dirty="0">
                <a:solidFill>
                  <a:schemeClr val="tx1"/>
                </a:solidFill>
              </a:rPr>
              <a:t>Guinea bauxite exports, Jan–Apr 2026, y/y</a:t>
            </a:r>
            <a:endParaRPr lang="en-US" sz="1050" dirty="0"/>
          </a:p>
        </p:txBody>
      </p:sp>
      <p:sp>
        <p:nvSpPr>
          <p:cNvPr id="11" name="Text 8"/>
          <p:cNvSpPr txBox="1"/>
          <p:nvPr/>
        </p:nvSpPr>
        <p:spPr>
          <a:xfrm>
            <a:off x="640080" y="3108960"/>
            <a:ext cx="2286000" cy="1188720"/>
          </a:xfrm>
          <a:prstGeom prst="rect">
            <a:avLst/>
          </a:prstGeom>
          <a:noFill/>
        </p:spPr>
        <p:txBody>
          <a:bodyPr wrap="square" lIns="0" tIns="0" rIns="0" bIns="0" rtlCol="0" anchor="t"/>
          <a:lstStyle/>
          <a:p>
            <a:pPr marL="152400" indent="-152400">
              <a:spcAft>
                <a:spcPts val="400"/>
              </a:spcAft>
              <a:buSzPct val="100000"/>
              <a:buChar char="•"/>
            </a:pPr>
            <a:r>
              <a:rPr lang="en-US" sz="1100" dirty="0">
                <a:solidFill>
                  <a:schemeClr val="tx1"/>
                </a:solidFill>
              </a:rPr>
              <a:t>Simandou iron ore starting to ship</a:t>
            </a:r>
            <a:endParaRPr lang="en-US" sz="1100" dirty="0"/>
          </a:p>
          <a:p>
            <a:pPr marL="152400" indent="-152400">
              <a:spcAft>
                <a:spcPts val="400"/>
              </a:spcAft>
              <a:buSzPct val="100000"/>
              <a:buChar char="•"/>
            </a:pPr>
            <a:r>
              <a:rPr lang="en-US" sz="1100" dirty="0">
                <a:solidFill>
                  <a:schemeClr val="tx1"/>
                </a:solidFill>
              </a:rPr>
              <a:t>Long Guinea–China haul ties up more ships per tonne</a:t>
            </a:r>
            <a:endParaRPr lang="en-US" sz="1100" dirty="0"/>
          </a:p>
          <a:p>
            <a:pPr marL="152400" indent="-152400">
              <a:spcAft>
                <a:spcPts val="400"/>
              </a:spcAft>
              <a:buSzPct val="100000"/>
              <a:buChar char="•"/>
            </a:pPr>
            <a:r>
              <a:rPr lang="en-US" sz="1100" dirty="0">
                <a:solidFill>
                  <a:schemeClr val="tx1"/>
                </a:solidFill>
              </a:rPr>
              <a:t>2026 a bumper year for grain trade</a:t>
            </a:r>
            <a:endParaRPr lang="en-US" sz="1100" dirty="0"/>
          </a:p>
        </p:txBody>
      </p:sp>
      <p:sp>
        <p:nvSpPr>
          <p:cNvPr id="12" name="card1"/>
          <p:cNvSpPr/>
          <p:nvPr/>
        </p:nvSpPr>
        <p:spPr>
          <a:xfrm>
            <a:off x="3268980" y="1188720"/>
            <a:ext cx="2606040" cy="3200400"/>
          </a:xfrm>
          <a:prstGeom prst="roundRect">
            <a:avLst>
              <a:gd name="adj" fmla="val 2807"/>
            </a:avLst>
          </a:prstGeom>
          <a:solidFill>
            <a:schemeClr val="bg2"/>
          </a:solidFill>
          <a:ln w="12700">
            <a:solidFill>
              <a:schemeClr val="bg2"/>
            </a:solidFill>
            <a:prstDash val="solid"/>
          </a:ln>
        </p:spPr>
      </p:sp>
      <p:sp>
        <p:nvSpPr>
          <p:cNvPr id="13" name="Shape 10"/>
          <p:cNvSpPr/>
          <p:nvPr/>
        </p:nvSpPr>
        <p:spPr>
          <a:xfrm>
            <a:off x="3451860" y="1371600"/>
            <a:ext cx="457200" cy="457200"/>
          </a:xfrm>
          <a:prstGeom prst="ellipse">
            <a:avLst/>
          </a:prstGeom>
          <a:solidFill>
            <a:srgbClr val="E09F3E"/>
          </a:solidFill>
          <a:ln w="12700">
            <a:solidFill>
              <a:srgbClr val="E09F3E"/>
            </a:solidFill>
            <a:prstDash val="solid"/>
          </a:ln>
        </p:spPr>
      </p:sp>
      <p:pic>
        <p:nvPicPr>
          <p:cNvPr id="14" name="Image 1" descr="preencoded.png"/>
          <p:cNvPicPr>
            <a:picLocks noChangeAspect="1"/>
          </p:cNvPicPr>
          <p:nvPr/>
        </p:nvPicPr>
        <p:blipFill>
          <a:blip r:embed="rId2"/>
          <a:stretch>
            <a:fillRect/>
          </a:stretch>
        </p:blipFill>
        <p:spPr>
          <a:xfrm>
            <a:off x="3552444" y="1472184"/>
            <a:ext cx="256032" cy="256032"/>
          </a:xfrm>
          <a:prstGeom prst="rect">
            <a:avLst/>
          </a:prstGeom>
        </p:spPr>
      </p:pic>
      <p:sp>
        <p:nvSpPr>
          <p:cNvPr id="15" name="Text 11"/>
          <p:cNvSpPr txBox="1"/>
          <p:nvPr/>
        </p:nvSpPr>
        <p:spPr>
          <a:xfrm>
            <a:off x="4018788" y="1353312"/>
            <a:ext cx="1737360" cy="274320"/>
          </a:xfrm>
          <a:prstGeom prst="rect">
            <a:avLst/>
          </a:prstGeom>
          <a:noFill/>
        </p:spPr>
        <p:txBody>
          <a:bodyPr wrap="square" lIns="0" tIns="0" rIns="0" bIns="0" rtlCol="0" anchor="ctr"/>
          <a:lstStyle/>
          <a:p>
            <a:pPr marL="0" indent="0">
              <a:buNone/>
            </a:pPr>
            <a:r>
              <a:rPr lang="en-US" sz="1400" b="1" dirty="0">
                <a:solidFill>
                  <a:schemeClr val="tx2"/>
                </a:solidFill>
              </a:rPr>
              <a:t>MR product ×2</a:t>
            </a:r>
            <a:endParaRPr lang="en-US" sz="1400" dirty="0"/>
          </a:p>
        </p:txBody>
      </p:sp>
      <p:sp>
        <p:nvSpPr>
          <p:cNvPr id="16" name="Text 12"/>
          <p:cNvSpPr txBox="1"/>
          <p:nvPr/>
        </p:nvSpPr>
        <p:spPr>
          <a:xfrm>
            <a:off x="4018788" y="1618488"/>
            <a:ext cx="1737360" cy="274320"/>
          </a:xfrm>
          <a:prstGeom prst="rect">
            <a:avLst/>
          </a:prstGeom>
          <a:noFill/>
        </p:spPr>
        <p:txBody>
          <a:bodyPr wrap="square" lIns="0" tIns="0" rIns="0" bIns="0" rtlCol="0" anchor="t"/>
          <a:lstStyle/>
          <a:p>
            <a:pPr marL="0" indent="0">
              <a:buNone/>
            </a:pPr>
            <a:r>
              <a:rPr lang="en-US" sz="1000" dirty="0">
                <a:solidFill>
                  <a:schemeClr val="tx1"/>
                </a:solidFill>
              </a:rPr>
              <a:t>Middle East / India refineries → East Africa, SE Asia</a:t>
            </a:r>
            <a:endParaRPr lang="en-US" sz="1000" dirty="0"/>
          </a:p>
        </p:txBody>
      </p:sp>
      <p:sp>
        <p:nvSpPr>
          <p:cNvPr id="17" name="Text 13"/>
          <p:cNvSpPr txBox="1"/>
          <p:nvPr/>
        </p:nvSpPr>
        <p:spPr>
          <a:xfrm>
            <a:off x="3451860" y="2011680"/>
            <a:ext cx="2240280" cy="640080"/>
          </a:xfrm>
          <a:prstGeom prst="rect">
            <a:avLst/>
          </a:prstGeom>
          <a:noFill/>
        </p:spPr>
        <p:txBody>
          <a:bodyPr wrap="square" lIns="0" tIns="0" rIns="0" bIns="0" rtlCol="0" anchor="ctr"/>
          <a:lstStyle/>
          <a:p>
            <a:pPr marL="0" indent="0">
              <a:buNone/>
            </a:pPr>
            <a:r>
              <a:rPr lang="en-US" sz="3600" b="1" dirty="0">
                <a:solidFill>
                  <a:srgbClr val="B57A1E"/>
                </a:solidFill>
                <a:latin typeface="Cambria" panose="02040503050406030204" pitchFamily="34" charset="0"/>
                <a:ea typeface="Cambria" panose="02040503050406030204" pitchFamily="34" charset="-122"/>
                <a:cs typeface="Cambria" panose="02040503050406030204" pitchFamily="34" charset="-120"/>
              </a:rPr>
              <a:t>+6.3%</a:t>
            </a:r>
            <a:endParaRPr lang="en-US" sz="3600" dirty="0"/>
          </a:p>
        </p:txBody>
      </p:sp>
      <p:sp>
        <p:nvSpPr>
          <p:cNvPr id="18" name="Text 14"/>
          <p:cNvSpPr txBox="1"/>
          <p:nvPr/>
        </p:nvSpPr>
        <p:spPr>
          <a:xfrm>
            <a:off x="3451860" y="2651760"/>
            <a:ext cx="2240280" cy="411480"/>
          </a:xfrm>
          <a:prstGeom prst="rect">
            <a:avLst/>
          </a:prstGeom>
          <a:noFill/>
        </p:spPr>
        <p:txBody>
          <a:bodyPr wrap="square" lIns="0" tIns="0" rIns="0" bIns="0" rtlCol="0" anchor="t"/>
          <a:lstStyle/>
          <a:p>
            <a:pPr marL="0" indent="0">
              <a:buNone/>
            </a:pPr>
            <a:r>
              <a:rPr lang="en-US" sz="1050" b="1" dirty="0">
                <a:solidFill>
                  <a:schemeClr val="tx1"/>
                </a:solidFill>
              </a:rPr>
              <a:t>Seaborne products trade, 2027 forecast</a:t>
            </a:r>
            <a:endParaRPr lang="en-US" sz="1050" dirty="0"/>
          </a:p>
        </p:txBody>
      </p:sp>
      <p:sp>
        <p:nvSpPr>
          <p:cNvPr id="19" name="Text 15"/>
          <p:cNvSpPr txBox="1"/>
          <p:nvPr/>
        </p:nvSpPr>
        <p:spPr>
          <a:xfrm>
            <a:off x="3451860" y="3108960"/>
            <a:ext cx="2286000" cy="1188720"/>
          </a:xfrm>
          <a:prstGeom prst="rect">
            <a:avLst/>
          </a:prstGeom>
          <a:noFill/>
        </p:spPr>
        <p:txBody>
          <a:bodyPr wrap="square" lIns="0" tIns="0" rIns="0" bIns="0" rtlCol="0" anchor="t"/>
          <a:lstStyle/>
          <a:p>
            <a:pPr marL="152400" indent="-152400">
              <a:spcAft>
                <a:spcPts val="400"/>
              </a:spcAft>
              <a:buSzPct val="100000"/>
              <a:buChar char="•"/>
            </a:pPr>
            <a:r>
              <a:rPr lang="en-US" sz="1100" dirty="0">
                <a:solidFill>
                  <a:schemeClr val="tx1"/>
                </a:solidFill>
              </a:rPr>
              <a:t>Refining capacity shifting east lengthens product hauls</a:t>
            </a:r>
            <a:endParaRPr lang="en-US" sz="1100" dirty="0"/>
          </a:p>
          <a:p>
            <a:pPr marL="152400" indent="-152400">
              <a:spcAft>
                <a:spcPts val="400"/>
              </a:spcAft>
              <a:buSzPct val="100000"/>
              <a:buChar char="•"/>
            </a:pPr>
            <a:r>
              <a:rPr lang="en-US" sz="1100" dirty="0">
                <a:solidFill>
                  <a:schemeClr val="tx1"/>
                </a:solidFill>
              </a:rPr>
              <a:t>Oil trade recovering since mid-2025</a:t>
            </a:r>
            <a:endParaRPr lang="en-US" sz="1100" dirty="0"/>
          </a:p>
        </p:txBody>
      </p:sp>
      <p:sp>
        <p:nvSpPr>
          <p:cNvPr id="20" name="card2"/>
          <p:cNvSpPr/>
          <p:nvPr/>
        </p:nvSpPr>
        <p:spPr>
          <a:xfrm>
            <a:off x="6080760" y="1188720"/>
            <a:ext cx="2606040" cy="3200400"/>
          </a:xfrm>
          <a:prstGeom prst="roundRect">
            <a:avLst>
              <a:gd name="adj" fmla="val 2807"/>
            </a:avLst>
          </a:prstGeom>
          <a:solidFill>
            <a:schemeClr val="bg2"/>
          </a:solidFill>
          <a:ln w="12700">
            <a:solidFill>
              <a:schemeClr val="bg2"/>
            </a:solidFill>
            <a:prstDash val="solid"/>
          </a:ln>
        </p:spPr>
      </p:sp>
      <p:sp>
        <p:nvSpPr>
          <p:cNvPr id="21" name="Shape 17"/>
          <p:cNvSpPr/>
          <p:nvPr/>
        </p:nvSpPr>
        <p:spPr>
          <a:xfrm>
            <a:off x="6263640" y="1371600"/>
            <a:ext cx="457200" cy="457200"/>
          </a:xfrm>
          <a:prstGeom prst="ellipse">
            <a:avLst/>
          </a:prstGeom>
          <a:solidFill>
            <a:srgbClr val="1B998B"/>
          </a:solidFill>
          <a:ln w="12700">
            <a:solidFill>
              <a:srgbClr val="1B998B"/>
            </a:solidFill>
            <a:prstDash val="solid"/>
          </a:ln>
        </p:spPr>
      </p:sp>
      <p:pic>
        <p:nvPicPr>
          <p:cNvPr id="22" name="Image 2" descr="preencoded.png"/>
          <p:cNvPicPr>
            <a:picLocks noChangeAspect="1"/>
          </p:cNvPicPr>
          <p:nvPr/>
        </p:nvPicPr>
        <p:blipFill>
          <a:blip r:embed="rId3"/>
          <a:stretch>
            <a:fillRect/>
          </a:stretch>
        </p:blipFill>
        <p:spPr>
          <a:xfrm>
            <a:off x="6364224" y="1472184"/>
            <a:ext cx="256032" cy="256032"/>
          </a:xfrm>
          <a:prstGeom prst="rect">
            <a:avLst/>
          </a:prstGeom>
        </p:spPr>
      </p:pic>
      <p:sp>
        <p:nvSpPr>
          <p:cNvPr id="23" name="Text 18"/>
          <p:cNvSpPr txBox="1"/>
          <p:nvPr/>
        </p:nvSpPr>
        <p:spPr>
          <a:xfrm>
            <a:off x="6830568" y="1353312"/>
            <a:ext cx="1737360" cy="274320"/>
          </a:xfrm>
          <a:prstGeom prst="rect">
            <a:avLst/>
          </a:prstGeom>
          <a:noFill/>
        </p:spPr>
        <p:txBody>
          <a:bodyPr wrap="square" lIns="0" tIns="0" rIns="0" bIns="0" rtlCol="0" anchor="ctr"/>
          <a:lstStyle/>
          <a:p>
            <a:pPr marL="0" indent="0">
              <a:buNone/>
            </a:pPr>
            <a:r>
              <a:rPr lang="en-US" sz="1400" b="1" dirty="0">
                <a:solidFill>
                  <a:schemeClr val="tx2"/>
                </a:solidFill>
              </a:rPr>
              <a:t>Aframax crude ×1</a:t>
            </a:r>
            <a:endParaRPr lang="en-US" sz="1400" dirty="0"/>
          </a:p>
        </p:txBody>
      </p:sp>
      <p:sp>
        <p:nvSpPr>
          <p:cNvPr id="24" name="Text 19"/>
          <p:cNvSpPr txBox="1"/>
          <p:nvPr/>
        </p:nvSpPr>
        <p:spPr>
          <a:xfrm>
            <a:off x="6830568" y="1618488"/>
            <a:ext cx="1737360" cy="274320"/>
          </a:xfrm>
          <a:prstGeom prst="rect">
            <a:avLst/>
          </a:prstGeom>
          <a:noFill/>
        </p:spPr>
        <p:txBody>
          <a:bodyPr wrap="square" lIns="0" tIns="0" rIns="0" bIns="0" rtlCol="0" anchor="t"/>
          <a:lstStyle/>
          <a:p>
            <a:pPr marL="0" indent="0">
              <a:buNone/>
            </a:pPr>
            <a:r>
              <a:rPr lang="en-US" sz="1000" dirty="0">
                <a:solidFill>
                  <a:schemeClr val="tx1"/>
                </a:solidFill>
              </a:rPr>
              <a:t>Crude oil, charterer's trades (3-year TC)</a:t>
            </a:r>
            <a:endParaRPr lang="en-US" sz="1000" dirty="0"/>
          </a:p>
        </p:txBody>
      </p:sp>
      <p:sp>
        <p:nvSpPr>
          <p:cNvPr id="25" name="Text 20"/>
          <p:cNvSpPr txBox="1"/>
          <p:nvPr/>
        </p:nvSpPr>
        <p:spPr>
          <a:xfrm>
            <a:off x="6263640" y="2011680"/>
            <a:ext cx="2240280" cy="640080"/>
          </a:xfrm>
          <a:prstGeom prst="rect">
            <a:avLst/>
          </a:prstGeom>
          <a:noFill/>
        </p:spPr>
        <p:txBody>
          <a:bodyPr wrap="square" lIns="0" tIns="0" rIns="0" bIns="0" rtlCol="0" anchor="ctr"/>
          <a:lstStyle/>
          <a:p>
            <a:pPr marL="0" indent="0">
              <a:buNone/>
            </a:pPr>
            <a:r>
              <a:rPr lang="en-US" sz="3600" b="1" dirty="0">
                <a:solidFill>
                  <a:srgbClr val="1B998B"/>
                </a:solidFill>
                <a:latin typeface="Cambria" panose="02040503050406030204" pitchFamily="34" charset="0"/>
                <a:ea typeface="Cambria" panose="02040503050406030204" pitchFamily="34" charset="-122"/>
                <a:cs typeface="Cambria" panose="02040503050406030204" pitchFamily="34" charset="-120"/>
              </a:rPr>
              <a:t>−7.3%</a:t>
            </a:r>
            <a:endParaRPr lang="en-US" sz="3600" dirty="0"/>
          </a:p>
        </p:txBody>
      </p:sp>
      <p:sp>
        <p:nvSpPr>
          <p:cNvPr id="26" name="Text 21"/>
          <p:cNvSpPr txBox="1"/>
          <p:nvPr/>
        </p:nvSpPr>
        <p:spPr>
          <a:xfrm>
            <a:off x="6263640" y="2651760"/>
            <a:ext cx="2240280" cy="411480"/>
          </a:xfrm>
          <a:prstGeom prst="rect">
            <a:avLst/>
          </a:prstGeom>
          <a:noFill/>
        </p:spPr>
        <p:txBody>
          <a:bodyPr wrap="square" lIns="0" tIns="0" rIns="0" bIns="0" rtlCol="0" anchor="t"/>
          <a:lstStyle/>
          <a:p>
            <a:pPr marL="0" indent="0">
              <a:buNone/>
            </a:pPr>
            <a:r>
              <a:rPr lang="en-US" sz="1050" b="1" dirty="0">
                <a:solidFill>
                  <a:schemeClr val="tx1"/>
                </a:solidFill>
              </a:rPr>
              <a:t>Seaborne crude volumes 2026, yet average haul +3.3%</a:t>
            </a:r>
            <a:endParaRPr lang="en-US" sz="1050" dirty="0"/>
          </a:p>
        </p:txBody>
      </p:sp>
      <p:sp>
        <p:nvSpPr>
          <p:cNvPr id="27" name="Text 22"/>
          <p:cNvSpPr txBox="1"/>
          <p:nvPr/>
        </p:nvSpPr>
        <p:spPr>
          <a:xfrm>
            <a:off x="6263640" y="3108960"/>
            <a:ext cx="2286000" cy="1188720"/>
          </a:xfrm>
          <a:prstGeom prst="rect">
            <a:avLst/>
          </a:prstGeom>
          <a:noFill/>
        </p:spPr>
        <p:txBody>
          <a:bodyPr wrap="square" lIns="0" tIns="0" rIns="0" bIns="0" rtlCol="0" anchor="t"/>
          <a:lstStyle/>
          <a:p>
            <a:pPr marL="152400" indent="-152400">
              <a:spcAft>
                <a:spcPts val="400"/>
              </a:spcAft>
              <a:buSzPct val="100000"/>
              <a:buChar char="•"/>
            </a:pPr>
            <a:r>
              <a:rPr lang="en-US" sz="1100" dirty="0">
                <a:solidFill>
                  <a:schemeClr val="tx1"/>
                </a:solidFill>
              </a:rPr>
              <a:t>Tonne-miles propped up by Hormuz and Red Sea rerouting</a:t>
            </a:r>
            <a:endParaRPr lang="en-US" sz="1100" dirty="0"/>
          </a:p>
          <a:p>
            <a:pPr marL="152400" indent="-152400">
              <a:spcAft>
                <a:spcPts val="400"/>
              </a:spcAft>
              <a:buSzPct val="100000"/>
              <a:buChar char="•"/>
            </a:pPr>
            <a:r>
              <a:rPr lang="en-US" sz="1100" dirty="0">
                <a:solidFill>
                  <a:schemeClr val="tx1"/>
                </a:solidFill>
              </a:rPr>
              <a:t>Conflict-driven demand → lock income with a 3-year charter</a:t>
            </a:r>
            <a:endParaRPr lang="en-US" sz="1100" dirty="0"/>
          </a:p>
        </p:txBody>
      </p:sp>
      <p:sp>
        <p:nvSpPr>
          <p:cNvPr id="28" name="Text 23"/>
          <p:cNvSpPr txBox="1"/>
          <p:nvPr/>
        </p:nvSpPr>
        <p:spPr>
          <a:xfrm>
            <a:off x="457200" y="4553712"/>
            <a:ext cx="8229600" cy="274320"/>
          </a:xfrm>
          <a:prstGeom prst="rect">
            <a:avLst/>
          </a:prstGeom>
          <a:noFill/>
        </p:spPr>
        <p:txBody>
          <a:bodyPr wrap="square" lIns="0" tIns="0" rIns="0" bIns="0" rtlCol="0" anchor="t"/>
          <a:lstStyle/>
          <a:p>
            <a:pPr marL="0" indent="0">
              <a:buNone/>
            </a:pPr>
            <a:r>
              <a:rPr lang="en-US" sz="900" i="1" dirty="0">
                <a:solidFill>
                  <a:schemeClr val="tx1">
                    <a:alpha val="75000"/>
                  </a:schemeClr>
                </a:solidFill>
              </a:rPr>
              <a:t>Source: Clarksons Research SIN, series 557125, 98801, 534402, 98802/534403; SIN News #224049 (7 May 2026), #227870 (17 Aug 2026), #191021 (28 Jul 2023), #219145 (22 Dec 2025). Extracted 12 Sep 2026.</a:t>
            </a:r>
            <a:endParaRPr lang="en-US" sz="900" dirty="0"/>
          </a:p>
        </p:txBody>
      </p:sp>
      <p:sp>
        <p:nvSpPr>
          <p:cNvPr id="29" name="Slide Number Placeholder 0"/>
          <p:cNvSpPr>
            <a:spLocks noGrp="1"/>
          </p:cNvSpPr>
          <p:nvPr>
            <p:ph type="sldNum" sz="quarter" idx="4294967295"/>
          </p:nvPr>
        </p:nvSpPr>
        <p:spPr>
          <a:xfrm>
            <a:off x="8321040" y="4828032"/>
            <a:ext cx="365760" cy="228600"/>
          </a:xfrm>
          <a:prstGeom prst="rect">
            <a:avLst/>
          </a:prstGeom>
        </p:spPr>
        <p:txBody>
          <a:bodyPr/>
          <a:lstStyle>
            <a:lvl1pPr>
              <a:defRPr sz="900">
                <a:solidFill>
                  <a:srgbClr val="8D99AE"/>
                </a:solidFill>
              </a:defRPr>
            </a:lvl1pPr>
          </a:lstStyle>
          <a:p>
            <a:pPr algn="r"/>
            <a:fld id="{F7021451-1387-4CA6-816F-3879F97B5CBC}" type="slidenum">
              <a:rPr lang="en-US" b="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457200" y="201168"/>
            <a:ext cx="6858000" cy="274320"/>
          </a:xfrm>
          <a:prstGeom prst="rect">
            <a:avLst/>
          </a:prstGeom>
          <a:noFill/>
        </p:spPr>
        <p:txBody>
          <a:bodyPr wrap="square" lIns="0" tIns="0" rIns="0" bIns="0" rtlCol="0"/>
          <a:lstStyle/>
          <a:p>
            <a:pPr marL="0" indent="0">
              <a:buNone/>
            </a:pPr>
            <a:r>
              <a:rPr lang="en-US" sz="1100" b="1" kern="0" spc="200" dirty="0">
                <a:solidFill>
                  <a:schemeClr val="accent3"/>
                </a:solidFill>
              </a:rPr>
              <a:t>DEMAND &amp; SUPPLY  ·  2 / 4</a:t>
            </a:r>
            <a:endParaRPr lang="en-US" sz="1100" dirty="0"/>
          </a:p>
        </p:txBody>
      </p:sp>
      <p:sp>
        <p:nvSpPr>
          <p:cNvPr id="3" name="Text 0"/>
          <p:cNvSpPr/>
          <p:nvPr>
            <p:ph type="title" idx="101" hasCustomPrompt="1"/>
          </p:nvPr>
        </p:nvSpPr>
        <p:spPr>
          <a:xfrm>
            <a:off x="457200" y="457200"/>
            <a:ext cx="8229600" cy="548640"/>
          </a:xfrm>
          <a:prstGeom prst="rect">
            <a:avLst/>
          </a:prstGeom>
          <a:noFill/>
        </p:spPr>
        <p:txBody>
          <a:bodyPr wrap="square" lIns="0" tIns="0" rIns="0" bIns="0" rtlCol="0" anchor="t"/>
          <a:lstStyle/>
          <a:p>
            <a:pPr marL="0" indent="0" algn="l">
              <a:buNone/>
            </a:pPr>
            <a:r>
              <a:rPr lang="en-US" sz="2600" b="1" dirty="0">
                <a:solidFill>
                  <a:schemeClr val="tx2"/>
                </a:solidFill>
                <a:latin typeface="Cambria" panose="02040503050406030204" pitchFamily="34" charset="0"/>
                <a:ea typeface="Cambria" panose="02040503050406030204" pitchFamily="34" charset="-122"/>
                <a:cs typeface="Cambria" panose="02040503050406030204" pitchFamily="34" charset="-120"/>
              </a:rPr>
              <a:t>Supply today: ships arrive, almost none leave</a:t>
            </a:r>
            <a:endParaRPr lang="en-US" sz="2600" dirty="0"/>
          </a:p>
        </p:txBody>
      </p:sp>
      <p:graphicFrame>
        <p:nvGraphicFramePr>
          <p:cNvPr id="4" name="Chart 0"/>
          <p:cNvGraphicFramePr/>
          <p:nvPr/>
        </p:nvGraphicFramePr>
        <p:xfrm>
          <a:off x="365760" y="1143000"/>
          <a:ext cx="5120640" cy="333756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5760720" y="1188720"/>
            <a:ext cx="2926080" cy="960120"/>
          </a:xfrm>
          <a:prstGeom prst="roundRect">
            <a:avLst>
              <a:gd name="adj" fmla="val 7619"/>
            </a:avLst>
          </a:prstGeom>
          <a:solidFill>
            <a:schemeClr val="bg2"/>
          </a:solidFill>
          <a:ln w="12700">
            <a:solidFill>
              <a:schemeClr val="bg2"/>
            </a:solidFill>
            <a:prstDash val="solid"/>
          </a:ln>
        </p:spPr>
      </p:sp>
      <p:sp>
        <p:nvSpPr>
          <p:cNvPr id="6" name="Text 3"/>
          <p:cNvSpPr txBox="1"/>
          <p:nvPr/>
        </p:nvSpPr>
        <p:spPr>
          <a:xfrm>
            <a:off x="5897880" y="1261872"/>
            <a:ext cx="2697480" cy="411480"/>
          </a:xfrm>
          <a:prstGeom prst="rect">
            <a:avLst/>
          </a:prstGeom>
          <a:noFill/>
        </p:spPr>
        <p:txBody>
          <a:bodyPr wrap="square" lIns="0" tIns="0" rIns="0" bIns="0" rtlCol="0" anchor="ctr"/>
          <a:lstStyle/>
          <a:p>
            <a:pPr marL="0" indent="0">
              <a:buNone/>
            </a:pPr>
            <a:r>
              <a:rPr lang="en-US" sz="2200" b="1" dirty="0">
                <a:solidFill>
                  <a:schemeClr val="accent3"/>
                </a:solidFill>
                <a:latin typeface="Cambria" panose="02040503050406030204" pitchFamily="34" charset="0"/>
                <a:ea typeface="Cambria" panose="02040503050406030204" pitchFamily="34" charset="-122"/>
                <a:cs typeface="Cambria" panose="02040503050406030204" pitchFamily="34" charset="-120"/>
              </a:rPr>
              <a:t>93 vs 609</a:t>
            </a:r>
            <a:endParaRPr lang="en-US" sz="2200" dirty="0"/>
          </a:p>
        </p:txBody>
      </p:sp>
      <p:sp>
        <p:nvSpPr>
          <p:cNvPr id="7" name="Text 4"/>
          <p:cNvSpPr txBox="1"/>
          <p:nvPr/>
        </p:nvSpPr>
        <p:spPr>
          <a:xfrm>
            <a:off x="5897880" y="1664208"/>
            <a:ext cx="2697480" cy="457200"/>
          </a:xfrm>
          <a:prstGeom prst="rect">
            <a:avLst/>
          </a:prstGeom>
          <a:noFill/>
        </p:spPr>
        <p:txBody>
          <a:bodyPr wrap="square" lIns="0" tIns="0" rIns="0" bIns="0" rtlCol="0" anchor="t"/>
          <a:lstStyle/>
          <a:p>
            <a:pPr marL="0" indent="0">
              <a:buNone/>
            </a:pPr>
            <a:r>
              <a:rPr lang="en-US" sz="1000" dirty="0">
                <a:solidFill>
                  <a:schemeClr val="tx1"/>
                </a:solidFill>
              </a:rPr>
              <a:t>Kamsarmax/Panamax scrapped vs delivered, 2021–25: only ~15% of new ships offset</a:t>
            </a:r>
            <a:endParaRPr lang="en-US" sz="1000" dirty="0"/>
          </a:p>
        </p:txBody>
      </p:sp>
      <p:sp>
        <p:nvSpPr>
          <p:cNvPr id="8" name="Shape 5"/>
          <p:cNvSpPr/>
          <p:nvPr/>
        </p:nvSpPr>
        <p:spPr>
          <a:xfrm>
            <a:off x="5760720" y="2286000"/>
            <a:ext cx="2926080" cy="960120"/>
          </a:xfrm>
          <a:prstGeom prst="roundRect">
            <a:avLst>
              <a:gd name="adj" fmla="val 7619"/>
            </a:avLst>
          </a:prstGeom>
          <a:solidFill>
            <a:schemeClr val="bg2"/>
          </a:solidFill>
          <a:ln w="12700">
            <a:solidFill>
              <a:schemeClr val="bg2"/>
            </a:solidFill>
            <a:prstDash val="solid"/>
          </a:ln>
        </p:spPr>
      </p:sp>
      <p:sp>
        <p:nvSpPr>
          <p:cNvPr id="9" name="Text 6"/>
          <p:cNvSpPr txBox="1"/>
          <p:nvPr/>
        </p:nvSpPr>
        <p:spPr>
          <a:xfrm>
            <a:off x="5897880" y="2359152"/>
            <a:ext cx="2697480" cy="411480"/>
          </a:xfrm>
          <a:prstGeom prst="rect">
            <a:avLst/>
          </a:prstGeom>
          <a:noFill/>
        </p:spPr>
        <p:txBody>
          <a:bodyPr wrap="square" lIns="0" tIns="0" rIns="0" bIns="0" rtlCol="0" anchor="ctr"/>
          <a:lstStyle/>
          <a:p>
            <a:pPr marL="0" indent="0">
              <a:buNone/>
            </a:pPr>
            <a:r>
              <a:rPr lang="en-US" sz="2200" b="1" dirty="0">
                <a:solidFill>
                  <a:schemeClr val="accent3"/>
                </a:solidFill>
                <a:latin typeface="Cambria" panose="02040503050406030204" pitchFamily="34" charset="0"/>
                <a:ea typeface="Cambria" panose="02040503050406030204" pitchFamily="34" charset="-122"/>
                <a:cs typeface="Cambria" panose="02040503050406030204" pitchFamily="34" charset="-120"/>
              </a:rPr>
              <a:t>3 in, 8 out</a:t>
            </a:r>
            <a:endParaRPr lang="en-US" sz="2200" dirty="0"/>
          </a:p>
        </p:txBody>
      </p:sp>
      <p:sp>
        <p:nvSpPr>
          <p:cNvPr id="10" name="Text 7"/>
          <p:cNvSpPr txBox="1"/>
          <p:nvPr/>
        </p:nvSpPr>
        <p:spPr>
          <a:xfrm>
            <a:off x="5897880" y="2761488"/>
            <a:ext cx="2697480" cy="457200"/>
          </a:xfrm>
          <a:prstGeom prst="rect">
            <a:avLst/>
          </a:prstGeom>
          <a:noFill/>
        </p:spPr>
        <p:txBody>
          <a:bodyPr wrap="square" lIns="0" tIns="0" rIns="0" bIns="0" rtlCol="0" anchor="t"/>
          <a:lstStyle/>
          <a:p>
            <a:pPr marL="0" indent="0">
              <a:buNone/>
            </a:pPr>
            <a:r>
              <a:rPr lang="en-US" sz="1000" dirty="0">
                <a:solidFill>
                  <a:schemeClr val="tx1"/>
                </a:solidFill>
              </a:rPr>
              <a:t>Crude Aframax in 2025: the fleet actually shrank</a:t>
            </a:r>
            <a:endParaRPr lang="en-US" sz="1000" dirty="0"/>
          </a:p>
        </p:txBody>
      </p:sp>
      <p:sp>
        <p:nvSpPr>
          <p:cNvPr id="11" name="Shape 8"/>
          <p:cNvSpPr/>
          <p:nvPr/>
        </p:nvSpPr>
        <p:spPr>
          <a:xfrm>
            <a:off x="5760720" y="3383280"/>
            <a:ext cx="2926080" cy="960120"/>
          </a:xfrm>
          <a:prstGeom prst="roundRect">
            <a:avLst>
              <a:gd name="adj" fmla="val 7619"/>
            </a:avLst>
          </a:prstGeom>
          <a:solidFill>
            <a:schemeClr val="bg2"/>
          </a:solidFill>
          <a:ln w="12700">
            <a:solidFill>
              <a:schemeClr val="bg2"/>
            </a:solidFill>
            <a:prstDash val="solid"/>
          </a:ln>
        </p:spPr>
      </p:sp>
      <p:sp>
        <p:nvSpPr>
          <p:cNvPr id="12" name="Text 9"/>
          <p:cNvSpPr txBox="1"/>
          <p:nvPr/>
        </p:nvSpPr>
        <p:spPr>
          <a:xfrm>
            <a:off x="5897880" y="3456432"/>
            <a:ext cx="2697480" cy="411480"/>
          </a:xfrm>
          <a:prstGeom prst="rect">
            <a:avLst/>
          </a:prstGeom>
          <a:noFill/>
        </p:spPr>
        <p:txBody>
          <a:bodyPr wrap="square" lIns="0" tIns="0" rIns="0" bIns="0" rtlCol="0" anchor="ctr"/>
          <a:lstStyle/>
          <a:p>
            <a:pPr marL="0" indent="0">
              <a:buNone/>
            </a:pPr>
            <a:r>
              <a:rPr lang="en-US" sz="2200" b="1" dirty="0">
                <a:solidFill>
                  <a:schemeClr val="accent4"/>
                </a:solidFill>
                <a:latin typeface="Cambria" panose="02040503050406030204" pitchFamily="34" charset="0"/>
                <a:ea typeface="Cambria" panose="02040503050406030204" pitchFamily="34" charset="-122"/>
                <a:cs typeface="Cambria" panose="02040503050406030204" pitchFamily="34" charset="-120"/>
              </a:rPr>
              <a:t>153 vs 6</a:t>
            </a:r>
            <a:endParaRPr lang="en-US" sz="2200" dirty="0"/>
          </a:p>
        </p:txBody>
      </p:sp>
      <p:sp>
        <p:nvSpPr>
          <p:cNvPr id="13" name="Text 10"/>
          <p:cNvSpPr txBox="1"/>
          <p:nvPr/>
        </p:nvSpPr>
        <p:spPr>
          <a:xfrm>
            <a:off x="5897880" y="3858768"/>
            <a:ext cx="2697480" cy="457200"/>
          </a:xfrm>
          <a:prstGeom prst="rect">
            <a:avLst/>
          </a:prstGeom>
          <a:noFill/>
        </p:spPr>
        <p:txBody>
          <a:bodyPr wrap="square" lIns="0" tIns="0" rIns="0" bIns="0" rtlCol="0" anchor="t"/>
          <a:lstStyle/>
          <a:p>
            <a:pPr marL="0" indent="0">
              <a:buNone/>
            </a:pPr>
            <a:r>
              <a:rPr lang="en-US" sz="1000" dirty="0">
                <a:solidFill>
                  <a:schemeClr val="tx1"/>
                </a:solidFill>
              </a:rPr>
              <a:t>Kamsarmax/Panamax delivered vs scrapped, 2026 YTD: scrapping has almost stopped</a:t>
            </a:r>
            <a:endParaRPr lang="en-US" sz="1000" dirty="0"/>
          </a:p>
        </p:txBody>
      </p:sp>
      <p:sp>
        <p:nvSpPr>
          <p:cNvPr id="14" name="Text 11"/>
          <p:cNvSpPr txBox="1"/>
          <p:nvPr/>
        </p:nvSpPr>
        <p:spPr>
          <a:xfrm>
            <a:off x="457200" y="4553712"/>
            <a:ext cx="8229600" cy="274320"/>
          </a:xfrm>
          <a:prstGeom prst="rect">
            <a:avLst/>
          </a:prstGeom>
          <a:noFill/>
        </p:spPr>
        <p:txBody>
          <a:bodyPr wrap="square" lIns="0" tIns="0" rIns="0" bIns="0" rtlCol="0" anchor="t"/>
          <a:lstStyle/>
          <a:p>
            <a:pPr marL="0" indent="0">
              <a:buNone/>
            </a:pPr>
            <a:r>
              <a:rPr lang="en-US" sz="900" i="1" dirty="0">
                <a:solidFill>
                  <a:schemeClr val="tx1">
                    <a:alpha val="75000"/>
                  </a:schemeClr>
                </a:solidFill>
              </a:rPr>
              <a:t>Source: Clarksons Research SIN, deliveries [30301, 540953, 29984, 39696] and demolition [30291, 540965, 29967, 39683] , extracted 10 Oct 2026. Aframax crude = Aframax tanker series minus LR2. 2026 = year to date.</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p:spPr>
        <p:txBody>
          <a:bodyPr/>
          <a:lstStyle>
            <a:lvl1pPr>
              <a:defRPr sz="900">
                <a:solidFill>
                  <a:srgbClr val="8D99AE"/>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457200" y="201168"/>
            <a:ext cx="6858000" cy="274320"/>
          </a:xfrm>
          <a:prstGeom prst="rect">
            <a:avLst/>
          </a:prstGeom>
          <a:noFill/>
        </p:spPr>
        <p:txBody>
          <a:bodyPr wrap="square" lIns="0" tIns="0" rIns="0" bIns="0" rtlCol="0"/>
          <a:lstStyle/>
          <a:p>
            <a:pPr marL="0" indent="0">
              <a:buNone/>
            </a:pPr>
            <a:r>
              <a:rPr lang="en-US" sz="1100" b="1" kern="0" spc="200" dirty="0">
                <a:solidFill>
                  <a:schemeClr val="accent3"/>
                </a:solidFill>
              </a:rPr>
              <a:t>DEMAND &amp; SUPPLY  ·  3 / 4</a:t>
            </a:r>
            <a:endParaRPr lang="en-US" sz="1100" dirty="0"/>
          </a:p>
        </p:txBody>
      </p:sp>
      <p:sp>
        <p:nvSpPr>
          <p:cNvPr id="3" name="Text 0"/>
          <p:cNvSpPr/>
          <p:nvPr>
            <p:ph type="title" idx="101" hasCustomPrompt="1"/>
          </p:nvPr>
        </p:nvSpPr>
        <p:spPr>
          <a:xfrm>
            <a:off x="457200" y="457200"/>
            <a:ext cx="8229600" cy="548640"/>
          </a:xfrm>
          <a:prstGeom prst="rect">
            <a:avLst/>
          </a:prstGeom>
          <a:noFill/>
        </p:spPr>
        <p:txBody>
          <a:bodyPr wrap="square" lIns="0" tIns="0" rIns="0" bIns="0" rtlCol="0" anchor="t"/>
          <a:lstStyle/>
          <a:p>
            <a:pPr marL="0" indent="0" algn="l">
              <a:buNone/>
            </a:pPr>
            <a:r>
              <a:rPr lang="en-US" sz="2600" b="1" dirty="0">
                <a:solidFill>
                  <a:schemeClr val="tx2"/>
                </a:solidFill>
                <a:latin typeface="Cambria" panose="02040503050406030204" pitchFamily="34" charset="0"/>
                <a:ea typeface="Cambria" panose="02040503050406030204" pitchFamily="34" charset="-122"/>
                <a:cs typeface="Cambria" panose="02040503050406030204" pitchFamily="34" charset="-120"/>
              </a:rPr>
              <a:t>Supply ahead: a delivery wave peaks in 2027–28</a:t>
            </a:r>
            <a:endParaRPr lang="en-US" sz="2600" dirty="0"/>
          </a:p>
        </p:txBody>
      </p:sp>
      <p:graphicFrame>
        <p:nvGraphicFramePr>
          <p:cNvPr id="4" name="Chart 0"/>
          <p:cNvGraphicFramePr/>
          <p:nvPr/>
        </p:nvGraphicFramePr>
        <p:xfrm>
          <a:off x="365760" y="1143000"/>
          <a:ext cx="5394960" cy="3337560"/>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 2"/>
          <p:cNvSpPr txBox="1"/>
          <p:nvPr/>
        </p:nvSpPr>
        <p:spPr>
          <a:xfrm>
            <a:off x="6035040" y="1170432"/>
            <a:ext cx="2651760" cy="457200"/>
          </a:xfrm>
          <a:prstGeom prst="rect">
            <a:avLst/>
          </a:prstGeom>
          <a:noFill/>
        </p:spPr>
        <p:txBody>
          <a:bodyPr wrap="square" lIns="0" tIns="0" rIns="0" bIns="0" rtlCol="0" anchor="t"/>
          <a:lstStyle/>
          <a:p>
            <a:pPr marL="0" indent="0">
              <a:buNone/>
            </a:pPr>
            <a:r>
              <a:rPr lang="en-US" sz="1200" b="1" dirty="0">
                <a:solidFill>
                  <a:schemeClr val="tx2"/>
                </a:solidFill>
              </a:rPr>
              <a:t>Orderbook as % of current fleet</a:t>
            </a:r>
            <a:endParaRPr lang="en-US" sz="1200" dirty="0"/>
          </a:p>
        </p:txBody>
      </p:sp>
      <p:sp>
        <p:nvSpPr>
          <p:cNvPr id="6" name="Shape 3"/>
          <p:cNvSpPr/>
          <p:nvPr/>
        </p:nvSpPr>
        <p:spPr>
          <a:xfrm>
            <a:off x="6035040" y="1691640"/>
            <a:ext cx="2651760" cy="548640"/>
          </a:xfrm>
          <a:prstGeom prst="roundRect">
            <a:avLst>
              <a:gd name="adj" fmla="val 10000"/>
            </a:avLst>
          </a:prstGeom>
          <a:solidFill>
            <a:srgbClr val="EEF3F7"/>
          </a:solidFill>
          <a:ln w="12700">
            <a:solidFill>
              <a:srgbClr val="EEF3F7"/>
            </a:solidFill>
            <a:prstDash val="solid"/>
          </a:ln>
        </p:spPr>
      </p:sp>
      <p:sp>
        <p:nvSpPr>
          <p:cNvPr id="7" name="Shape 4"/>
          <p:cNvSpPr/>
          <p:nvPr/>
        </p:nvSpPr>
        <p:spPr>
          <a:xfrm>
            <a:off x="6144768" y="1883664"/>
            <a:ext cx="164592" cy="164592"/>
          </a:xfrm>
          <a:prstGeom prst="ellipse">
            <a:avLst/>
          </a:prstGeom>
          <a:solidFill>
            <a:srgbClr val="0B2545"/>
          </a:solidFill>
          <a:ln w="12700">
            <a:solidFill>
              <a:srgbClr val="0B2545"/>
            </a:solidFill>
            <a:prstDash val="solid"/>
          </a:ln>
        </p:spPr>
      </p:sp>
      <p:sp>
        <p:nvSpPr>
          <p:cNvPr id="8" name="Text 5"/>
          <p:cNvSpPr txBox="1"/>
          <p:nvPr/>
        </p:nvSpPr>
        <p:spPr>
          <a:xfrm>
            <a:off x="6400800" y="1737360"/>
            <a:ext cx="1234440" cy="256032"/>
          </a:xfrm>
          <a:prstGeom prst="rect">
            <a:avLst/>
          </a:prstGeom>
          <a:noFill/>
        </p:spPr>
        <p:txBody>
          <a:bodyPr wrap="square" lIns="0" tIns="0" rIns="0" bIns="0" rtlCol="0" anchor="ctr"/>
          <a:lstStyle/>
          <a:p>
            <a:pPr marL="0" indent="0">
              <a:buNone/>
            </a:pPr>
            <a:r>
              <a:rPr lang="en-US" sz="1100" b="1" dirty="0">
                <a:solidFill>
                  <a:schemeClr val="tx1"/>
                </a:solidFill>
              </a:rPr>
              <a:t>Kamsarmax</a:t>
            </a:r>
            <a:endParaRPr lang="en-US" sz="1100" dirty="0"/>
          </a:p>
        </p:txBody>
      </p:sp>
      <p:sp>
        <p:nvSpPr>
          <p:cNvPr id="9" name="Text 6"/>
          <p:cNvSpPr txBox="1"/>
          <p:nvPr/>
        </p:nvSpPr>
        <p:spPr>
          <a:xfrm>
            <a:off x="6400800" y="1984248"/>
            <a:ext cx="1325880" cy="219456"/>
          </a:xfrm>
          <a:prstGeom prst="rect">
            <a:avLst/>
          </a:prstGeom>
          <a:noFill/>
        </p:spPr>
        <p:txBody>
          <a:bodyPr wrap="square" lIns="0" tIns="0" rIns="0" bIns="0" rtlCol="0" anchor="ctr"/>
          <a:lstStyle/>
          <a:p>
            <a:pPr marL="0" indent="0">
              <a:buNone/>
            </a:pPr>
            <a:r>
              <a:rPr lang="en-US" sz="900" dirty="0">
                <a:solidFill>
                  <a:schemeClr val="tx1">
                    <a:alpha val="80000"/>
                  </a:schemeClr>
                </a:solidFill>
              </a:rPr>
              <a:t>472 / 3,487 ships</a:t>
            </a:r>
            <a:endParaRPr lang="en-US" sz="900" dirty="0"/>
          </a:p>
        </p:txBody>
      </p:sp>
      <p:sp>
        <p:nvSpPr>
          <p:cNvPr id="10" name="Text 7"/>
          <p:cNvSpPr txBox="1"/>
          <p:nvPr/>
        </p:nvSpPr>
        <p:spPr>
          <a:xfrm>
            <a:off x="7635240" y="1764792"/>
            <a:ext cx="960120" cy="411480"/>
          </a:xfrm>
          <a:prstGeom prst="rect">
            <a:avLst/>
          </a:prstGeom>
          <a:noFill/>
        </p:spPr>
        <p:txBody>
          <a:bodyPr wrap="square" lIns="0" tIns="0" rIns="0" bIns="0" rtlCol="0" anchor="ctr"/>
          <a:lstStyle/>
          <a:p>
            <a:pPr marL="0" indent="0" algn="r">
              <a:buNone/>
            </a:pPr>
            <a:r>
              <a:rPr lang="en-US" sz="2000" b="1" dirty="0">
                <a:solidFill>
                  <a:schemeClr val="tx2"/>
                </a:solidFill>
                <a:latin typeface="Cambria" panose="02040503050406030204" pitchFamily="34" charset="0"/>
                <a:ea typeface="Cambria" panose="02040503050406030204" pitchFamily="34" charset="-122"/>
                <a:cs typeface="Cambria" panose="02040503050406030204" pitchFamily="34" charset="-120"/>
              </a:rPr>
              <a:t>13.5%</a:t>
            </a:r>
            <a:endParaRPr lang="en-US" sz="2000" dirty="0"/>
          </a:p>
        </p:txBody>
      </p:sp>
      <p:sp>
        <p:nvSpPr>
          <p:cNvPr id="11" name="Shape 8"/>
          <p:cNvSpPr/>
          <p:nvPr/>
        </p:nvSpPr>
        <p:spPr>
          <a:xfrm>
            <a:off x="6035040" y="2350008"/>
            <a:ext cx="2651760" cy="548640"/>
          </a:xfrm>
          <a:prstGeom prst="roundRect">
            <a:avLst>
              <a:gd name="adj" fmla="val 10000"/>
            </a:avLst>
          </a:prstGeom>
          <a:solidFill>
            <a:srgbClr val="EEF3F7"/>
          </a:solidFill>
          <a:ln w="12700">
            <a:solidFill>
              <a:srgbClr val="EEF3F7"/>
            </a:solidFill>
            <a:prstDash val="solid"/>
          </a:ln>
        </p:spPr>
      </p:sp>
      <p:sp>
        <p:nvSpPr>
          <p:cNvPr id="12" name="Shape 9"/>
          <p:cNvSpPr/>
          <p:nvPr/>
        </p:nvSpPr>
        <p:spPr>
          <a:xfrm>
            <a:off x="6144768" y="2542032"/>
            <a:ext cx="164592" cy="164592"/>
          </a:xfrm>
          <a:prstGeom prst="ellipse">
            <a:avLst/>
          </a:prstGeom>
          <a:solidFill>
            <a:srgbClr val="E09F3E"/>
          </a:solidFill>
          <a:ln w="12700">
            <a:solidFill>
              <a:srgbClr val="E09F3E"/>
            </a:solidFill>
            <a:prstDash val="solid"/>
          </a:ln>
        </p:spPr>
      </p:sp>
      <p:sp>
        <p:nvSpPr>
          <p:cNvPr id="13" name="Text 10"/>
          <p:cNvSpPr txBox="1"/>
          <p:nvPr/>
        </p:nvSpPr>
        <p:spPr>
          <a:xfrm>
            <a:off x="6400800" y="2395728"/>
            <a:ext cx="1234440" cy="256032"/>
          </a:xfrm>
          <a:prstGeom prst="rect">
            <a:avLst/>
          </a:prstGeom>
          <a:noFill/>
        </p:spPr>
        <p:txBody>
          <a:bodyPr wrap="square" lIns="0" tIns="0" rIns="0" bIns="0" rtlCol="0" anchor="ctr"/>
          <a:lstStyle/>
          <a:p>
            <a:pPr marL="0" indent="0">
              <a:buNone/>
            </a:pPr>
            <a:r>
              <a:rPr lang="en-US" sz="1100" b="1" dirty="0">
                <a:solidFill>
                  <a:schemeClr val="tx1"/>
                </a:solidFill>
              </a:rPr>
              <a:t>MR</a:t>
            </a:r>
            <a:endParaRPr lang="en-US" sz="1100" dirty="0"/>
          </a:p>
        </p:txBody>
      </p:sp>
      <p:sp>
        <p:nvSpPr>
          <p:cNvPr id="14" name="Text 11"/>
          <p:cNvSpPr txBox="1"/>
          <p:nvPr/>
        </p:nvSpPr>
        <p:spPr>
          <a:xfrm>
            <a:off x="6400800" y="2642616"/>
            <a:ext cx="1325880" cy="219456"/>
          </a:xfrm>
          <a:prstGeom prst="rect">
            <a:avLst/>
          </a:prstGeom>
          <a:noFill/>
        </p:spPr>
        <p:txBody>
          <a:bodyPr wrap="square" lIns="0" tIns="0" rIns="0" bIns="0" rtlCol="0" anchor="ctr"/>
          <a:lstStyle/>
          <a:p>
            <a:pPr marL="0" indent="0">
              <a:buNone/>
            </a:pPr>
            <a:r>
              <a:rPr lang="en-US" sz="900" dirty="0">
                <a:solidFill>
                  <a:schemeClr val="tx1">
                    <a:alpha val="80000"/>
                  </a:schemeClr>
                </a:solidFill>
              </a:rPr>
              <a:t>367 / 2,351 ships</a:t>
            </a:r>
            <a:endParaRPr lang="en-US" sz="900" dirty="0"/>
          </a:p>
        </p:txBody>
      </p:sp>
      <p:sp>
        <p:nvSpPr>
          <p:cNvPr id="15" name="Text 12"/>
          <p:cNvSpPr txBox="1"/>
          <p:nvPr/>
        </p:nvSpPr>
        <p:spPr>
          <a:xfrm>
            <a:off x="7635240" y="2423160"/>
            <a:ext cx="960120" cy="411480"/>
          </a:xfrm>
          <a:prstGeom prst="rect">
            <a:avLst/>
          </a:prstGeom>
          <a:noFill/>
        </p:spPr>
        <p:txBody>
          <a:bodyPr wrap="square" lIns="0" tIns="0" rIns="0" bIns="0" rtlCol="0" anchor="ctr"/>
          <a:lstStyle/>
          <a:p>
            <a:pPr marL="0" indent="0" algn="r">
              <a:buNone/>
            </a:pPr>
            <a:r>
              <a:rPr lang="en-US" sz="2000" b="1" dirty="0">
                <a:solidFill>
                  <a:schemeClr val="tx2"/>
                </a:solidFill>
                <a:latin typeface="Cambria" panose="02040503050406030204" pitchFamily="34" charset="0"/>
                <a:ea typeface="Cambria" panose="02040503050406030204" pitchFamily="34" charset="-122"/>
                <a:cs typeface="Cambria" panose="02040503050406030204" pitchFamily="34" charset="-120"/>
              </a:rPr>
              <a:t>15.6%</a:t>
            </a:r>
            <a:endParaRPr lang="en-US" sz="2000" dirty="0"/>
          </a:p>
        </p:txBody>
      </p:sp>
      <p:sp>
        <p:nvSpPr>
          <p:cNvPr id="16" name="Shape 13"/>
          <p:cNvSpPr/>
          <p:nvPr/>
        </p:nvSpPr>
        <p:spPr>
          <a:xfrm>
            <a:off x="6035040" y="3008376"/>
            <a:ext cx="2651760" cy="548640"/>
          </a:xfrm>
          <a:prstGeom prst="roundRect">
            <a:avLst>
              <a:gd name="adj" fmla="val 10000"/>
            </a:avLst>
          </a:prstGeom>
          <a:solidFill>
            <a:srgbClr val="EEF3F7"/>
          </a:solidFill>
          <a:ln w="12700">
            <a:solidFill>
              <a:srgbClr val="EEF3F7"/>
            </a:solidFill>
            <a:prstDash val="solid"/>
          </a:ln>
        </p:spPr>
      </p:sp>
      <p:sp>
        <p:nvSpPr>
          <p:cNvPr id="17" name="Shape 14"/>
          <p:cNvSpPr/>
          <p:nvPr/>
        </p:nvSpPr>
        <p:spPr>
          <a:xfrm>
            <a:off x="6144768" y="3200400"/>
            <a:ext cx="164592" cy="164592"/>
          </a:xfrm>
          <a:prstGeom prst="ellipse">
            <a:avLst/>
          </a:prstGeom>
          <a:solidFill>
            <a:srgbClr val="1B998B"/>
          </a:solidFill>
          <a:ln w="12700">
            <a:solidFill>
              <a:srgbClr val="1B998B"/>
            </a:solidFill>
            <a:prstDash val="solid"/>
          </a:ln>
        </p:spPr>
      </p:sp>
      <p:sp>
        <p:nvSpPr>
          <p:cNvPr id="18" name="Text 15"/>
          <p:cNvSpPr txBox="1"/>
          <p:nvPr/>
        </p:nvSpPr>
        <p:spPr>
          <a:xfrm>
            <a:off x="6400800" y="3054096"/>
            <a:ext cx="1234440" cy="256032"/>
          </a:xfrm>
          <a:prstGeom prst="rect">
            <a:avLst/>
          </a:prstGeom>
          <a:noFill/>
        </p:spPr>
        <p:txBody>
          <a:bodyPr wrap="square" lIns="0" tIns="0" rIns="0" bIns="0" rtlCol="0" anchor="ctr"/>
          <a:lstStyle/>
          <a:p>
            <a:pPr marL="0" indent="0">
              <a:buNone/>
            </a:pPr>
            <a:r>
              <a:rPr lang="en-US" sz="1100" b="1" dirty="0">
                <a:solidFill>
                  <a:schemeClr val="tx1"/>
                </a:solidFill>
              </a:rPr>
              <a:t>Aframax crude</a:t>
            </a:r>
            <a:endParaRPr lang="en-US" sz="1100" dirty="0"/>
          </a:p>
        </p:txBody>
      </p:sp>
      <p:sp>
        <p:nvSpPr>
          <p:cNvPr id="19" name="Text 16"/>
          <p:cNvSpPr txBox="1"/>
          <p:nvPr/>
        </p:nvSpPr>
        <p:spPr>
          <a:xfrm>
            <a:off x="6400800" y="3300984"/>
            <a:ext cx="1325880" cy="219456"/>
          </a:xfrm>
          <a:prstGeom prst="rect">
            <a:avLst/>
          </a:prstGeom>
          <a:noFill/>
        </p:spPr>
        <p:txBody>
          <a:bodyPr wrap="square" lIns="0" tIns="0" rIns="0" bIns="0" rtlCol="0" anchor="ctr"/>
          <a:lstStyle/>
          <a:p>
            <a:pPr marL="0" indent="0">
              <a:buNone/>
            </a:pPr>
            <a:r>
              <a:rPr lang="en-US" sz="900" dirty="0">
                <a:solidFill>
                  <a:schemeClr val="tx1">
                    <a:alpha val="80000"/>
                  </a:schemeClr>
                </a:solidFill>
              </a:rPr>
              <a:t>62 / 696 ships</a:t>
            </a:r>
            <a:endParaRPr lang="en-US" sz="900" dirty="0"/>
          </a:p>
        </p:txBody>
      </p:sp>
      <p:sp>
        <p:nvSpPr>
          <p:cNvPr id="20" name="Text 17"/>
          <p:cNvSpPr txBox="1"/>
          <p:nvPr/>
        </p:nvSpPr>
        <p:spPr>
          <a:xfrm>
            <a:off x="7635240" y="3081528"/>
            <a:ext cx="960120" cy="411480"/>
          </a:xfrm>
          <a:prstGeom prst="rect">
            <a:avLst/>
          </a:prstGeom>
          <a:noFill/>
        </p:spPr>
        <p:txBody>
          <a:bodyPr wrap="square" lIns="0" tIns="0" rIns="0" bIns="0" rtlCol="0" anchor="ctr"/>
          <a:lstStyle/>
          <a:p>
            <a:pPr marL="0" indent="0" algn="r">
              <a:buNone/>
            </a:pPr>
            <a:r>
              <a:rPr lang="en-US" sz="2000" b="1" dirty="0">
                <a:solidFill>
                  <a:schemeClr val="tx2"/>
                </a:solidFill>
                <a:latin typeface="Cambria" panose="02040503050406030204" pitchFamily="34" charset="0"/>
                <a:ea typeface="Cambria" panose="02040503050406030204" pitchFamily="34" charset="-122"/>
                <a:cs typeface="Cambria" panose="02040503050406030204" pitchFamily="34" charset="-120"/>
              </a:rPr>
              <a:t>8.9%</a:t>
            </a:r>
            <a:endParaRPr lang="en-US" sz="2000" dirty="0"/>
          </a:p>
        </p:txBody>
      </p:sp>
      <p:sp>
        <p:nvSpPr>
          <p:cNvPr id="21" name="Shape 18"/>
          <p:cNvSpPr/>
          <p:nvPr/>
        </p:nvSpPr>
        <p:spPr>
          <a:xfrm>
            <a:off x="6035040" y="3666744"/>
            <a:ext cx="2651760" cy="548640"/>
          </a:xfrm>
          <a:prstGeom prst="roundRect">
            <a:avLst>
              <a:gd name="adj" fmla="val 10000"/>
            </a:avLst>
          </a:prstGeom>
          <a:solidFill>
            <a:srgbClr val="FBE9EC"/>
          </a:solidFill>
          <a:ln w="12700">
            <a:solidFill>
              <a:srgbClr val="FBE9EC"/>
            </a:solidFill>
            <a:prstDash val="solid"/>
          </a:ln>
        </p:spPr>
      </p:sp>
      <p:sp>
        <p:nvSpPr>
          <p:cNvPr id="22" name="Shape 19"/>
          <p:cNvSpPr/>
          <p:nvPr/>
        </p:nvSpPr>
        <p:spPr>
          <a:xfrm>
            <a:off x="6144768" y="3858768"/>
            <a:ext cx="164592" cy="164592"/>
          </a:xfrm>
          <a:prstGeom prst="ellipse">
            <a:avLst/>
          </a:prstGeom>
          <a:solidFill>
            <a:srgbClr val="D1495B"/>
          </a:solidFill>
          <a:ln w="12700">
            <a:solidFill>
              <a:srgbClr val="D1495B"/>
            </a:solidFill>
            <a:prstDash val="solid"/>
          </a:ln>
        </p:spPr>
      </p:sp>
      <p:sp>
        <p:nvSpPr>
          <p:cNvPr id="23" name="Text 20"/>
          <p:cNvSpPr txBox="1"/>
          <p:nvPr/>
        </p:nvSpPr>
        <p:spPr>
          <a:xfrm>
            <a:off x="6400800" y="3712464"/>
            <a:ext cx="1234440" cy="256032"/>
          </a:xfrm>
          <a:prstGeom prst="rect">
            <a:avLst/>
          </a:prstGeom>
          <a:noFill/>
        </p:spPr>
        <p:txBody>
          <a:bodyPr wrap="square" lIns="0" tIns="0" rIns="0" bIns="0" rtlCol="0" anchor="ctr"/>
          <a:lstStyle/>
          <a:p>
            <a:pPr marL="0" indent="0">
              <a:buNone/>
            </a:pPr>
            <a:r>
              <a:rPr lang="en-US" sz="1100" b="1" dirty="0">
                <a:solidFill>
                  <a:schemeClr val="tx1"/>
                </a:solidFill>
              </a:rPr>
              <a:t>LR2</a:t>
            </a:r>
            <a:endParaRPr lang="en-US" sz="1100" dirty="0"/>
          </a:p>
        </p:txBody>
      </p:sp>
      <p:sp>
        <p:nvSpPr>
          <p:cNvPr id="24" name="Text 21"/>
          <p:cNvSpPr txBox="1"/>
          <p:nvPr/>
        </p:nvSpPr>
        <p:spPr>
          <a:xfrm>
            <a:off x="6400800" y="3959352"/>
            <a:ext cx="1325880" cy="219456"/>
          </a:xfrm>
          <a:prstGeom prst="rect">
            <a:avLst/>
          </a:prstGeom>
          <a:noFill/>
        </p:spPr>
        <p:txBody>
          <a:bodyPr wrap="square" lIns="0" tIns="0" rIns="0" bIns="0" rtlCol="0" anchor="ctr"/>
          <a:lstStyle/>
          <a:p>
            <a:pPr marL="0" indent="0">
              <a:buNone/>
            </a:pPr>
            <a:r>
              <a:rPr lang="en-US" sz="900" dirty="0">
                <a:solidFill>
                  <a:schemeClr val="tx1">
                    <a:alpha val="80000"/>
                  </a:schemeClr>
                </a:solidFill>
              </a:rPr>
              <a:t>199 / 572 ships</a:t>
            </a:r>
            <a:endParaRPr lang="en-US" sz="900" dirty="0"/>
          </a:p>
        </p:txBody>
      </p:sp>
      <p:sp>
        <p:nvSpPr>
          <p:cNvPr id="25" name="Text 22"/>
          <p:cNvSpPr txBox="1"/>
          <p:nvPr/>
        </p:nvSpPr>
        <p:spPr>
          <a:xfrm>
            <a:off x="7635240" y="3739896"/>
            <a:ext cx="960120" cy="411480"/>
          </a:xfrm>
          <a:prstGeom prst="rect">
            <a:avLst/>
          </a:prstGeom>
          <a:noFill/>
        </p:spPr>
        <p:txBody>
          <a:bodyPr wrap="square" lIns="0" tIns="0" rIns="0" bIns="0" rtlCol="0" anchor="ctr"/>
          <a:lstStyle/>
          <a:p>
            <a:pPr marL="0" indent="0" algn="r">
              <a:buNone/>
            </a:pPr>
            <a:r>
              <a:rPr lang="en-US" sz="2000" b="1" dirty="0">
                <a:solidFill>
                  <a:schemeClr val="accent4"/>
                </a:solidFill>
                <a:latin typeface="Cambria" panose="02040503050406030204" pitchFamily="34" charset="0"/>
                <a:ea typeface="Cambria" panose="02040503050406030204" pitchFamily="34" charset="-122"/>
                <a:cs typeface="Cambria" panose="02040503050406030204" pitchFamily="34" charset="-120"/>
              </a:rPr>
              <a:t>34.8%</a:t>
            </a:r>
            <a:endParaRPr lang="en-US" sz="2000" dirty="0"/>
          </a:p>
        </p:txBody>
      </p:sp>
      <p:sp>
        <p:nvSpPr>
          <p:cNvPr id="26" name="Text 23"/>
          <p:cNvSpPr txBox="1"/>
          <p:nvPr/>
        </p:nvSpPr>
        <p:spPr>
          <a:xfrm>
            <a:off x="457200" y="4553712"/>
            <a:ext cx="8229600" cy="274320"/>
          </a:xfrm>
          <a:prstGeom prst="rect">
            <a:avLst/>
          </a:prstGeom>
          <a:noFill/>
        </p:spPr>
        <p:txBody>
          <a:bodyPr wrap="square" lIns="0" tIns="0" rIns="0" bIns="0" rtlCol="0" anchor="t"/>
          <a:lstStyle/>
          <a:p>
            <a:pPr marL="0" indent="0">
              <a:buNone/>
            </a:pPr>
            <a:r>
              <a:rPr lang="en-US" sz="900" i="1" dirty="0">
                <a:solidFill>
                  <a:schemeClr val="tx1">
                    <a:alpha val="75000"/>
                  </a:schemeClr>
                </a:solidFill>
              </a:rPr>
              <a:t>Source: Clarksons Research SIN, Orderbook &gt; Delivery Schedule and Fleet Register, extracted 10 Oct 2026. *2026 = deliveries still due Oct–Dec. MR = MR/Handy 25–55k (incl. 1 ship due 2031). By number of ships.</a:t>
            </a:r>
            <a:endParaRPr lang="en-US" sz="900" dirty="0"/>
          </a:p>
        </p:txBody>
      </p:sp>
      <p:sp>
        <p:nvSpPr>
          <p:cNvPr id="27" name="Slide Number Placeholder 0"/>
          <p:cNvSpPr>
            <a:spLocks noGrp="1"/>
          </p:cNvSpPr>
          <p:nvPr>
            <p:ph type="sldNum" sz="quarter" idx="4294967295"/>
          </p:nvPr>
        </p:nvSpPr>
        <p:spPr>
          <a:xfrm>
            <a:off x="8321040" y="4828032"/>
            <a:ext cx="365760" cy="228600"/>
          </a:xfrm>
          <a:prstGeom prst="rect">
            <a:avLst/>
          </a:prstGeom>
        </p:spPr>
        <p:txBody>
          <a:bodyPr/>
          <a:lstStyle>
            <a:lvl1pPr>
              <a:defRPr sz="900">
                <a:solidFill>
                  <a:srgbClr val="8D99AE"/>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457200" y="201168"/>
            <a:ext cx="6858000" cy="274320"/>
          </a:xfrm>
          <a:prstGeom prst="rect">
            <a:avLst/>
          </a:prstGeom>
          <a:noFill/>
        </p:spPr>
        <p:txBody>
          <a:bodyPr wrap="square" lIns="0" tIns="0" rIns="0" bIns="0" rtlCol="0"/>
          <a:lstStyle/>
          <a:p>
            <a:pPr marL="0" indent="0">
              <a:buNone/>
            </a:pPr>
            <a:r>
              <a:rPr lang="en-US" sz="1100" b="1" kern="0" spc="200" dirty="0">
                <a:solidFill>
                  <a:schemeClr val="accent3"/>
                </a:solidFill>
              </a:rPr>
              <a:t>DEMAND &amp; SUPPLY  ·  4 / 4</a:t>
            </a:r>
            <a:endParaRPr lang="en-US" sz="1100" dirty="0"/>
          </a:p>
        </p:txBody>
      </p:sp>
      <p:sp>
        <p:nvSpPr>
          <p:cNvPr id="3" name="Text 0"/>
          <p:cNvSpPr/>
          <p:nvPr>
            <p:ph type="title" idx="101" hasCustomPrompt="1"/>
          </p:nvPr>
        </p:nvSpPr>
        <p:spPr>
          <a:xfrm>
            <a:off x="457200" y="457200"/>
            <a:ext cx="8229600" cy="548640"/>
          </a:xfrm>
          <a:prstGeom prst="rect">
            <a:avLst/>
          </a:prstGeom>
          <a:noFill/>
        </p:spPr>
        <p:txBody>
          <a:bodyPr wrap="square" lIns="0" tIns="0" rIns="0" bIns="0" rtlCol="0" anchor="t"/>
          <a:lstStyle/>
          <a:p>
            <a:pPr marL="0" indent="0" algn="l">
              <a:buNone/>
            </a:pPr>
            <a:r>
              <a:rPr lang="en-US" sz="2600" b="1" dirty="0">
                <a:solidFill>
                  <a:schemeClr val="tx2"/>
                </a:solidFill>
                <a:latin typeface="Cambria" panose="02040503050406030204" pitchFamily="34" charset="0"/>
                <a:ea typeface="Cambria" panose="02040503050406030204" pitchFamily="34" charset="-122"/>
                <a:cs typeface="Cambria" panose="02040503050406030204" pitchFamily="34" charset="-120"/>
              </a:rPr>
              <a:t>Replacement test: new ships vs the ageing fleet</a:t>
            </a:r>
            <a:endParaRPr lang="en-US" sz="2600" dirty="0"/>
          </a:p>
        </p:txBody>
      </p:sp>
      <p:graphicFrame>
        <p:nvGraphicFramePr>
          <p:cNvPr id="4" name="Chart 0"/>
          <p:cNvGraphicFramePr/>
          <p:nvPr/>
        </p:nvGraphicFramePr>
        <p:xfrm>
          <a:off x="365760" y="1143000"/>
          <a:ext cx="4023360" cy="333756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Table 0"/>
          <p:cNvGraphicFramePr>
            <a:graphicFrameLocks noGrp="1"/>
          </p:cNvGraphicFramePr>
          <p:nvPr/>
        </p:nvGraphicFramePr>
        <p:xfrm>
          <a:off x="4572000" y="1188720"/>
          <a:ext cx="4114800" cy="2578608"/>
        </p:xfrm>
        <a:graphic>
          <a:graphicData uri="http://schemas.openxmlformats.org/drawingml/2006/table">
            <a:tbl>
              <a:tblPr/>
              <a:tblGrid>
                <a:gridCol w="1051560"/>
                <a:gridCol w="640080"/>
                <a:gridCol w="2423160"/>
              </a:tblGrid>
              <a:tr h="310896">
                <a:tc>
                  <a:txBody>
                    <a:bodyPr/>
                    <a:lstStyle/>
                    <a:p>
                      <a:pPr marL="0" indent="0">
                        <a:buNone/>
                      </a:pPr>
                      <a:r>
                        <a:rPr lang="en-US" sz="1050" b="1" dirty="0">
                          <a:solidFill>
                            <a:srgbClr val="FFFFFF"/>
                          </a:solidFill>
                        </a:rPr>
                        <a:t>Segment</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marL="0" indent="0">
                        <a:buNone/>
                      </a:pPr>
                      <a:r>
                        <a:rPr lang="en-US" sz="1050" b="1" dirty="0">
                          <a:solidFill>
                            <a:srgbClr val="FFFFFF"/>
                          </a:solidFill>
                        </a:rPr>
                        <a:t>Cover*</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marL="0" indent="0">
                        <a:buNone/>
                      </a:pPr>
                      <a:r>
                        <a:rPr lang="en-US" sz="1050" b="1" dirty="0">
                          <a:solidFill>
                            <a:srgbClr val="FFFFFF"/>
                          </a:solidFill>
                        </a:rPr>
                        <a:t>Verdict → our action</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0B2545"/>
                    </a:solidFill>
                  </a:tcPr>
                </a:tc>
              </a:tr>
              <a:tr h="566928">
                <a:tc>
                  <a:txBody>
                    <a:bodyPr/>
                    <a:lstStyle/>
                    <a:p>
                      <a:pPr marL="0" indent="0">
                        <a:buNone/>
                      </a:pPr>
                      <a:r>
                        <a:rPr lang="en-US" sz="1050" b="1" dirty="0">
                          <a:solidFill>
                            <a:srgbClr val="1F2933"/>
                          </a:solidFill>
                        </a:rPr>
                        <a:t>Kamsarmax</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050" b="1" dirty="0">
                          <a:solidFill>
                            <a:srgbClr val="0B2545"/>
                          </a:solidFill>
                        </a:rPr>
                        <a:t>0.76x</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050" dirty="0">
                          <a:solidFill>
                            <a:srgbClr val="1F2933"/>
                          </a:solidFill>
                        </a:rPr>
                        <a:t>Balanced, 2027 wave → buy 2, fix 1 on 1‑yr TC</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EEF3F7"/>
                    </a:solidFill>
                  </a:tcPr>
                </a:tc>
              </a:tr>
              <a:tr h="566928">
                <a:tc>
                  <a:txBody>
                    <a:bodyPr/>
                    <a:lstStyle/>
                    <a:p>
                      <a:pPr marL="0" indent="0">
                        <a:buNone/>
                      </a:pPr>
                      <a:r>
                        <a:rPr lang="en-US" sz="1050" b="1" dirty="0">
                          <a:solidFill>
                            <a:srgbClr val="1F2933"/>
                          </a:solidFill>
                        </a:rPr>
                        <a:t>MR</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B57A1E"/>
                          </a:solidFill>
                        </a:rPr>
                        <a:t>0.65x</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dirty="0">
                          <a:solidFill>
                            <a:srgbClr val="1F2933"/>
                          </a:solidFill>
                        </a:rPr>
                        <a:t>Balanced, 2027–28 wave → buy 2, fix 1 on 1‑yr TC</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marL="0" indent="0">
                        <a:buNone/>
                      </a:pPr>
                      <a:r>
                        <a:rPr lang="en-US" sz="1050" b="1" dirty="0">
                          <a:solidFill>
                            <a:srgbClr val="1F2933"/>
                          </a:solidFill>
                        </a:rPr>
                        <a:t>Aframax crude</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050" b="1" dirty="0">
                          <a:solidFill>
                            <a:srgbClr val="1B998B"/>
                          </a:solidFill>
                        </a:rPr>
                        <a:t>0.28x</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EEF3F7"/>
                    </a:solidFill>
                  </a:tcPr>
                </a:tc>
                <a:tc>
                  <a:txBody>
                    <a:bodyPr/>
                    <a:lstStyle/>
                    <a:p>
                      <a:pPr marL="0" indent="0">
                        <a:buNone/>
                      </a:pPr>
                      <a:r>
                        <a:rPr lang="en-US" sz="1050" dirty="0">
                          <a:solidFill>
                            <a:srgbClr val="1F2933"/>
                          </a:solidFill>
                        </a:rPr>
                        <a:t>Tightest supply → buy 1 on a 3‑yr TC</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EEF3F7"/>
                    </a:solidFill>
                  </a:tcPr>
                </a:tc>
              </a:tr>
              <a:tr h="566928">
                <a:tc>
                  <a:txBody>
                    <a:bodyPr/>
                    <a:lstStyle/>
                    <a:p>
                      <a:pPr marL="0" indent="0">
                        <a:buNone/>
                      </a:pPr>
                      <a:r>
                        <a:rPr lang="en-US" sz="1050" b="1" dirty="0">
                          <a:solidFill>
                            <a:srgbClr val="1F2933"/>
                          </a:solidFill>
                        </a:rPr>
                        <a:t>LR2</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b="1" dirty="0">
                          <a:solidFill>
                            <a:srgbClr val="D1495B"/>
                          </a:solidFill>
                        </a:rPr>
                        <a:t>3.37x</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50" dirty="0">
                          <a:solidFill>
                            <a:srgbClr val="1F2933"/>
                          </a:solidFill>
                        </a:rPr>
                        <a:t>Oversupply, can switch to crude → avoid; 3‑yr TC protects our Aframax</a:t>
                      </a:r>
                      <a:endParaRPr lang="en-US" sz="1050" dirty="0"/>
                    </a:p>
                  </a:txBody>
                  <a:tcPr marL="73152" marR="73152"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Text 2"/>
          <p:cNvSpPr txBox="1"/>
          <p:nvPr/>
        </p:nvSpPr>
        <p:spPr>
          <a:xfrm>
            <a:off x="4572000" y="3950208"/>
            <a:ext cx="4114800" cy="548640"/>
          </a:xfrm>
          <a:prstGeom prst="rect">
            <a:avLst/>
          </a:prstGeom>
          <a:noFill/>
        </p:spPr>
        <p:txBody>
          <a:bodyPr wrap="square" lIns="0" tIns="0" rIns="0" bIns="0" rtlCol="0" anchor="t"/>
          <a:lstStyle/>
          <a:p>
            <a:pPr marL="0" indent="0">
              <a:buNone/>
            </a:pPr>
            <a:r>
              <a:rPr lang="en-US" sz="1100" b="1" dirty="0">
                <a:solidFill>
                  <a:schemeClr val="tx2"/>
                </a:solidFill>
              </a:rPr>
              <a:t>*Cover = orderbook ÷ ships aged 20+. Below 1x, new ships can largely replace scrapped ones once scrapping resumes.</a:t>
            </a:r>
            <a:endParaRPr lang="en-US" sz="1100" dirty="0"/>
          </a:p>
        </p:txBody>
      </p:sp>
      <p:sp>
        <p:nvSpPr>
          <p:cNvPr id="7" name="Text 3"/>
          <p:cNvSpPr txBox="1"/>
          <p:nvPr/>
        </p:nvSpPr>
        <p:spPr>
          <a:xfrm>
            <a:off x="457200" y="4553712"/>
            <a:ext cx="8229600" cy="274320"/>
          </a:xfrm>
          <a:prstGeom prst="rect">
            <a:avLst/>
          </a:prstGeom>
          <a:noFill/>
        </p:spPr>
        <p:txBody>
          <a:bodyPr wrap="square" lIns="0" tIns="0" rIns="0" bIns="0" rtlCol="0" anchor="t"/>
          <a:lstStyle/>
          <a:p>
            <a:pPr marL="0" indent="0">
              <a:buNone/>
            </a:pPr>
            <a:r>
              <a:rPr lang="en-US" sz="900" i="1" dirty="0">
                <a:solidFill>
                  <a:schemeClr val="tx1">
                    <a:alpha val="75000"/>
                  </a:schemeClr>
                </a:solidFill>
              </a:rPr>
              <a:t>Source: Clarksons Research SIN, Orderbook Delivery Schedule and Fleet Register age profile, extracted 10 Oct 2026;</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p:spPr>
        <p:txBody>
          <a:bodyPr/>
          <a:lstStyle>
            <a:lvl1pPr>
              <a:defRPr sz="900">
                <a:solidFill>
                  <a:srgbClr val="8D99AE"/>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MT6102 Ocean">
  <a:themeElements>
    <a:clrScheme name="MT6102 Ocean">
      <a:dk1>
        <a:srgbClr val="1F2933"/>
      </a:dk1>
      <a:lt1>
        <a:srgbClr val="FFFFFF"/>
      </a:lt1>
      <a:dk2>
        <a:srgbClr val="0B2545"/>
      </a:dk2>
      <a:lt2>
        <a:srgbClr val="EEF3F7"/>
      </a:lt2>
      <a:accent1>
        <a:srgbClr val="0B2545"/>
      </a:accent1>
      <a:accent2>
        <a:srgbClr val="E09F3E"/>
      </a:accent2>
      <a:accent3>
        <a:srgbClr val="1B998B"/>
      </a:accent3>
      <a:accent4>
        <a:srgbClr val="D1495B"/>
      </a:accent4>
      <a:accent5>
        <a:srgbClr val="8D99AE"/>
      </a:accent5>
      <a:accent6>
        <a:srgbClr val="3E7CB1"/>
      </a:accent6>
      <a:hlink>
        <a:srgbClr val="3E7CB1"/>
      </a:hlink>
      <a:folHlink>
        <a:srgbClr val="6D597A"/>
      </a:folHlink>
    </a:clrScheme>
    <a:fontScheme name="MT6102 Oce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T6102 Ocean">
  <a:themeElements>
    <a:clrScheme name="MT6102 Ocean">
      <a:dk1>
        <a:srgbClr val="1F2933"/>
      </a:dk1>
      <a:lt1>
        <a:srgbClr val="FFFFFF"/>
      </a:lt1>
      <a:dk2>
        <a:srgbClr val="0B2545"/>
      </a:dk2>
      <a:lt2>
        <a:srgbClr val="EEF3F7"/>
      </a:lt2>
      <a:accent1>
        <a:srgbClr val="0B2545"/>
      </a:accent1>
      <a:accent2>
        <a:srgbClr val="E09F3E"/>
      </a:accent2>
      <a:accent3>
        <a:srgbClr val="1B998B"/>
      </a:accent3>
      <a:accent4>
        <a:srgbClr val="D1495B"/>
      </a:accent4>
      <a:accent5>
        <a:srgbClr val="8D99AE"/>
      </a:accent5>
      <a:accent6>
        <a:srgbClr val="3E7CB1"/>
      </a:accent6>
      <a:hlink>
        <a:srgbClr val="3E7CB1"/>
      </a:hlink>
      <a:folHlink>
        <a:srgbClr val="6D597A"/>
      </a:folHlink>
    </a:clrScheme>
    <a:fontScheme name="MT6102 Oce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2431</Words>
  <Application>WPS 演示</Application>
  <PresentationFormat>On-screen Show (16:9)</PresentationFormat>
  <Paragraphs>136</Paragraphs>
  <Slides>4</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vt:i4>
      </vt:variant>
    </vt:vector>
  </HeadingPairs>
  <TitlesOfParts>
    <vt:vector size="15" baseType="lpstr">
      <vt:lpstr>Arial</vt:lpstr>
      <vt:lpstr>宋体</vt:lpstr>
      <vt:lpstr>Wingdings</vt:lpstr>
      <vt:lpstr>Cambria</vt:lpstr>
      <vt:lpstr>Cambria</vt:lpstr>
      <vt:lpstr>Cambria</vt:lpstr>
      <vt:lpstr>Calibri</vt:lpstr>
      <vt:lpstr>微软雅黑</vt:lpstr>
      <vt:lpstr>Arial Unicode MS</vt:lpstr>
      <vt:lpstr>等线</vt:lpstr>
      <vt:lpstr>MT6102 Ocean</vt:lpstr>
      <vt:lpstr>Demand: three trades, three different engines</vt:lpstr>
      <vt:lpstr>Supply today: ships arrive, almost none leave</vt:lpstr>
      <vt:lpstr>Supply ahead: a delivery wave peaks in 2027–28</vt:lpstr>
      <vt:lpstr>Replacement test: new ships vs the ageing fleet</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MT6102 Demand &amp; Supply Analysis</dc:title>
  <dc:creator>MT6102 Group</dc:creator>
  <dc:subject>PptxGenJS Presentation</dc:subject>
  <cp:lastModifiedBy>XP</cp:lastModifiedBy>
  <cp:revision>4</cp:revision>
  <dcterms:created xsi:type="dcterms:W3CDTF">2026-10-13T09:41:00Z</dcterms:created>
  <dcterms:modified xsi:type="dcterms:W3CDTF">2026-10-13T09:44:27Z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DD6DAB33C29B4E90852F135263B357DB_12</vt:lpwstr>
  </property>
  <property fmtid="{D5CDD505-2E9C-101B-9397-08002B2CF9AE}" pid="3" name="KSOProductBuildVer">
    <vt:lpwstr>2052-12.1.0.29161</vt:lpwstr>
  </property>
</Properties>
</file>