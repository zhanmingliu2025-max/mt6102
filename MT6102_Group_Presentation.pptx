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8a3f52-d793-61df-2e90-08e8c7980d78}">
          <p14:sldIdLst>
            <p14:sldId id="256"/>
            <p14:sldId id="257"/>
          </p14:sldIdLst>
        </p14:section>
        <p14:section name="Part 1 The decision" id="{f0666b85-0d35-1154-8568-9a302864e4b6}">
          <p14:sldIdLst>
            <p14:sldId id="258"/>
            <p14:sldId id="259"/>
            <p14:sldId id="260"/>
            <p14:sldId id="261"/>
          </p14:sldIdLst>
        </p14:section>
        <p14:section name="Part 2 Pricing basis" id="{959967c0-98e2-a1a0-80c0-34bee91ec078}">
          <p14:sldIdLst>
            <p14:sldId id="262"/>
            <p14:sldId id="263"/>
            <p14:sldId id="264"/>
          </p14:sldIdLst>
        </p14:section>
        <p14:section name="Part 3 Demand and supply" id="{65a65f68-0e00-482c-8c78-9768a2aa1512}">
          <p14:sldIdLst>
            <p14:sldId id="265"/>
            <p14:sldId id="266"/>
            <p14:sldId id="267"/>
            <p14:sldId id="268"/>
          </p14:sldIdLst>
        </p14:section>
        <p14:section name="Part 4 Market data and news" id="{df9c65f6-8c4d-4dda-b498-46e21b81601c}">
          <p14:sldIdLst>
            <p14:sldId id="269"/>
            <p14:sldId id="270"/>
            <p14:sldId id="271"/>
          </p14:sldIdLst>
        </p14:section>
        <p14:section name="Part 5 Earnings" id="{3b280609-7f44-454c-ab2a-a104e47cdd74}">
          <p14:sldIdLst>
            <p14:sldId id="272"/>
            <p14:sldId id="273"/>
            <p14:sldId id="274"/>
            <p14:sldId id="275"/>
          </p14:sldIdLst>
        </p14:section>
        <p14:section name="Part 6 Shocks and mitigation" id="{3fd57dc9-aa6a-8d7c-86cf-bc727a4e33b1}">
          <p14:sldIdLst>
            <p14:sldId id="276"/>
            <p14:sldId id="277"/>
            <p14:sldId id="278"/>
          </p14:sldIdLst>
        </p14:section>
        <p14:section name="Close" id="{99568b92-fa23-4eef-13ee-91a94a1b6259}">
          <p14:sldIdLst>
            <p14:sldId id="279"/>
          </p14:sldIdLst>
        </p14:section>
        <p14:section name="Appendix" id="{6e13791f-6467-c498-7bd6-81fb715fb7de}">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 minute together with the agenda). The board asked for a USD 250m proposal. One sentence: buy five secondhand ships and keep a small cash reserve, fix three on period charters, trade two spot, and stay out of the large crude tanker market that has already peaked. Every number traces to a Clarksons SIN series or fixture.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form one chain: the decision needs prices, prices need fundamentals, fundamentals need market confirmation, then we can compute earnings, and the downside is protected by the shock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read in a fixed order: how much, why, which data. Four lines plus a total. The three locked ships produce 65% of base income, which is why the worst case still returns 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 money 245m, cash 5m. Each row names the real transaction behind the price so the board can check it. Financing is not the focus of the brief, but we state it: all equity now, leverage optional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buying or chartering. We costed all three options. Chartering in locks a cost at the top of the cycle. Newbuilds cannot deliver inside the window and arrive with the wave. Five-year-old Eco ships are cheaper per remaining year than 10-year-old ships and are the only tonnage at or near replacement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trades, one sentence each: products ride longer hauls from refineries moving east; the Aframax sells certainty; bauxite is volume plus distance; grain is seasonal. Part 3 gives the demand chart behind each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price family: what we pay for the ships. Two identical Aframax sales at 75m; two Kamsarmax sales on 10 August; the China-built sister sold 2.75m cheaper the next day, which is the market price of the port-fee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price family: charter rates. Every daily rate in the forecast is a real fixture from the last fortnight of the data cut. Torm Genesis proves a 3-year Aframax at 40,000 is signable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family: freight rates, the explicit requirement of item 3. The coal and products routes our spot ships trade have fresh fixtures. The two Suezmax lines are context: crude spot is at war-premium levels and we are not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engines. Bauxite: volume and distance both grow. Products: refineries moving east stretch hauls. Crude: volumes fell but average haul rose, the course formula tonne-miles divided by tonnes explains why ships stay busy while cargo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growth is deliveries minus scrapping. With earnings this high nobody scraps, so an overhang of old ships builds up, which Clarksons itself flagged on 9 October. Crude Aframax is the exception: more left than arrived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orderbook is already contracted, so 2027 and 2028 are known. Kamsarmax deliveries peak at 171 in 2027; MR runs above 100 a year; crude Aframax stays tiny; LR2 is the oversupplied one, and LR2s can switch into crude, which is why the Aframax is fixed for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replacement test answers the obvious question: are the new ships net growth or just replacement? For our three segments the orderbook is smaller than the ships old enough to scrap. LR2 is the outlier and the hidden competitor to Aframax.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Suezmax earns the most and is the one segment we refuse. All three peak signals from the cycle framework are present: secondhand above newbuild, steep backwardation between 1-year and 3-year rates, and earnings many times OPEX. The cause is a supply shock, not demand, so it can unwind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bulk prices are rising gently while rates have come off the September high. MR is at replacement cost, which is where we want to buy. We are honest about the MR orderbook at 18% of dwt and offset it with the price we pay and with demand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whether rates will rise or fall and why. We answer per segment, with the news that supports it. Every October change strengthens the diagnosis: the Suezmax peak is more extreme, MR fixed rates have moved above our fixture, dry bulk is firm but off its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formula. Three assumptions are stated up front so that questions land on known ground: operating days, the before-OPEX convention, and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one multiplication each. The fixed ships give 32.2m whatever happens; the spot ships add 17.5m in the base case. Base-case spot proxies are one-year fixtures, which are below current spot, so the base case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scenarios change only two ships' rates. Bear takes the 2025 averages, base the last one-year fixtures, bull the latest week. The floor of 17.9% is the direct answer to the black-swan question: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The grid shows the return for any pair of spot rates; the floor is 16.8%. The voyage conversion turns the last coal fixture into a daily rate using September bunker prices and confirms the base assumption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shocks, each with a signal, an impact and a prepared answer. The ceasefire is the big one and it is the reason the portfolio avoids Suezmax. The port-fee expiry is a dated event inside the presentation window; we are immune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as much as rates. The two one-year charters end before the wave crests, so the decision point comes early. The Aframax is covered through the wave. Spot ships carry explicit triggers that convert them to period charters.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turn the plan into actions with numbers and dates. We name our own two weak points before anyone asks: the MR orderbook and the thin cash line, and we show how each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the same order as the opening: how we allocate, why, and what the data says. One sentence to end: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B4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7F93B5"/>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051560"/>
            <a:ext cx="10515600" cy="32004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MT6102 MARITIME ECONOMICS  ·  GROUP INVESTMENT PROPOSAL</a:t>
            </a:r>
            <a:endParaRPr lang="en-US" sz="1200" dirty="0"/>
          </a:p>
        </p:txBody>
      </p:sp>
      <p:sp>
        <p:nvSpPr>
          <p:cNvPr id="3" name="Text 1"/>
          <p:cNvSpPr txBox="1"/>
          <p:nvPr/>
        </p:nvSpPr>
        <p:spPr>
          <a:xfrm>
            <a:off x="822960" y="1554480"/>
            <a:ext cx="10515600" cy="17373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USD 250 Million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Shipping Investment Proposal</a:t>
            </a:r>
            <a:endParaRPr lang="en-US" sz="4400" dirty="0"/>
          </a:p>
        </p:txBody>
      </p:sp>
      <p:sp>
        <p:nvSpPr>
          <p:cNvPr id="4" name="Text 2"/>
          <p:cNvSpPr txBox="1"/>
          <p:nvPr/>
        </p:nvSpPr>
        <p:spPr>
          <a:xfrm>
            <a:off x="822960" y="3429000"/>
            <a:ext cx="10058400" cy="731520"/>
          </a:xfrm>
          <a:prstGeom prst="rect">
            <a:avLst/>
          </a:prstGeom>
          <a:noFill/>
          <a:ln/>
        </p:spPr>
        <p:txBody>
          <a:bodyPr wrap="square" lIns="0" tIns="0" rIns="0" bIns="0" rtlCol="0" anchor="t"/>
          <a:lstStyle/>
          <a:p>
            <a:pPr indent="0" marL="0">
              <a:buNone/>
            </a:pPr>
            <a:r>
              <a:rPr lang="en-US" sz="1700" dirty="0">
                <a:solidFill>
                  <a:srgbClr val="C9D6EA"/>
                </a:solidFill>
                <a:latin typeface="Calibri" pitchFamily="34" charset="0"/>
                <a:ea typeface="Calibri" pitchFamily="34" charset="-122"/>
                <a:cs typeface="Calibri" pitchFamily="34" charset="-120"/>
              </a:rPr>
              <a:t>Skip the peak, buy value, lock income: five secondhand ships, three fixed charters, two spot ships and a cash reserve</a:t>
            </a:r>
            <a:endParaRPr lang="en-US" sz="17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300" dirty="0">
                <a:solidFill>
                  <a:srgbClr val="C9D6EA"/>
                </a:solidFill>
                <a:latin typeface="Calibri" pitchFamily="34" charset="0"/>
                <a:ea typeface="Calibri" pitchFamily="34" charset="-122"/>
                <a:cs typeface="Calibri" pitchFamily="34" charset="-120"/>
              </a:rPr>
              <a:t>Group X  ·  Semester 1 2026/27  ·  Group members and matriculation numbers to be added here (10 members)</a:t>
            </a:r>
            <a:endParaRPr lang="en-US" sz="1300" dirty="0"/>
          </a:p>
        </p:txBody>
      </p:sp>
      <p:sp>
        <p:nvSpPr>
          <p:cNvPr id="6" name="Text 4"/>
          <p:cNvSpPr txBox="1"/>
          <p:nvPr/>
        </p:nvSpPr>
        <p:spPr>
          <a:xfrm>
            <a:off x="822960" y="5029200"/>
            <a:ext cx="10058400" cy="731520"/>
          </a:xfrm>
          <a:prstGeom prst="rect">
            <a:avLst/>
          </a:prstGeom>
          <a:noFill/>
          <a:ln/>
        </p:spPr>
        <p:txBody>
          <a:bodyPr wrap="square" lIns="0" tIns="0" rIns="0" bIns="0" rtlCol="0" anchor="t"/>
          <a:lstStyle/>
          <a:p>
            <a:pPr indent="0" marL="0">
              <a:buNone/>
            </a:pPr>
            <a:r>
              <a:rPr lang="en-US" sz="1100" dirty="0">
                <a:solidFill>
                  <a:srgbClr val="7F93B5"/>
                </a:solidFill>
                <a:latin typeface="Calibri" pitchFamily="34" charset="0"/>
                <a:ea typeface="Calibri" pitchFamily="34" charset="-122"/>
                <a:cs typeface="Calibri" pitchFamily="34" charset="-120"/>
              </a:rPr>
              <a:t>Every purchase price, charter rate and freight rate in this deck is the last transacted sale or fixture on the Clarksons Shipping Intelligence Network (SIN). Price series extracted 12 Sep 2026 and re-checked 15 Oct 2026; supply data extracted 10 Oct 2026.</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AGENDA</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How the proposal is built</a:t>
            </a:r>
            <a:endParaRPr lang="en-US" sz="2700" dirty="0"/>
          </a:p>
        </p:txBody>
      </p:sp>
      <p:sp>
        <p:nvSpPr>
          <p:cNvPr id="4" name="Number"/>
          <p:cNvSpPr/>
          <p:nvPr/>
        </p:nvSpPr>
        <p:spPr>
          <a:xfrm>
            <a:off x="548640" y="1490472"/>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548640" y="14904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44475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The decision</a:t>
            </a:r>
            <a:endParaRPr lang="en-US" sz="1500" dirty="0"/>
          </a:p>
        </p:txBody>
      </p:sp>
      <p:sp>
        <p:nvSpPr>
          <p:cNvPr id="7" name="Text 5"/>
          <p:cNvSpPr txBox="1"/>
          <p:nvPr/>
        </p:nvSpPr>
        <p:spPr>
          <a:xfrm>
            <a:off x="1051560" y="176479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How the USD 250m is allocated, why each line is sized that way, and which data supports it. Five ships, four trades, one cash line.</a:t>
            </a:r>
            <a:endParaRPr lang="en-US" sz="1150" dirty="0"/>
          </a:p>
        </p:txBody>
      </p:sp>
      <p:sp>
        <p:nvSpPr>
          <p:cNvPr id="8" name="Number"/>
          <p:cNvSpPr/>
          <p:nvPr/>
        </p:nvSpPr>
        <p:spPr>
          <a:xfrm>
            <a:off x="548640" y="214884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548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51560" y="210312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Pricing basis</a:t>
            </a:r>
            <a:endParaRPr lang="en-US" sz="1500" dirty="0"/>
          </a:p>
        </p:txBody>
      </p:sp>
      <p:sp>
        <p:nvSpPr>
          <p:cNvPr id="11" name="Text 9"/>
          <p:cNvSpPr txBox="1"/>
          <p:nvPr/>
        </p:nvSpPr>
        <p:spPr>
          <a:xfrm>
            <a:off x="1051560" y="242316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Every purchase price, charter rate and freight rate is a last transacted sale or fixture on Clarksons SIN.</a:t>
            </a:r>
            <a:endParaRPr lang="en-US" sz="1150" dirty="0"/>
          </a:p>
        </p:txBody>
      </p:sp>
      <p:sp>
        <p:nvSpPr>
          <p:cNvPr id="12" name="Number"/>
          <p:cNvSpPr/>
          <p:nvPr/>
        </p:nvSpPr>
        <p:spPr>
          <a:xfrm>
            <a:off x="548640" y="2807208"/>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548640" y="2807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2761488"/>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Demand and supply</a:t>
            </a:r>
            <a:endParaRPr lang="en-US" sz="1500" dirty="0"/>
          </a:p>
        </p:txBody>
      </p:sp>
      <p:sp>
        <p:nvSpPr>
          <p:cNvPr id="15" name="Text 13"/>
          <p:cNvSpPr txBox="1"/>
          <p:nvPr/>
        </p:nvSpPr>
        <p:spPr>
          <a:xfrm>
            <a:off x="1051560" y="3081528"/>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Three demand engines, deliveries against demolition, the 2027 to 2028 delivery wave, and a replacement test against the ageing fleet.</a:t>
            </a:r>
            <a:endParaRPr lang="en-US" sz="1150" dirty="0"/>
          </a:p>
        </p:txBody>
      </p:sp>
      <p:sp>
        <p:nvSpPr>
          <p:cNvPr id="16" name="Number"/>
          <p:cNvSpPr/>
          <p:nvPr/>
        </p:nvSpPr>
        <p:spPr>
          <a:xfrm>
            <a:off x="548640" y="3465576"/>
            <a:ext cx="329184" cy="329184"/>
          </a:xfrm>
          <a:prstGeom prst="ellipse">
            <a:avLst/>
          </a:prstGeom>
          <a:solidFill>
            <a:srgbClr val="C8102E"/>
          </a:solidFill>
          <a:ln w="12700">
            <a:solidFill>
              <a:srgbClr val="C8102E"/>
            </a:solidFill>
            <a:prstDash val="solid"/>
          </a:ln>
        </p:spPr>
      </p:sp>
      <p:sp>
        <p:nvSpPr>
          <p:cNvPr id="17" name="Number text"/>
          <p:cNvSpPr txBox="1"/>
          <p:nvPr/>
        </p:nvSpPr>
        <p:spPr>
          <a:xfrm>
            <a:off x="548640" y="3465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3419856"/>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Market data and news</a:t>
            </a:r>
            <a:endParaRPr lang="en-US" sz="1500" dirty="0"/>
          </a:p>
        </p:txBody>
      </p:sp>
      <p:sp>
        <p:nvSpPr>
          <p:cNvPr id="19" name="Text 17"/>
          <p:cNvSpPr txBox="1"/>
          <p:nvPr/>
        </p:nvSpPr>
        <p:spPr>
          <a:xfrm>
            <a:off x="1051560" y="3739896"/>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Peak signals in large crude tankers, recovery in dry bulk, what changed since 12 September, and our freight-rate call.</a:t>
            </a:r>
            <a:endParaRPr lang="en-US" sz="1150" dirty="0"/>
          </a:p>
        </p:txBody>
      </p:sp>
      <p:sp>
        <p:nvSpPr>
          <p:cNvPr id="20" name="Number"/>
          <p:cNvSpPr/>
          <p:nvPr/>
        </p:nvSpPr>
        <p:spPr>
          <a:xfrm>
            <a:off x="548640" y="4123944"/>
            <a:ext cx="329184" cy="329184"/>
          </a:xfrm>
          <a:prstGeom prst="ellipse">
            <a:avLst/>
          </a:prstGeom>
          <a:solidFill>
            <a:srgbClr val="C8102E"/>
          </a:solidFill>
          <a:ln w="12700">
            <a:solidFill>
              <a:srgbClr val="C8102E"/>
            </a:solidFill>
            <a:prstDash val="solid"/>
          </a:ln>
        </p:spPr>
      </p:sp>
      <p:sp>
        <p:nvSpPr>
          <p:cNvPr id="21" name="Number text"/>
          <p:cNvSpPr txBox="1"/>
          <p:nvPr/>
        </p:nvSpPr>
        <p:spPr>
          <a:xfrm>
            <a:off x="548640" y="4123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1051560" y="4078224"/>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Earnings</a:t>
            </a:r>
            <a:endParaRPr lang="en-US" sz="1500" dirty="0"/>
          </a:p>
        </p:txBody>
      </p:sp>
      <p:sp>
        <p:nvSpPr>
          <p:cNvPr id="23" name="Text 21"/>
          <p:cNvSpPr txBox="1"/>
          <p:nvPr/>
        </p:nvSpPr>
        <p:spPr>
          <a:xfrm>
            <a:off x="1051560" y="4398264"/>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One formula, the base case by vessel, three scenarios with an expected value, and sensitivity.</a:t>
            </a:r>
            <a:endParaRPr lang="en-US" sz="1150" dirty="0"/>
          </a:p>
        </p:txBody>
      </p:sp>
      <p:sp>
        <p:nvSpPr>
          <p:cNvPr id="24" name="Number"/>
          <p:cNvSpPr/>
          <p:nvPr/>
        </p:nvSpPr>
        <p:spPr>
          <a:xfrm>
            <a:off x="548640" y="4782312"/>
            <a:ext cx="329184" cy="329184"/>
          </a:xfrm>
          <a:prstGeom prst="ellipse">
            <a:avLst/>
          </a:prstGeom>
          <a:solidFill>
            <a:srgbClr val="C8102E"/>
          </a:solidFill>
          <a:ln w="12700">
            <a:solidFill>
              <a:srgbClr val="C8102E"/>
            </a:solidFill>
            <a:prstDash val="solid"/>
          </a:ln>
        </p:spPr>
      </p:sp>
      <p:sp>
        <p:nvSpPr>
          <p:cNvPr id="25" name="Number text"/>
          <p:cNvSpPr txBox="1"/>
          <p:nvPr/>
        </p:nvSpPr>
        <p:spPr>
          <a:xfrm>
            <a:off x="548640" y="47823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1051560" y="473659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Shocks and mitigation</a:t>
            </a:r>
            <a:endParaRPr lang="en-US" sz="1500" dirty="0"/>
          </a:p>
        </p:txBody>
      </p:sp>
      <p:sp>
        <p:nvSpPr>
          <p:cNvPr id="27" name="Text 25"/>
          <p:cNvSpPr txBox="1"/>
          <p:nvPr/>
        </p:nvSpPr>
        <p:spPr>
          <a:xfrm>
            <a:off x="1051560" y="505663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Five shocks, charter expiry timed against the delivery wave, and the triggers we watch.</a:t>
            </a:r>
            <a:endParaRPr lang="en-US" sz="1150" dirty="0"/>
          </a:p>
        </p:txBody>
      </p:sp>
      <p:sp>
        <p:nvSpPr>
          <p:cNvPr id="28" name="Number"/>
          <p:cNvSpPr/>
          <p:nvPr/>
        </p:nvSpPr>
        <p:spPr>
          <a:xfrm>
            <a:off x="548640" y="5440680"/>
            <a:ext cx="329184" cy="329184"/>
          </a:xfrm>
          <a:prstGeom prst="ellipse">
            <a:avLst/>
          </a:prstGeom>
          <a:solidFill>
            <a:srgbClr val="C8102E"/>
          </a:solidFill>
          <a:ln w="12700">
            <a:solidFill>
              <a:srgbClr val="C8102E"/>
            </a:solidFill>
            <a:prstDash val="solid"/>
          </a:ln>
        </p:spPr>
      </p:sp>
      <p:sp>
        <p:nvSpPr>
          <p:cNvPr id="29" name="Number text"/>
          <p:cNvSpPr txBox="1"/>
          <p:nvPr/>
        </p:nvSpPr>
        <p:spPr>
          <a:xfrm>
            <a:off x="548640" y="5440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txBox="1"/>
          <p:nvPr/>
        </p:nvSpPr>
        <p:spPr>
          <a:xfrm>
            <a:off x="1051560" y="539496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Conclusion</a:t>
            </a:r>
            <a:endParaRPr lang="en-US" sz="1500" dirty="0"/>
          </a:p>
        </p:txBody>
      </p:sp>
      <p:sp>
        <p:nvSpPr>
          <p:cNvPr id="31" name="Text 29"/>
          <p:cNvSpPr txBox="1"/>
          <p:nvPr/>
        </p:nvSpPr>
        <p:spPr>
          <a:xfrm>
            <a:off x="1051560" y="571500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The same three questions in the same order: how we allocate, why, and what data says so.</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Where the USD 250m goes, why, and the data behind it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SIN series and fixture register, extracted 12 Sep 2026, spot anchors week of 9 Oct 2026, supply data 10 Oct 2026. Full series list in the appendix.</a:t>
            </a:r>
            <a:endParaRPr lang="en-US" sz="85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2331720"/>
                <a:gridCol w="960120"/>
                <a:gridCol w="4572000"/>
                <a:gridCol w="32918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Allocation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USD m (share)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Why this much</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Data behind the decision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MR product tankers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5-year-old Eco, 50k dwt. One on a 1-year TC at $30,000/day, one spot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100 (40%)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Closest to replacement cost of the five segments: 5-year-old $50m against newbuild $52m in September (0.96), $52m against $52.5m in October (0.99). Products trade +6.3% in 2027F. Spot earnings $53,741/day in the week of 9 Oct sit above the 1-year TC, so one ship stays open.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47130 / 71267 (prices), 98802 / 534403 (products trade), 543759 (MR Eco earnings). Fixtures PS Imabari to SUNCOR $30,000 and Challenge Pollux to ExxonMobil $27,000, 17 Aug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1× Aframax crude tanker</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2018 Japan-built, 110k dwt. 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75 (30%)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Lowest orderbook of any segment: 8.4% of dwt, 62 ships on order against 223 over 20 years old. A 3-year fixture at $40,000 exists (Torm Genesis to AET, 31 Aug), so income is certain through the 2027 to 2028 delivery wave. No Suezmax: 5-year-old $130m against newbuild $90m in October, 1-year TC $140,250 against 3-year $64,375.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534456 (orderbook), 531168 (earnings), 87302 / 53070 and 48989 / 49108 (Suezmax signals), datasets L13 to L16. Sales Southern Reverence and Pusaka Borneo at $75.0m.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Kamsarmax bulkers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82k dwt, Japan-built 2019 and 2015. One on a 12-month TC at $22,000/day, one spot for the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70 (28%)</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Recovery, not peak: BDI 3,521 on 10 Sep and 2,801 on 13 Oct; 5-year-old price 9% above newbuild, against 23% to 44% for Suezmax. Orderbook 13.5%; 2025 deliveries 143 against demolition 14; 2027 deliveries 171 against 618 ships over 20 years old. Guinea bauxite +29% y/y, Simandou iron ore ramping up.</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17259 (BDI), 534450, 540721, 557125, 534400 / 547349, 533288. Sales Aquavita Aim $38.0m and Medi Positano $32.0m. Fixtures Intensity to CNR $22,000, XH Hope to Cargill $23,000, coal DBCT to Vizag $25.60/t (SAIL).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Counter-cyclical fund and working capital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5 (2%)</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Dry powder for when tanker secondhand prices fall back below newbuild. Equals five months of fleet OPEX ($36,560/day). Fixed charters add about $2.7m a month.</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OPEX series 540687 / 540689 / 540683; scrap price series 542047.</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250 (100%)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Tankers 70%, dry bulk 28%, cash 2%. 60% of ship-days fixed, 65% of base income. Earnings before OPEX: Bear 17.9%, Base 19.9%, Bull 23.7%.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MT6102_Earnings_Model.xlsx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Capital allocation: five ships and one cash line, exactly USD 250m</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and 5-year-old valuation series 47130, extracted 12 Sep 2026 (October assessment $52m). Screenshots of every record are on file.</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1371600"/>
                <a:gridCol w="2377440"/>
                <a:gridCol w="1097280"/>
                <a:gridCol w="3931920"/>
                <a:gridCol w="237744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Asset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Specification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 USD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Basis: last transacted sale or assessment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SIN 5-year-old MR assessment, series 47130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1-year TC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Same basis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clean products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110k dwt, 2018 Japan-built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Southern Reverence and Pusaka Borneo, both $75.0m (May and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Aquavita Aim, $38.0m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12-month TC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Medi Positano, $32.0m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Vessels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245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Counter-cyclical fund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Buy the collapse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6" name="Panel"/>
          <p:cNvSpPr/>
          <p:nvPr/>
        </p:nvSpPr>
        <p:spPr>
          <a:xfrm>
            <a:off x="502920" y="4617720"/>
            <a:ext cx="548640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Financing in one line</a:t>
            </a:r>
            <a:endParaRPr lang="en-US" sz="1350" dirty="0"/>
          </a:p>
        </p:txBody>
      </p:sp>
      <p:sp>
        <p:nvSpPr>
          <p:cNvPr id="8" name="Panel body"/>
          <p:cNvSpPr txBox="1"/>
          <p:nvPr/>
        </p:nvSpPr>
        <p:spPr>
          <a:xfrm>
            <a:off x="68580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USD 250m is treated as equity, so there is no interest and no repayment schedule to meet in a weak year. Banks lend 60 to 80 percent against 5-year-old tonnage if the board later wants leverage; the Aframax with its 3-year charter is the natural first asset to mortgage or to sell and lease back.</a:t>
            </a:r>
            <a:endParaRPr lang="en-US" sz="1100" dirty="0"/>
          </a:p>
        </p:txBody>
      </p:sp>
      <p:sp>
        <p:nvSpPr>
          <p:cNvPr id="9" name="Panel"/>
          <p:cNvSpPr/>
          <p:nvPr/>
        </p:nvSpPr>
        <p:spPr>
          <a:xfrm>
            <a:off x="6172200" y="4617720"/>
            <a:ext cx="5486400" cy="1371600"/>
          </a:xfrm>
          <a:prstGeom prst="roundRect">
            <a:avLst>
              <a:gd name="adj" fmla="val 4000"/>
            </a:avLst>
          </a:prstGeom>
          <a:solidFill>
            <a:srgbClr val="EEF3FA"/>
          </a:solidFill>
          <a:ln w="9525">
            <a:solidFill>
              <a:srgbClr val="D7DEE8"/>
            </a:solidFill>
            <a:prstDash val="solid"/>
          </a:ln>
        </p:spPr>
      </p:sp>
      <p:sp>
        <p:nvSpPr>
          <p:cNvPr id="10" name="Panel title"/>
          <p:cNvSpPr txBox="1"/>
          <p:nvPr/>
        </p:nvSpPr>
        <p:spPr>
          <a:xfrm>
            <a:off x="635508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All five ships are Japan or Korea built</a:t>
            </a:r>
            <a:endParaRPr lang="en-US" sz="1350" dirty="0"/>
          </a:p>
        </p:txBody>
      </p:sp>
      <p:sp>
        <p:nvSpPr>
          <p:cNvPr id="11" name="Panel body"/>
          <p:cNvSpPr txBox="1"/>
          <p:nvPr/>
        </p:nvSpPr>
        <p:spPr>
          <a:xfrm>
            <a:off x="635508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They sit outside the US Section 301 port-fee regime whose suspension expires around 10 November 2026. The market already prices this: a 2015 Japan-built Kamsarmax sold for $32.0m against $29.25m for a China-built sister (Presinge), a $2.75m premium for the same insurance.</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secondhand, not charter-in, not newbuild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47130 / 542021 / 540721 / 38981 / 87302 (5-year-old prices) and 71267 / 23357 / 70747 / 35905 / 53070 (newbuild prices), September 2026; 10-year-old prices dataset L3.</a:t>
            </a:r>
            <a:endParaRPr lang="en-US" sz="850" dirty="0"/>
          </a:p>
        </p:txBody>
      </p:sp>
      <p:sp>
        <p:nvSpPr>
          <p:cNvPr id="5" name="Panel"/>
          <p:cNvSpPr/>
          <p:nvPr/>
        </p:nvSpPr>
        <p:spPr>
          <a:xfrm>
            <a:off x="502920" y="1463040"/>
            <a:ext cx="5394960" cy="1371600"/>
          </a:xfrm>
          <a:prstGeom prst="roundRect">
            <a:avLst>
              <a:gd name="adj" fmla="val 4000"/>
            </a:avLst>
          </a:prstGeom>
          <a:solidFill>
            <a:srgbClr val="EEF3FA"/>
          </a:solidFill>
          <a:ln w="9525">
            <a:solidFill>
              <a:srgbClr val="D7DEE8"/>
            </a:solidFill>
            <a:prstDash val="solid"/>
          </a:ln>
        </p:spPr>
      </p:sp>
      <p:sp>
        <p:nvSpPr>
          <p:cNvPr id="6" name="Panel title"/>
          <p:cNvSpPr txBox="1"/>
          <p:nvPr/>
        </p:nvSpPr>
        <p:spPr>
          <a:xfrm>
            <a:off x="685800" y="159105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Charter-in rejected</a:t>
            </a:r>
            <a:endParaRPr lang="en-US" sz="1350" dirty="0"/>
          </a:p>
        </p:txBody>
      </p:sp>
      <p:sp>
        <p:nvSpPr>
          <p:cNvPr id="7" name="Panel body"/>
          <p:cNvSpPr txBox="1"/>
          <p:nvPr/>
        </p:nvSpPr>
        <p:spPr>
          <a:xfrm>
            <a:off x="685800" y="193852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Period rates sit at cycle highs, so chartering in locks a cost at the top. A chartered-in MR costs $30,000/day and earns $27,000 in the base case and $22,950 in the bear case. Only the bull case pays, and there is no asset to resell.</a:t>
            </a:r>
            <a:endParaRPr lang="en-US" sz="1100" dirty="0"/>
          </a:p>
        </p:txBody>
      </p:sp>
      <p:sp>
        <p:nvSpPr>
          <p:cNvPr id="8" name="Panel"/>
          <p:cNvSpPr/>
          <p:nvPr/>
        </p:nvSpPr>
        <p:spPr>
          <a:xfrm>
            <a:off x="502920" y="2971800"/>
            <a:ext cx="5394960" cy="1371600"/>
          </a:xfrm>
          <a:prstGeom prst="roundRect">
            <a:avLst>
              <a:gd name="adj" fmla="val 4000"/>
            </a:avLst>
          </a:prstGeom>
          <a:solidFill>
            <a:srgbClr val="EEF3FA"/>
          </a:solidFill>
          <a:ln w="9525">
            <a:solidFill>
              <a:srgbClr val="D7DEE8"/>
            </a:solidFill>
            <a:prstDash val="solid"/>
          </a:ln>
        </p:spPr>
      </p:sp>
      <p:sp>
        <p:nvSpPr>
          <p:cNvPr id="9" name="Panel title"/>
          <p:cNvSpPr txBox="1"/>
          <p:nvPr/>
        </p:nvSpPr>
        <p:spPr>
          <a:xfrm>
            <a:off x="685800" y="309981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Newbuild rejected</a:t>
            </a:r>
            <a:endParaRPr lang="en-US" sz="1350" dirty="0"/>
          </a:p>
        </p:txBody>
      </p:sp>
      <p:sp>
        <p:nvSpPr>
          <p:cNvPr id="10" name="Panel body"/>
          <p:cNvSpPr txBox="1"/>
          <p:nvPr/>
        </p:nvSpPr>
        <p:spPr>
          <a:xfrm>
            <a:off x="685800" y="344728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Yards are full to 2029, so the earliest delivery lands inside the 2027 to 2028 delivery wave. Newbuild prices are at decade highs and a newbuild earns nothing during the 12-month window.</a:t>
            </a:r>
            <a:endParaRPr lang="en-US" sz="1100" dirty="0"/>
          </a:p>
        </p:txBody>
      </p:sp>
      <p:sp>
        <p:nvSpPr>
          <p:cNvPr id="11" name="Panel"/>
          <p:cNvSpPr/>
          <p:nvPr/>
        </p:nvSpPr>
        <p:spPr>
          <a:xfrm>
            <a:off x="502920" y="4480560"/>
            <a:ext cx="5394960" cy="1508760"/>
          </a:xfrm>
          <a:prstGeom prst="roundRect">
            <a:avLst>
              <a:gd name="adj" fmla="val 3636"/>
            </a:avLst>
          </a:prstGeom>
          <a:solidFill>
            <a:srgbClr val="EEF3FA"/>
          </a:solidFill>
          <a:ln w="9525">
            <a:solidFill>
              <a:srgbClr val="D7DEE8"/>
            </a:solidFill>
            <a:prstDash val="solid"/>
          </a:ln>
        </p:spPr>
      </p:sp>
      <p:sp>
        <p:nvSpPr>
          <p:cNvPr id="12" name="Panel title"/>
          <p:cNvSpPr txBox="1"/>
          <p:nvPr/>
        </p:nvSpPr>
        <p:spPr>
          <a:xfrm>
            <a:off x="685800" y="460857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5-year-old Eco chosen over 10-year-old</a:t>
            </a:r>
            <a:endParaRPr lang="en-US" sz="1350" dirty="0"/>
          </a:p>
        </p:txBody>
      </p:sp>
      <p:sp>
        <p:nvSpPr>
          <p:cNvPr id="13" name="Panel body"/>
          <p:cNvSpPr txBox="1"/>
          <p:nvPr/>
        </p:nvSpPr>
        <p:spPr>
          <a:xfrm>
            <a:off x="685800" y="4956048"/>
            <a:ext cx="5029200" cy="92354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Cost per remaining service year is lower (MR $2.50m against $2.67m a year), the ships are Eco specification for EU ETS and FuelEU, and 5-year-old prices sit at or just above newbuild in our segments, while Suezmax trades at 1.44 times newbuild.</a:t>
            </a:r>
            <a:endParaRPr lang="en-US" sz="1100" dirty="0"/>
          </a:p>
        </p:txBody>
      </p:sp>
      <p:pic>
        <p:nvPicPr>
          <p:cNvPr id="14" name="07_replacement_cost.png" descr="/home/user/MT6102/charts_deck/07_replacement_cost.png">    </p:cNvPr>
          <p:cNvPicPr>
            <a:picLocks noChangeAspect="1"/>
          </p:cNvPicPr>
          <p:nvPr/>
        </p:nvPicPr>
        <p:blipFill>
          <a:blip r:embed="rId1"/>
          <a:srcRect l="0" r="0" t="0" b="0"/>
          <a:stretch/>
        </p:blipFill>
        <p:spPr>
          <a:xfrm>
            <a:off x="6126480" y="1463040"/>
            <a:ext cx="5577840" cy="4526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Which trades our ships go into</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98802 / 534403 (products trade), 534456 (crude Aframax orderbook), 557125 (Guinea bauxite), 534400 / 547349 (grain); SIN news #224049, #227870, #191021.</a:t>
            </a:r>
            <a:endParaRPr lang="en-US" sz="850" dirty="0"/>
          </a:p>
        </p:txBody>
      </p:sp>
      <p:sp>
        <p:nvSpPr>
          <p:cNvPr id="5" name="Trade card"/>
          <p:cNvSpPr/>
          <p:nvPr/>
        </p:nvSpPr>
        <p:spPr>
          <a:xfrm>
            <a:off x="502920" y="1463040"/>
            <a:ext cx="5486400" cy="2194560"/>
          </a:xfrm>
          <a:prstGeom prst="roundRect">
            <a:avLst>
              <a:gd name="adj" fmla="val 2500"/>
            </a:avLst>
          </a:prstGeom>
          <a:solidFill>
            <a:srgbClr val="EEF3FA"/>
          </a:solidFill>
          <a:ln w="9525">
            <a:solidFill>
              <a:srgbClr val="D7DEE8"/>
            </a:solidFill>
            <a:prstDash val="solid"/>
          </a:ln>
        </p:spPr>
      </p:sp>
      <p:sp>
        <p:nvSpPr>
          <p:cNvPr id="6" name="Text 4"/>
          <p:cNvSpPr txBox="1"/>
          <p:nvPr/>
        </p:nvSpPr>
        <p:spPr>
          <a:xfrm>
            <a:off x="68580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2× MR product tankers</a:t>
            </a:r>
            <a:endParaRPr lang="en-US" sz="1400" dirty="0"/>
          </a:p>
        </p:txBody>
      </p:sp>
      <p:sp>
        <p:nvSpPr>
          <p:cNvPr id="7" name="Text 5"/>
          <p:cNvSpPr txBox="1"/>
          <p:nvPr/>
        </p:nvSpPr>
        <p:spPr>
          <a:xfrm>
            <a:off x="68580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Clean products: Middle East and India refineries to East Africa and South East Asia</a:t>
            </a:r>
            <a:endParaRPr lang="en-US" sz="1150" dirty="0"/>
          </a:p>
        </p:txBody>
      </p:sp>
      <p:sp>
        <p:nvSpPr>
          <p:cNvPr id="8" name="Text 6"/>
          <p:cNvSpPr txBox="1"/>
          <p:nvPr/>
        </p:nvSpPr>
        <p:spPr>
          <a:xfrm>
            <a:off x="68580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Refining capacity is moving east, so each tonne travels further. Products trade +6.3% in 2027F and tonne-miles +6.5%. One ship fixed to SUNCOR for a year, one trading spot where earnings are $53,741/day.</a:t>
            </a:r>
            <a:endParaRPr lang="en-US" sz="1250" dirty="0"/>
          </a:p>
        </p:txBody>
      </p:sp>
      <p:sp>
        <p:nvSpPr>
          <p:cNvPr id="9" name="Trade card"/>
          <p:cNvSpPr/>
          <p:nvPr/>
        </p:nvSpPr>
        <p:spPr>
          <a:xfrm>
            <a:off x="6172200" y="1463040"/>
            <a:ext cx="5486400" cy="2194560"/>
          </a:xfrm>
          <a:prstGeom prst="roundRect">
            <a:avLst>
              <a:gd name="adj" fmla="val 2500"/>
            </a:avLst>
          </a:prstGeom>
          <a:solidFill>
            <a:srgbClr val="EEF3FA"/>
          </a:solidFill>
          <a:ln w="9525">
            <a:solidFill>
              <a:srgbClr val="D7DEE8"/>
            </a:solidFill>
            <a:prstDash val="solid"/>
          </a:ln>
        </p:spPr>
      </p:sp>
      <p:sp>
        <p:nvSpPr>
          <p:cNvPr id="10" name="Text 8"/>
          <p:cNvSpPr txBox="1"/>
          <p:nvPr/>
        </p:nvSpPr>
        <p:spPr>
          <a:xfrm>
            <a:off x="635508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Aframax crude tanker</a:t>
            </a:r>
            <a:endParaRPr lang="en-US" sz="1400" dirty="0"/>
          </a:p>
        </p:txBody>
      </p:sp>
      <p:sp>
        <p:nvSpPr>
          <p:cNvPr id="11" name="Text 9"/>
          <p:cNvSpPr txBox="1"/>
          <p:nvPr/>
        </p:nvSpPr>
        <p:spPr>
          <a:xfrm>
            <a:off x="635508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Crude oil worldwide, routed by an oil-major-class charterer under a 3-year charter</a:t>
            </a:r>
            <a:endParaRPr lang="en-US" sz="1150" dirty="0"/>
          </a:p>
        </p:txBody>
      </p:sp>
      <p:sp>
        <p:nvSpPr>
          <p:cNvPr id="12" name="Text 10"/>
          <p:cNvSpPr txBox="1"/>
          <p:nvPr/>
        </p:nvSpPr>
        <p:spPr>
          <a:xfrm>
            <a:off x="635508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The lowest orderbook of any segment (8.4% of dwt). We sell certainty rather than spot exposure: $40,000/day for three years, through the delivery wave and past any ceasefire.</a:t>
            </a:r>
            <a:endParaRPr lang="en-US" sz="1250" dirty="0"/>
          </a:p>
        </p:txBody>
      </p:sp>
      <p:sp>
        <p:nvSpPr>
          <p:cNvPr id="13" name="Trade card"/>
          <p:cNvSpPr/>
          <p:nvPr/>
        </p:nvSpPr>
        <p:spPr>
          <a:xfrm>
            <a:off x="502920" y="3794760"/>
            <a:ext cx="5486400" cy="2194560"/>
          </a:xfrm>
          <a:prstGeom prst="roundRect">
            <a:avLst>
              <a:gd name="adj" fmla="val 2500"/>
            </a:avLst>
          </a:prstGeom>
          <a:solidFill>
            <a:srgbClr val="EEF3FA"/>
          </a:solidFill>
          <a:ln w="9525">
            <a:solidFill>
              <a:srgbClr val="D7DEE8"/>
            </a:solidFill>
            <a:prstDash val="solid"/>
          </a:ln>
        </p:spPr>
      </p:sp>
      <p:sp>
        <p:nvSpPr>
          <p:cNvPr id="14" name="Text 12"/>
          <p:cNvSpPr txBox="1"/>
          <p:nvPr/>
        </p:nvSpPr>
        <p:spPr>
          <a:xfrm>
            <a:off x="68580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(fixed)</a:t>
            </a:r>
            <a:endParaRPr lang="en-US" sz="1400" dirty="0"/>
          </a:p>
        </p:txBody>
      </p:sp>
      <p:sp>
        <p:nvSpPr>
          <p:cNvPr id="15" name="Text 13"/>
          <p:cNvSpPr txBox="1"/>
          <p:nvPr/>
        </p:nvSpPr>
        <p:spPr>
          <a:xfrm>
            <a:off x="68580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Bauxite Guinea to China and Pacific coal, on a 12-month charter to CNR</a:t>
            </a:r>
            <a:endParaRPr lang="en-US" sz="1150" dirty="0"/>
          </a:p>
        </p:txBody>
      </p:sp>
      <p:sp>
        <p:nvSpPr>
          <p:cNvPr id="16" name="Text 14"/>
          <p:cNvSpPr txBox="1"/>
          <p:nvPr/>
        </p:nvSpPr>
        <p:spPr>
          <a:xfrm>
            <a:off x="68580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Guinea exports +29% y/y; the Guinea to China run is the longest haul in dry bulk, so volume growth counts twice. Kamsarmax is the largest ship Port Kamsar can take.</a:t>
            </a:r>
            <a:endParaRPr lang="en-US" sz="1250" dirty="0"/>
          </a:p>
        </p:txBody>
      </p:sp>
      <p:sp>
        <p:nvSpPr>
          <p:cNvPr id="17" name="Trade card"/>
          <p:cNvSpPr/>
          <p:nvPr/>
        </p:nvSpPr>
        <p:spPr>
          <a:xfrm>
            <a:off x="6172200" y="3794760"/>
            <a:ext cx="5486400" cy="2194560"/>
          </a:xfrm>
          <a:prstGeom prst="roundRect">
            <a:avLst>
              <a:gd name="adj" fmla="val 2500"/>
            </a:avLst>
          </a:prstGeom>
          <a:solidFill>
            <a:srgbClr val="EEF3FA"/>
          </a:solidFill>
          <a:ln w="9525">
            <a:solidFill>
              <a:srgbClr val="D7DEE8"/>
            </a:solidFill>
            <a:prstDash val="solid"/>
          </a:ln>
        </p:spPr>
      </p:sp>
      <p:sp>
        <p:nvSpPr>
          <p:cNvPr id="18" name="Text 16"/>
          <p:cNvSpPr txBox="1"/>
          <p:nvPr/>
        </p:nvSpPr>
        <p:spPr>
          <a:xfrm>
            <a:off x="635508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(spot)</a:t>
            </a:r>
            <a:endParaRPr lang="en-US" sz="1400" dirty="0"/>
          </a:p>
        </p:txBody>
      </p:sp>
      <p:sp>
        <p:nvSpPr>
          <p:cNvPr id="19" name="Text 17"/>
          <p:cNvSpPr txBox="1"/>
          <p:nvPr/>
        </p:nvSpPr>
        <p:spPr>
          <a:xfrm>
            <a:off x="635508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Grain US Gulf and Black Sea to Asia in the Q4 season, then bauxite and coal</a:t>
            </a:r>
            <a:endParaRPr lang="en-US" sz="1150" dirty="0"/>
          </a:p>
        </p:txBody>
      </p:sp>
      <p:sp>
        <p:nvSpPr>
          <p:cNvPr id="20" name="Text 18"/>
          <p:cNvSpPr txBox="1"/>
          <p:nvPr/>
        </p:nvSpPr>
        <p:spPr>
          <a:xfrm>
            <a:off x="635508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Harvest seasonality lifts US Gulf exports from September; 2026 is a bumper grain year. If the Black Sea stays closed the ship shifts to bauxite and coal, where two recent coal fixtures confirm the cargo.</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 secondhand prices from last transacted sales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(Sales by vessel type), extracted 12 Sep 2026; all 18 records in the appendix with screenshots on file.</a:t>
            </a:r>
            <a:endParaRPr lang="en-US" sz="85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2011680"/>
                <a:gridCol w="3657600"/>
                <a:gridCol w="914400"/>
                <a:gridCol w="333756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Type, dwt, built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01 May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Southern Reverence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108,534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Aframax at $75m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24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Pusaka Borneo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108,667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comparable at the same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Aquavita Aim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82,192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$38.0m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Medi Positano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81,661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$32.0m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Presinge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81,886 dwt, 2015 Tsuneishi Zhoushan (China)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$29.25m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Control: the $2.75m discount for China-built tonnage prices the port-fee risk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5-year-old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SIN assessment, series 47130 (October: $52m)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$50.0m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two MRs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4983480"/>
            <a:ext cx="11155680" cy="1005840"/>
          </a:xfrm>
          <a:prstGeom prst="roundRect">
            <a:avLst>
              <a:gd name="adj" fmla="val 5455"/>
            </a:avLst>
          </a:prstGeom>
          <a:solidFill>
            <a:srgbClr val="EEF3FA"/>
          </a:solidFill>
          <a:ln w="9525">
            <a:solidFill>
              <a:srgbClr val="D7DEE8"/>
            </a:solidFill>
            <a:prstDash val="solid"/>
          </a:ln>
        </p:spPr>
      </p:sp>
      <p:sp>
        <p:nvSpPr>
          <p:cNvPr id="7" name="Panel body"/>
          <p:cNvSpPr txBox="1"/>
          <p:nvPr/>
        </p:nvSpPr>
        <p:spPr>
          <a:xfrm>
            <a:off x="685800" y="5111496"/>
            <a:ext cx="10789920" cy="76809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Two same-type, same-age Aframax sales at an identical $75.0m make that price firm. The two Kamsarmaxes are benchmarked to two Japan-built sales on the same day. The Presinge control shows what the market charges for the port-fee insurance we are buying.</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 time-charter rates from last transacted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SIN 1-year MR Eco TC assessment series 541552, October 2026 value $43,000/day.</a:t>
            </a:r>
            <a:endParaRPr lang="en-US" sz="8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291840"/>
                <a:gridCol w="1463040"/>
                <a:gridCol w="2331720"/>
                <a:gridCol w="283464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Period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PS Imabari (MR, 52,838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SUNCOR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Challenge Pollux (MR, 50,068 dwt, 2017)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EXXONMOBIL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$27,000/day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31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Torm Genesis (Aframax, 119,456 dwt)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AET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 years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Our Aframax 3-year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07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Intensity (Kamsarmax, 82,000 dwt,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CNR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 months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XH Hope (Kamsarmax, 84,998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CARGILL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10 to 12 months at $23,000/day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434840"/>
            <a:ext cx="5486400" cy="1554480"/>
          </a:xfrm>
          <a:prstGeom prst="roundRect">
            <a:avLst>
              <a:gd name="adj" fmla="val 3529"/>
            </a:avLst>
          </a:prstGeom>
          <a:solidFill>
            <a:srgbClr val="EEF3FA"/>
          </a:solidFill>
          <a:ln w="9525">
            <a:solidFill>
              <a:srgbClr val="D7DEE8"/>
            </a:solidFill>
            <a:prstDash val="solid"/>
          </a:ln>
        </p:spPr>
      </p:sp>
      <p:sp>
        <p:nvSpPr>
          <p:cNvPr id="7" name="Panel title"/>
          <p:cNvSpPr txBox="1"/>
          <p:nvPr/>
        </p:nvSpPr>
        <p:spPr>
          <a:xfrm>
            <a:off x="68580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these charterers</a:t>
            </a:r>
            <a:endParaRPr lang="en-US" sz="1350" dirty="0"/>
          </a:p>
        </p:txBody>
      </p:sp>
      <p:sp>
        <p:nvSpPr>
          <p:cNvPr id="8" name="Panel body"/>
          <p:cNvSpPr txBox="1"/>
          <p:nvPr/>
        </p:nvSpPr>
        <p:spPr>
          <a:xfrm>
            <a:off x="68580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Oil majors, a Canadian integrated producer and the largest grain house. Counterparty risk on the fixed 60% of ship-days is as low as the market offers, and a long charter is itself bankable security.</a:t>
            </a:r>
            <a:endParaRPr lang="en-US" sz="1100" dirty="0"/>
          </a:p>
        </p:txBody>
      </p:sp>
      <p:sp>
        <p:nvSpPr>
          <p:cNvPr id="9" name="Panel"/>
          <p:cNvSpPr/>
          <p:nvPr/>
        </p:nvSpPr>
        <p:spPr>
          <a:xfrm>
            <a:off x="6172200" y="4434840"/>
            <a:ext cx="5486400" cy="1554480"/>
          </a:xfrm>
          <a:prstGeom prst="roundRect">
            <a:avLst>
              <a:gd name="adj" fmla="val 3529"/>
            </a:avLst>
          </a:prstGeom>
          <a:solidFill>
            <a:srgbClr val="EEF3FA"/>
          </a:solidFill>
          <a:ln w="9525">
            <a:solidFill>
              <a:srgbClr val="D7DEE8"/>
            </a:solidFill>
            <a:prstDash val="solid"/>
          </a:ln>
        </p:spPr>
      </p:sp>
      <p:sp>
        <p:nvSpPr>
          <p:cNvPr id="10" name="Panel title"/>
          <p:cNvSpPr txBox="1"/>
          <p:nvPr/>
        </p:nvSpPr>
        <p:spPr>
          <a:xfrm>
            <a:off x="635508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What the October refresh adds</a:t>
            </a:r>
            <a:endParaRPr lang="en-US" sz="1350" dirty="0"/>
          </a:p>
        </p:txBody>
      </p:sp>
      <p:sp>
        <p:nvSpPr>
          <p:cNvPr id="11" name="Panel body"/>
          <p:cNvSpPr txBox="1"/>
          <p:nvPr/>
        </p:nvSpPr>
        <p:spPr>
          <a:xfrm>
            <a:off x="635508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SIN 1-year MR Eco assessment rose from $29,000 in September to $43,000 in October, and MR spot earnings reached $53,741/day. The $30,000 fixture is kept as the last transacted rate; the final data cut will replace it with the October fixture, which only raises the fixed leg.</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III: spot freight rates from last transacted voyage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voyage TCE calculation in MT6102_Earnings_Model.xlsx, sheet Voyage_TCE.</a:t>
            </a:r>
            <a:endParaRPr lang="en-US" sz="8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840480"/>
                <a:gridCol w="1234440"/>
                <a:gridCol w="1188720"/>
                <a:gridCol w="3657600"/>
              </a:tblGrid>
              <a:tr h="51206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Route and cargo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Role in the proposal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80,000 t, DBCT (Australia) to Vizag (India)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$25.60/t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SAIL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spot leg; converts to about $27,400/day TCE at September bunker prices, above the $23,000 base assumption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09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Newcastle (Australia) to Hadong (Korea)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$23.21/t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KEPCO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coal fixture, same week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Gasoline 37,000 t, Baltic to US Gulf (Dee4 Juniper)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WS105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VITOL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spot leg, Atlantic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Gasoil 35,000 t, Singapore to Balikpapan (Pacific Cobalt)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$1.2m lump sum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SEARIVER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intra-Asia evidence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130,000 t, West Africa to Mediterranean (Sea Amethyst)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WS210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SHELL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Suezmax spot at two to three times normal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Brazil to Chile (Barcelona Spirit)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WS388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PETROBRAS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extreme rates we deliberately avoid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5120640"/>
            <a:ext cx="11155680" cy="868680"/>
          </a:xfrm>
          <a:prstGeom prst="roundRect">
            <a:avLst>
              <a:gd name="adj" fmla="val 6316"/>
            </a:avLst>
          </a:prstGeom>
          <a:solidFill>
            <a:srgbClr val="EEF3FA"/>
          </a:solidFill>
          <a:ln w="9525">
            <a:solidFill>
              <a:srgbClr val="D7DEE8"/>
            </a:solidFill>
            <a:prstDash val="solid"/>
          </a:ln>
        </p:spPr>
      </p:sp>
      <p:sp>
        <p:nvSpPr>
          <p:cNvPr id="7" name="Panel body"/>
          <p:cNvSpPr txBox="1"/>
          <p:nvPr/>
        </p:nvSpPr>
        <p:spPr>
          <a:xfrm>
            <a:off x="685800" y="5248656"/>
            <a:ext cx="10789920" cy="6309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Three price families, 17 transactions, all last done: purchase prices, charter rates and freight rates. Our spot exposure sits in coal and clean products, outside the war-premium crude market.</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Demand: three trades, three different engines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557125 (Guinea bauxite exports), 98802 / 534403 (products trade), 98801 / 534402 (crude trade and tonne-miles); SIN news #224049, #227870, #191021, #219145. Extracted 12 Sep 2026.</a:t>
            </a:r>
            <a:endParaRPr lang="en-US" sz="850" dirty="0"/>
          </a:p>
        </p:txBody>
      </p:sp>
      <p:sp>
        <p:nvSpPr>
          <p:cNvPr id="5" name="Stat"/>
          <p:cNvSpPr/>
          <p:nvPr/>
        </p:nvSpPr>
        <p:spPr>
          <a:xfrm>
            <a:off x="502920" y="1463040"/>
            <a:ext cx="3566160" cy="1371600"/>
          </a:xfrm>
          <a:prstGeom prst="roundRect">
            <a:avLst>
              <a:gd name="adj" fmla="val 4000"/>
            </a:avLst>
          </a:prstGeom>
          <a:solidFill>
            <a:srgbClr val="EEF3FA"/>
          </a:solidFill>
          <a:ln w="9525">
            <a:solidFill>
              <a:srgbClr val="D7DEE8"/>
            </a:solidFill>
            <a:prstDash val="solid"/>
          </a:ln>
        </p:spPr>
      </p:sp>
      <p:sp>
        <p:nvSpPr>
          <p:cNvPr id="6" name="Stat value"/>
          <p:cNvSpPr txBox="1"/>
          <p:nvPr/>
        </p:nvSpPr>
        <p:spPr>
          <a:xfrm>
            <a:off x="64008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+29%</a:t>
            </a:r>
            <a:endParaRPr lang="en-US" sz="2600" dirty="0"/>
          </a:p>
        </p:txBody>
      </p:sp>
      <p:sp>
        <p:nvSpPr>
          <p:cNvPr id="7" name="Stat label"/>
          <p:cNvSpPr txBox="1"/>
          <p:nvPr/>
        </p:nvSpPr>
        <p:spPr>
          <a:xfrm>
            <a:off x="64008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Guinea bauxite exports, Jan to Apr 2026 y/y. Simandou iron ore now shipping; the Guinea to China haul ties up more ships per tonne.</a:t>
            </a:r>
            <a:endParaRPr lang="en-US" sz="1050" dirty="0"/>
          </a:p>
        </p:txBody>
      </p:sp>
      <p:sp>
        <p:nvSpPr>
          <p:cNvPr id="8" name="Stat"/>
          <p:cNvSpPr/>
          <p:nvPr/>
        </p:nvSpPr>
        <p:spPr>
          <a:xfrm>
            <a:off x="4297680" y="1463040"/>
            <a:ext cx="3566160" cy="1371600"/>
          </a:xfrm>
          <a:prstGeom prst="roundRect">
            <a:avLst>
              <a:gd name="adj" fmla="val 4000"/>
            </a:avLst>
          </a:prstGeom>
          <a:solidFill>
            <a:srgbClr val="EEF3FA"/>
          </a:solidFill>
          <a:ln w="9525">
            <a:solidFill>
              <a:srgbClr val="D7DEE8"/>
            </a:solidFill>
            <a:prstDash val="solid"/>
          </a:ln>
        </p:spPr>
      </p:sp>
      <p:sp>
        <p:nvSpPr>
          <p:cNvPr id="9" name="Stat value"/>
          <p:cNvSpPr txBox="1"/>
          <p:nvPr/>
        </p:nvSpPr>
        <p:spPr>
          <a:xfrm>
            <a:off x="443484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+6.3%</a:t>
            </a:r>
            <a:endParaRPr lang="en-US" sz="2600" dirty="0"/>
          </a:p>
        </p:txBody>
      </p:sp>
      <p:sp>
        <p:nvSpPr>
          <p:cNvPr id="10" name="Stat label"/>
          <p:cNvSpPr txBox="1"/>
          <p:nvPr/>
        </p:nvSpPr>
        <p:spPr>
          <a:xfrm>
            <a:off x="443484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products trade, 2027 forecast; tonne-miles +6.5%. Refining capacity shifting east lengthens product hauls.</a:t>
            </a:r>
            <a:endParaRPr lang="en-US" sz="1050" dirty="0"/>
          </a:p>
        </p:txBody>
      </p:sp>
      <p:sp>
        <p:nvSpPr>
          <p:cNvPr id="11" name="Stat"/>
          <p:cNvSpPr/>
          <p:nvPr/>
        </p:nvSpPr>
        <p:spPr>
          <a:xfrm>
            <a:off x="8092440" y="1463040"/>
            <a:ext cx="3566160" cy="1371600"/>
          </a:xfrm>
          <a:prstGeom prst="roundRect">
            <a:avLst>
              <a:gd name="adj" fmla="val 4000"/>
            </a:avLst>
          </a:prstGeom>
          <a:solidFill>
            <a:srgbClr val="EEF3FA"/>
          </a:solidFill>
          <a:ln w="9525">
            <a:solidFill>
              <a:srgbClr val="D7DEE8"/>
            </a:solidFill>
            <a:prstDash val="solid"/>
          </a:ln>
        </p:spPr>
      </p:sp>
      <p:sp>
        <p:nvSpPr>
          <p:cNvPr id="12" name="Stat value"/>
          <p:cNvSpPr txBox="1"/>
          <p:nvPr/>
        </p:nvSpPr>
        <p:spPr>
          <a:xfrm>
            <a:off x="822960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−7.3%</a:t>
            </a:r>
            <a:endParaRPr lang="en-US" sz="2600" dirty="0"/>
          </a:p>
        </p:txBody>
      </p:sp>
      <p:sp>
        <p:nvSpPr>
          <p:cNvPr id="13" name="Stat label"/>
          <p:cNvSpPr txBox="1"/>
          <p:nvPr/>
        </p:nvSpPr>
        <p:spPr>
          <a:xfrm>
            <a:off x="822960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crude volumes 2026, yet average haul +3.3%. Hormuz and Red Sea rerouting prop up tonne-miles: lock income with a 3-year charter.</a:t>
            </a:r>
            <a:endParaRPr lang="en-US" sz="1050" dirty="0"/>
          </a:p>
        </p:txBody>
      </p:sp>
      <p:pic>
        <p:nvPicPr>
          <p:cNvPr id="14" name="06_bauxite_guinea.png" descr="/home/user/MT6102/charts_deck/06_bauxite_guinea.png">    </p:cNvPr>
          <p:cNvPicPr>
            <a:picLocks noChangeAspect="1"/>
          </p:cNvPicPr>
          <p:nvPr/>
        </p:nvPicPr>
        <p:blipFill>
          <a:blip r:embed="rId1"/>
          <a:srcRect l="0" r="0" t="0" b="0"/>
          <a:stretch/>
        </p:blipFill>
        <p:spPr>
          <a:xfrm>
            <a:off x="502920" y="3017520"/>
            <a:ext cx="5486400" cy="3017520"/>
          </a:xfrm>
          <a:prstGeom prst="rect">
            <a:avLst/>
          </a:prstGeom>
        </p:spPr>
      </p:pic>
      <p:pic>
        <p:nvPicPr>
          <p:cNvPr id="15" name="08_average_haul.png" descr="/home/user/MT6102/charts_deck/08_average_haul.png">    </p:cNvPr>
          <p:cNvPicPr>
            <a:picLocks noChangeAspect="1"/>
          </p:cNvPicPr>
          <p:nvPr/>
        </p:nvPicPr>
        <p:blipFill>
          <a:blip r:embed="rId2"/>
          <a:srcRect l="0" r="0" t="0" b="0"/>
          <a:stretch/>
        </p:blipFill>
        <p:spPr>
          <a:xfrm>
            <a:off x="6172200" y="3017520"/>
            <a:ext cx="5486400" cy="301752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today: ships arrive, almost none leave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540953, 29984, 39696 and demolition series 30291, 540965, 29967, 39683, extracted 10 Oct 2026. Aframax crude = Aframax tanker series minus LR2. 2026 = year to date.</a:t>
            </a:r>
            <a:endParaRPr lang="en-US" sz="850" dirty="0"/>
          </a:p>
        </p:txBody>
      </p:sp>
      <p:pic>
        <p:nvPicPr>
          <p:cNvPr id="5" name="12_deliveries_vs_demolition.png" descr="/home/user/MT6102/charts_deck/12_deliveries_vs_demolition.png">    </p:cNvPr>
          <p:cNvPicPr>
            <a:picLocks noChangeAspect="1"/>
          </p:cNvPicPr>
          <p:nvPr/>
        </p:nvPicPr>
        <p:blipFill>
          <a:blip r:embed="rId1"/>
          <a:srcRect l="0" r="0" t="0" b="0"/>
          <a:stretch/>
        </p:blipFill>
        <p:spPr>
          <a:xfrm>
            <a:off x="502920" y="1463040"/>
            <a:ext cx="7315200" cy="4526280"/>
          </a:xfrm>
          <a:prstGeom prst="rect">
            <a:avLst/>
          </a:prstGeom>
        </p:spPr>
      </p:pic>
      <p:sp>
        <p:nvSpPr>
          <p:cNvPr id="6" name="Stat"/>
          <p:cNvSpPr/>
          <p:nvPr/>
        </p:nvSpPr>
        <p:spPr>
          <a:xfrm>
            <a:off x="8046720" y="1463040"/>
            <a:ext cx="361188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183880" y="157276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93 vs 609</a:t>
            </a:r>
            <a:endParaRPr lang="en-US" sz="2400" dirty="0"/>
          </a:p>
        </p:txBody>
      </p:sp>
      <p:sp>
        <p:nvSpPr>
          <p:cNvPr id="8" name="Stat label"/>
          <p:cNvSpPr txBox="1"/>
          <p:nvPr/>
        </p:nvSpPr>
        <p:spPr>
          <a:xfrm>
            <a:off x="8183880" y="208483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scrapped against delivered, 2021 to 2025: only about 15% of new ships were offset.</a:t>
            </a:r>
            <a:endParaRPr lang="en-US" sz="1050" dirty="0"/>
          </a:p>
        </p:txBody>
      </p:sp>
      <p:sp>
        <p:nvSpPr>
          <p:cNvPr id="9" name="Stat"/>
          <p:cNvSpPr/>
          <p:nvPr/>
        </p:nvSpPr>
        <p:spPr>
          <a:xfrm>
            <a:off x="8046720" y="3017520"/>
            <a:ext cx="361188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183880" y="312724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3 in, 8 out</a:t>
            </a:r>
            <a:endParaRPr lang="en-US" sz="2400" dirty="0"/>
          </a:p>
        </p:txBody>
      </p:sp>
      <p:sp>
        <p:nvSpPr>
          <p:cNvPr id="11" name="Stat label"/>
          <p:cNvSpPr txBox="1"/>
          <p:nvPr/>
        </p:nvSpPr>
        <p:spPr>
          <a:xfrm>
            <a:off x="8183880" y="363931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Aframax in 2025: the fleet actually shrank.</a:t>
            </a:r>
            <a:endParaRPr lang="en-US" sz="1050" dirty="0"/>
          </a:p>
        </p:txBody>
      </p:sp>
      <p:sp>
        <p:nvSpPr>
          <p:cNvPr id="12" name="Stat"/>
          <p:cNvSpPr/>
          <p:nvPr/>
        </p:nvSpPr>
        <p:spPr>
          <a:xfrm>
            <a:off x="8046720" y="4572000"/>
            <a:ext cx="361188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183880" y="468172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153 vs 6</a:t>
            </a:r>
            <a:endParaRPr lang="en-US" sz="2400" dirty="0"/>
          </a:p>
        </p:txBody>
      </p:sp>
      <p:sp>
        <p:nvSpPr>
          <p:cNvPr id="14" name="Stat label"/>
          <p:cNvSpPr txBox="1"/>
          <p:nvPr/>
        </p:nvSpPr>
        <p:spPr>
          <a:xfrm>
            <a:off x="8183880" y="519379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delivered against scrapped, 2026 year to date: scrapping has almost stopped.</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ahead: a delivery wave peaks in 2027 to 2028</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extracted 10 Oct 2026. 2026 = deliveries still due Oct to Dec. MR = MR/Handy 25 to 55k dwt (incl. one ship due 2031). By number of ships.</a:t>
            </a:r>
            <a:endParaRPr lang="en-US" sz="850" dirty="0"/>
          </a:p>
        </p:txBody>
      </p:sp>
      <p:pic>
        <p:nvPicPr>
          <p:cNvPr id="5" name="13_delivery_schedule.png" descr="/home/user/MT6102/charts_deck/13_delivery_schedule.png">    </p:cNvPr>
          <p:cNvPicPr>
            <a:picLocks noChangeAspect="1"/>
          </p:cNvPicPr>
          <p:nvPr/>
        </p:nvPicPr>
        <p:blipFill>
          <a:blip r:embed="rId1"/>
          <a:srcRect l="0" r="0" t="0" b="0"/>
          <a:stretch/>
        </p:blipFill>
        <p:spPr>
          <a:xfrm>
            <a:off x="502920" y="1463040"/>
            <a:ext cx="7315200" cy="4526280"/>
          </a:xfrm>
          <a:prstGeom prst="rect">
            <a:avLst/>
          </a:prstGeom>
        </p:spPr>
      </p:pic>
      <p:sp>
        <p:nvSpPr>
          <p:cNvPr id="6" name="Text 3"/>
          <p:cNvSpPr txBox="1"/>
          <p:nvPr/>
        </p:nvSpPr>
        <p:spPr>
          <a:xfrm>
            <a:off x="8046720" y="1463040"/>
            <a:ext cx="36118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Orderbook as % of current fleet (ships)</a:t>
            </a:r>
            <a:endParaRPr lang="en-US" sz="1200" dirty="0"/>
          </a:p>
        </p:txBody>
      </p:sp>
      <p:sp>
        <p:nvSpPr>
          <p:cNvPr id="7" name="OB card"/>
          <p:cNvSpPr/>
          <p:nvPr/>
        </p:nvSpPr>
        <p:spPr>
          <a:xfrm>
            <a:off x="8046720" y="1828800"/>
            <a:ext cx="3611880" cy="914400"/>
          </a:xfrm>
          <a:prstGeom prst="roundRect">
            <a:avLst>
              <a:gd name="adj" fmla="val 6000"/>
            </a:avLst>
          </a:prstGeom>
          <a:solidFill>
            <a:srgbClr val="EEF3FA"/>
          </a:solidFill>
          <a:ln w="9525">
            <a:solidFill>
              <a:srgbClr val="D7DEE8"/>
            </a:solidFill>
            <a:prstDash val="solid"/>
          </a:ln>
        </p:spPr>
      </p:sp>
      <p:sp>
        <p:nvSpPr>
          <p:cNvPr id="8" name="Text 5"/>
          <p:cNvSpPr txBox="1"/>
          <p:nvPr/>
        </p:nvSpPr>
        <p:spPr>
          <a:xfrm>
            <a:off x="8183880" y="1938528"/>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Kamsarmax</a:t>
            </a:r>
            <a:endParaRPr lang="en-US" sz="1300" dirty="0"/>
          </a:p>
        </p:txBody>
      </p:sp>
      <p:sp>
        <p:nvSpPr>
          <p:cNvPr id="9" name="Text 6"/>
          <p:cNvSpPr txBox="1"/>
          <p:nvPr/>
        </p:nvSpPr>
        <p:spPr>
          <a:xfrm>
            <a:off x="8183880" y="2267712"/>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472 / 3,487 ships</a:t>
            </a:r>
            <a:endParaRPr lang="en-US" sz="1050" dirty="0"/>
          </a:p>
        </p:txBody>
      </p:sp>
      <p:sp>
        <p:nvSpPr>
          <p:cNvPr id="10" name="Text 7"/>
          <p:cNvSpPr txBox="1"/>
          <p:nvPr/>
        </p:nvSpPr>
        <p:spPr>
          <a:xfrm>
            <a:off x="10241280" y="1993392"/>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13.5%</a:t>
            </a:r>
            <a:endParaRPr lang="en-US" sz="2400" dirty="0"/>
          </a:p>
        </p:txBody>
      </p:sp>
      <p:sp>
        <p:nvSpPr>
          <p:cNvPr id="11" name="OB card"/>
          <p:cNvSpPr/>
          <p:nvPr/>
        </p:nvSpPr>
        <p:spPr>
          <a:xfrm>
            <a:off x="8046720" y="2852928"/>
            <a:ext cx="3611880" cy="914400"/>
          </a:xfrm>
          <a:prstGeom prst="roundRect">
            <a:avLst>
              <a:gd name="adj" fmla="val 6000"/>
            </a:avLst>
          </a:prstGeom>
          <a:solidFill>
            <a:srgbClr val="EEF3FA"/>
          </a:solidFill>
          <a:ln w="9525">
            <a:solidFill>
              <a:srgbClr val="D7DEE8"/>
            </a:solidFill>
            <a:prstDash val="solid"/>
          </a:ln>
        </p:spPr>
      </p:sp>
      <p:sp>
        <p:nvSpPr>
          <p:cNvPr id="12" name="Text 9"/>
          <p:cNvSpPr txBox="1"/>
          <p:nvPr/>
        </p:nvSpPr>
        <p:spPr>
          <a:xfrm>
            <a:off x="8183880" y="2962656"/>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MR</a:t>
            </a:r>
            <a:endParaRPr lang="en-US" sz="1300" dirty="0"/>
          </a:p>
        </p:txBody>
      </p:sp>
      <p:sp>
        <p:nvSpPr>
          <p:cNvPr id="13" name="Text 10"/>
          <p:cNvSpPr txBox="1"/>
          <p:nvPr/>
        </p:nvSpPr>
        <p:spPr>
          <a:xfrm>
            <a:off x="8183880" y="3291840"/>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367 / 2,351 ships</a:t>
            </a:r>
            <a:endParaRPr lang="en-US" sz="1050" dirty="0"/>
          </a:p>
        </p:txBody>
      </p:sp>
      <p:sp>
        <p:nvSpPr>
          <p:cNvPr id="14" name="Text 11"/>
          <p:cNvSpPr txBox="1"/>
          <p:nvPr/>
        </p:nvSpPr>
        <p:spPr>
          <a:xfrm>
            <a:off x="10241280" y="3017520"/>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15.6%</a:t>
            </a:r>
            <a:endParaRPr lang="en-US" sz="2400" dirty="0"/>
          </a:p>
        </p:txBody>
      </p:sp>
      <p:sp>
        <p:nvSpPr>
          <p:cNvPr id="15" name="OB card"/>
          <p:cNvSpPr/>
          <p:nvPr/>
        </p:nvSpPr>
        <p:spPr>
          <a:xfrm>
            <a:off x="8046720" y="3877056"/>
            <a:ext cx="3611880" cy="914400"/>
          </a:xfrm>
          <a:prstGeom prst="roundRect">
            <a:avLst>
              <a:gd name="adj" fmla="val 6000"/>
            </a:avLst>
          </a:prstGeom>
          <a:solidFill>
            <a:srgbClr val="EEF3FA"/>
          </a:solidFill>
          <a:ln w="9525">
            <a:solidFill>
              <a:srgbClr val="D7DEE8"/>
            </a:solidFill>
            <a:prstDash val="solid"/>
          </a:ln>
        </p:spPr>
      </p:sp>
      <p:sp>
        <p:nvSpPr>
          <p:cNvPr id="16" name="Text 13"/>
          <p:cNvSpPr txBox="1"/>
          <p:nvPr/>
        </p:nvSpPr>
        <p:spPr>
          <a:xfrm>
            <a:off x="8183880" y="3986784"/>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Aframax crude</a:t>
            </a:r>
            <a:endParaRPr lang="en-US" sz="1300" dirty="0"/>
          </a:p>
        </p:txBody>
      </p:sp>
      <p:sp>
        <p:nvSpPr>
          <p:cNvPr id="17" name="Text 14"/>
          <p:cNvSpPr txBox="1"/>
          <p:nvPr/>
        </p:nvSpPr>
        <p:spPr>
          <a:xfrm>
            <a:off x="8183880" y="4315968"/>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62 / 696 ships</a:t>
            </a:r>
            <a:endParaRPr lang="en-US" sz="1050" dirty="0"/>
          </a:p>
        </p:txBody>
      </p:sp>
      <p:sp>
        <p:nvSpPr>
          <p:cNvPr id="18" name="Text 15"/>
          <p:cNvSpPr txBox="1"/>
          <p:nvPr/>
        </p:nvSpPr>
        <p:spPr>
          <a:xfrm>
            <a:off x="10241280" y="4041648"/>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8.9%</a:t>
            </a:r>
            <a:endParaRPr lang="en-US" sz="2400" dirty="0"/>
          </a:p>
        </p:txBody>
      </p:sp>
      <p:sp>
        <p:nvSpPr>
          <p:cNvPr id="19" name="OB card"/>
          <p:cNvSpPr/>
          <p:nvPr/>
        </p:nvSpPr>
        <p:spPr>
          <a:xfrm>
            <a:off x="8046720" y="4901184"/>
            <a:ext cx="3611880" cy="914400"/>
          </a:xfrm>
          <a:prstGeom prst="roundRect">
            <a:avLst>
              <a:gd name="adj" fmla="val 6000"/>
            </a:avLst>
          </a:prstGeom>
          <a:solidFill>
            <a:srgbClr val="FBECEC"/>
          </a:solidFill>
          <a:ln w="9525">
            <a:solidFill>
              <a:srgbClr val="D7DEE8"/>
            </a:solidFill>
            <a:prstDash val="solid"/>
          </a:ln>
        </p:spPr>
      </p:sp>
      <p:sp>
        <p:nvSpPr>
          <p:cNvPr id="20" name="Text 17"/>
          <p:cNvSpPr txBox="1"/>
          <p:nvPr/>
        </p:nvSpPr>
        <p:spPr>
          <a:xfrm>
            <a:off x="8183880" y="5010912"/>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LR2</a:t>
            </a:r>
            <a:endParaRPr lang="en-US" sz="1300" dirty="0"/>
          </a:p>
        </p:txBody>
      </p:sp>
      <p:sp>
        <p:nvSpPr>
          <p:cNvPr id="21" name="Text 18"/>
          <p:cNvSpPr txBox="1"/>
          <p:nvPr/>
        </p:nvSpPr>
        <p:spPr>
          <a:xfrm>
            <a:off x="8183880" y="5340096"/>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199 / 572 ships</a:t>
            </a:r>
            <a:endParaRPr lang="en-US" sz="1050" dirty="0"/>
          </a:p>
        </p:txBody>
      </p:sp>
      <p:sp>
        <p:nvSpPr>
          <p:cNvPr id="22" name="Text 19"/>
          <p:cNvSpPr txBox="1"/>
          <p:nvPr/>
        </p:nvSpPr>
        <p:spPr>
          <a:xfrm>
            <a:off x="10241280" y="5065776"/>
            <a:ext cx="1325880" cy="548640"/>
          </a:xfrm>
          <a:prstGeom prst="rect">
            <a:avLst/>
          </a:prstGeom>
          <a:noFill/>
          <a:ln/>
        </p:spPr>
        <p:txBody>
          <a:bodyPr wrap="square" lIns="0" tIns="0" rIns="0" bIns="0" rtlCol="0" anchor="ctr"/>
          <a:lstStyle/>
          <a:p>
            <a:pPr algn="r" indent="0" marL="0">
              <a:buNone/>
            </a:pPr>
            <a:r>
              <a:rPr lang="en-US" sz="2400" b="1" dirty="0">
                <a:solidFill>
                  <a:srgbClr val="C8102E"/>
                </a:solidFill>
                <a:latin typeface="Cambria" pitchFamily="34" charset="0"/>
                <a:ea typeface="Cambria" pitchFamily="34" charset="-122"/>
                <a:cs typeface="Cambria" pitchFamily="34" charset="-120"/>
              </a:rPr>
              <a:t>34.8%</a:t>
            </a:r>
            <a:endParaRPr lang="en-US" sz="2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Replacement test: new ships against the ageing fleet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age profile, extracted 10 Oct 2026. Cover = orderbook divided by ships aged 20 years and over; below 1.0x the orderbook can largely replace scrapping once it resumes.</a:t>
            </a:r>
            <a:endParaRPr lang="en-US" sz="850" dirty="0"/>
          </a:p>
        </p:txBody>
      </p:sp>
      <p:pic>
        <p:nvPicPr>
          <p:cNvPr id="5" name="14_replacement_test.png" descr="/home/user/MT6102/charts_deck/14_replacement_test.png">    </p:cNvPr>
          <p:cNvPicPr>
            <a:picLocks noChangeAspect="1"/>
          </p:cNvPicPr>
          <p:nvPr/>
        </p:nvPicPr>
        <p:blipFill>
          <a:blip r:embed="rId1"/>
          <a:srcRect l="0" r="0" t="0" b="0"/>
          <a:stretch/>
        </p:blipFill>
        <p:spPr>
          <a:xfrm>
            <a:off x="502920" y="1463040"/>
            <a:ext cx="6675120" cy="3291840"/>
          </a:xfrm>
          <a:prstGeom prst="rect">
            <a:avLst/>
          </a:prstGeom>
        </p:spPr>
      </p:pic>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280160"/>
                <a:gridCol w="685800"/>
                <a:gridCol w="2331720"/>
              </a:tblGrid>
              <a:tr h="56692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Verdict and our 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0.76x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0.65x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to 2028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crude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0.28x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Tightest supply: buy 1 on a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LR2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3.37x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Oversupply, can switch to crude: avoid; the 3-year TC protects our 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r>
            </a:tbl>
          </a:graphicData>
        </a:graphic>
      </p:graphicFrame>
      <p:sp>
        <p:nvSpPr>
          <p:cNvPr id="7" name="Panel"/>
          <p:cNvSpPr/>
          <p:nvPr/>
        </p:nvSpPr>
        <p:spPr>
          <a:xfrm>
            <a:off x="502920" y="4892040"/>
            <a:ext cx="11155680" cy="1051560"/>
          </a:xfrm>
          <a:prstGeom prst="roundRect">
            <a:avLst>
              <a:gd name="adj" fmla="val 5217"/>
            </a:avLst>
          </a:prstGeom>
          <a:solidFill>
            <a:srgbClr val="EEF3FA"/>
          </a:solidFill>
          <a:ln w="9525">
            <a:solidFill>
              <a:srgbClr val="D7DEE8"/>
            </a:solidFill>
            <a:prstDash val="solid"/>
          </a:ln>
        </p:spPr>
      </p:sp>
      <p:sp>
        <p:nvSpPr>
          <p:cNvPr id="8" name="Panel body"/>
          <p:cNvSpPr txBox="1"/>
          <p:nvPr/>
        </p:nvSpPr>
        <p:spPr>
          <a:xfrm>
            <a:off x="685800" y="5020056"/>
            <a:ext cx="10789920" cy="813816"/>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Ships live about 25 years, so the 20-year-plus cohort is the pool that scrapping draws from. Kamsarmax, MR and crude Aframax orderbooks are all smaller than that pool; LR2 orders are 3.4 times it. Clarksons' 9 October note on the recycling overhang confirms that the deferred scrapping will come.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Skip Suezmax: three peak signals, all louder in October</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87302 / 53070 (5-year-old and newbuild prices), 48989 / 49108 (1-year and 3-year TC), 531088 (earnings), dataset L6 (Hormuz transits), L11 (sanctioned fleet); news #221824, #227050, #228241. Chart shows September data; October values in the tiles.</a:t>
            </a:r>
            <a:endParaRPr lang="en-US" sz="850" dirty="0"/>
          </a:p>
        </p:txBody>
      </p:sp>
      <p:pic>
        <p:nvPicPr>
          <p:cNvPr id="5" name="01_peak_signals_suezmax.png" descr="/home/user/MT6102/charts_deck/01_peak_signals_suezmax.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1.44x</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Suezmax against newbuild in October ($130m against $90m); 1.23x in September. Secondhand above replacement cost is the textbook over-trading signal.</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200" b="1" dirty="0">
                <a:solidFill>
                  <a:srgbClr val="C8102E"/>
                </a:solidFill>
                <a:latin typeface="Cambria" pitchFamily="34" charset="0"/>
                <a:ea typeface="Cambria" pitchFamily="34" charset="-122"/>
                <a:cs typeface="Cambria" pitchFamily="34" charset="-120"/>
              </a:rPr>
              <a:t>$140k vs $64k</a:t>
            </a:r>
            <a:endParaRPr lang="en-US" sz="22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1-year against 3-year TC in October. Spot earnings $718,165/day. The market itself prices today's rates as temporary.</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2 to 7 a week</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tankers transiting Hormuz (Aug to Oct). Rates reflect a supply shock, and 20% of crude tanker capacity is sanctioned: both reverse quickly.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value: dry bulk is recovering, MR sits at replacement cost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17259 (BDI, daily to 13 Oct 2026), 542021 / 540721 (5-year-old bulker prices), 47130 / 71267 (MR prices); news #225971, #228048, #219145, #191021.</a:t>
            </a:r>
            <a:endParaRPr lang="en-US" sz="850" dirty="0"/>
          </a:p>
        </p:txBody>
      </p:sp>
      <p:pic>
        <p:nvPicPr>
          <p:cNvPr id="5" name="05_drybulk_recovery.png" descr="/home/user/MT6102/charts_deck/05_drybulk_recovery.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2,801</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BDI on 13 Oct, down 20% from the 3,521 peak of 10 Sep. Strong but off the high: the recovery stage, not the peak.</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1.09x</a:t>
            </a:r>
            <a:endParaRPr lang="en-US" sz="24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Kamsarmax against newbuild ($42m against $38.5m). A 9% premium, against 44% for Suezmax.</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0.99x</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MR against newbuild in October (0.96x in September). The lowest ratio of the five segments: we buy at replacement cost.</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changed since 12 September, and our freight-rate call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re-pulled 15 Oct 2026 (October monthly assessments, weekly earnings to 9 Oct, BDI to 13 Oct); SIN news #229922 (9 Oct), #217187, #228241, #224049, #227789; USTR notice on the port-fee suspension.</a:t>
            </a:r>
            <a:endParaRPr lang="en-US" sz="85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5760720" cy="914400"/>
        </p:xfrm>
        <a:graphic>
          <a:graphicData uri="http://schemas.openxmlformats.org/drawingml/2006/table">
            <a:tbl>
              <a:tblPr/>
              <a:tblGrid>
                <a:gridCol w="2286000"/>
                <a:gridCol w="777240"/>
                <a:gridCol w="868680"/>
                <a:gridCol w="182880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Indicator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12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October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5-year-old price, $m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Peak signal stronger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1-year TC,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90,250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140,250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Backwardation steeper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1-year TC assessment,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29,000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43,000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Fixed leg has upside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Eco spot earnings,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35,804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53,741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Bull case raised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Kamsarmax Eco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24,484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23,389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Stable, above the $22,000 fix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BDI</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3,521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2,801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Off the high, trigger 2,000 not hit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Singapore VLSFO, $/t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811.69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874.94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Charterers pay fuel on our fixed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02920" y="4572000"/>
            <a:ext cx="57607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Torm ordered six MR2s on 26 Aug: new MR supply, but delivery after 2028.</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VLCC spot about $1.3m/day in early October: the war premium is still intact.</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The US and China port-fee suspension expires around 10 November 2026, inside our presentation window.</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Clarksons, 9 Oct: recycling has run below 0.5% of the fleet a year for five years; an overhang of old ships is building.</a:t>
            </a:r>
            <a:endParaRPr lang="en-US" sz="1050" dirty="0"/>
          </a:p>
        </p:txBody>
      </p:sp>
      <p:sp>
        <p:nvSpPr>
          <p:cNvPr id="7" name="Text 4"/>
          <p:cNvSpPr txBox="1"/>
          <p:nvPr/>
        </p:nvSpPr>
        <p:spPr>
          <a:xfrm>
            <a:off x="6446520" y="1463040"/>
            <a:ext cx="52120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Our rate call for the next 6 to 12 months</a:t>
            </a:r>
            <a:endParaRPr lang="en-US" sz="1200" dirty="0"/>
          </a:p>
        </p:txBody>
      </p:sp>
      <p:sp>
        <p:nvSpPr>
          <p:cNvPr id="8" name="Panel"/>
          <p:cNvSpPr/>
          <p:nvPr/>
        </p:nvSpPr>
        <p:spPr>
          <a:xfrm>
            <a:off x="6446520" y="1828800"/>
            <a:ext cx="5212080" cy="1280160"/>
          </a:xfrm>
          <a:prstGeom prst="roundRect">
            <a:avLst>
              <a:gd name="adj" fmla="val 4286"/>
            </a:avLst>
          </a:prstGeom>
          <a:solidFill>
            <a:srgbClr val="EEF3FA"/>
          </a:solidFill>
          <a:ln w="9525">
            <a:solidFill>
              <a:srgbClr val="D7DEE8"/>
            </a:solidFill>
            <a:prstDash val="solid"/>
          </a:ln>
        </p:spPr>
      </p:sp>
      <p:sp>
        <p:nvSpPr>
          <p:cNvPr id="9" name="Panel title"/>
          <p:cNvSpPr txBox="1"/>
          <p:nvPr/>
        </p:nvSpPr>
        <p:spPr>
          <a:xfrm>
            <a:off x="6629400" y="195681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MR</a:t>
            </a:r>
            <a:endParaRPr lang="en-US" sz="1250" dirty="0"/>
          </a:p>
        </p:txBody>
      </p:sp>
      <p:sp>
        <p:nvSpPr>
          <p:cNvPr id="10" name="Panel body"/>
          <p:cNvSpPr txBox="1"/>
          <p:nvPr/>
        </p:nvSpPr>
        <p:spPr>
          <a:xfrm>
            <a:off x="6629400" y="230428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into the first half of 2027 (spot $53,741 against our $30,000 fix), softer once 2027 deliveries land. So one ship fixed for a year, one kept open.</a:t>
            </a:r>
            <a:endParaRPr lang="en-US" sz="1050" dirty="0"/>
          </a:p>
        </p:txBody>
      </p:sp>
      <p:sp>
        <p:nvSpPr>
          <p:cNvPr id="11" name="Panel"/>
          <p:cNvSpPr/>
          <p:nvPr/>
        </p:nvSpPr>
        <p:spPr>
          <a:xfrm>
            <a:off x="6446520" y="3246120"/>
            <a:ext cx="5212080" cy="1280160"/>
          </a:xfrm>
          <a:prstGeom prst="roundRect">
            <a:avLst>
              <a:gd name="adj" fmla="val 4286"/>
            </a:avLst>
          </a:prstGeom>
          <a:solidFill>
            <a:srgbClr val="EEF3FA"/>
          </a:solidFill>
          <a:ln w="9525">
            <a:solidFill>
              <a:srgbClr val="D7DEE8"/>
            </a:solidFill>
            <a:prstDash val="solid"/>
          </a:ln>
        </p:spPr>
      </p:sp>
      <p:sp>
        <p:nvSpPr>
          <p:cNvPr id="12" name="Panel title"/>
          <p:cNvSpPr txBox="1"/>
          <p:nvPr/>
        </p:nvSpPr>
        <p:spPr>
          <a:xfrm>
            <a:off x="6629400" y="337413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Aframax</a:t>
            </a:r>
            <a:endParaRPr lang="en-US" sz="1250" dirty="0"/>
          </a:p>
        </p:txBody>
      </p:sp>
      <p:sp>
        <p:nvSpPr>
          <p:cNvPr id="13" name="Panel body"/>
          <p:cNvSpPr txBox="1"/>
          <p:nvPr/>
        </p:nvSpPr>
        <p:spPr>
          <a:xfrm>
            <a:off x="6629400" y="372160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Today's rate is a war premium that falls on a ceasefire or sanctions relief. So the whole ship is fixed for three years at $40,000.</a:t>
            </a:r>
            <a:endParaRPr lang="en-US" sz="1050" dirty="0"/>
          </a:p>
        </p:txBody>
      </p:sp>
      <p:sp>
        <p:nvSpPr>
          <p:cNvPr id="14" name="Panel"/>
          <p:cNvSpPr/>
          <p:nvPr/>
        </p:nvSpPr>
        <p:spPr>
          <a:xfrm>
            <a:off x="6446520" y="4663440"/>
            <a:ext cx="5212080" cy="1280160"/>
          </a:xfrm>
          <a:prstGeom prst="roundRect">
            <a:avLst>
              <a:gd name="adj" fmla="val 4286"/>
            </a:avLst>
          </a:prstGeom>
          <a:solidFill>
            <a:srgbClr val="EEF3FA"/>
          </a:solidFill>
          <a:ln w="9525">
            <a:solidFill>
              <a:srgbClr val="D7DEE8"/>
            </a:solidFill>
            <a:prstDash val="solid"/>
          </a:ln>
        </p:spPr>
      </p:sp>
      <p:sp>
        <p:nvSpPr>
          <p:cNvPr id="15" name="Panel title"/>
          <p:cNvSpPr txBox="1"/>
          <p:nvPr/>
        </p:nvSpPr>
        <p:spPr>
          <a:xfrm>
            <a:off x="6629400" y="479145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Kamsarmax</a:t>
            </a:r>
            <a:endParaRPr lang="en-US" sz="1250" dirty="0"/>
          </a:p>
        </p:txBody>
      </p:sp>
      <p:sp>
        <p:nvSpPr>
          <p:cNvPr id="16" name="Panel body"/>
          <p:cNvSpPr txBox="1"/>
          <p:nvPr/>
        </p:nvSpPr>
        <p:spPr>
          <a:xfrm>
            <a:off x="6629400" y="513892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through the Q4 grain season, then pressured by 171 deliveries in 2027. The spot ship is reviewed against the BDI trigger in Q1 2027.</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Method: one formula, three assumptions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Notes and Inputs); OPEX reference series 540687 / 540689 / 540683.</a:t>
            </a:r>
            <a:endParaRPr lang="en-US" sz="850" dirty="0"/>
          </a:p>
        </p:txBody>
      </p:sp>
      <p:sp>
        <p:nvSpPr>
          <p:cNvPr id="5" name="Formula band"/>
          <p:cNvSpPr/>
          <p:nvPr/>
        </p:nvSpPr>
        <p:spPr>
          <a:xfrm>
            <a:off x="502920" y="1508760"/>
            <a:ext cx="11155680" cy="1371600"/>
          </a:xfrm>
          <a:prstGeom prst="roundRect">
            <a:avLst>
              <a:gd name="adj" fmla="val 4000"/>
            </a:avLst>
          </a:prstGeom>
          <a:solidFill>
            <a:srgbClr val="142B4F"/>
          </a:solidFill>
          <a:ln w="12700">
            <a:solidFill>
              <a:srgbClr val="142B4F"/>
            </a:solidFill>
            <a:prstDash val="solid"/>
          </a:ln>
        </p:spPr>
      </p:sp>
      <p:sp>
        <p:nvSpPr>
          <p:cNvPr id="6" name="Text 4"/>
          <p:cNvSpPr txBox="1"/>
          <p:nvPr/>
        </p:nvSpPr>
        <p:spPr>
          <a:xfrm>
            <a:off x="731520" y="1600200"/>
            <a:ext cx="1069848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Annual earnings  =  daily rate  ×  350 operating days  ×  number of ships</a:t>
            </a:r>
            <a:endParaRPr lang="en-US" sz="2600" dirty="0"/>
          </a:p>
        </p:txBody>
      </p:sp>
      <p:sp>
        <p:nvSpPr>
          <p:cNvPr id="7" name="Text 5"/>
          <p:cNvSpPr txBox="1"/>
          <p:nvPr/>
        </p:nvSpPr>
        <p:spPr>
          <a:xfrm>
            <a:off x="731520" y="2331720"/>
            <a:ext cx="10698480" cy="411480"/>
          </a:xfrm>
          <a:prstGeom prst="rect">
            <a:avLst/>
          </a:prstGeom>
          <a:noFill/>
          <a:ln/>
        </p:spPr>
        <p:txBody>
          <a:bodyPr wrap="square" lIns="0" tIns="0" rIns="0" bIns="0" rtlCol="0" anchor="ctr"/>
          <a:lstStyle/>
          <a:p>
            <a:pPr algn="ctr" indent="0" marL="0">
              <a:buNone/>
            </a:pPr>
            <a:r>
              <a:rPr lang="en-US" sz="1300" dirty="0">
                <a:solidFill>
                  <a:srgbClr val="C9D6EA"/>
                </a:solidFill>
                <a:latin typeface="Calibri" pitchFamily="34" charset="0"/>
                <a:ea typeface="Calibri" pitchFamily="34" charset="-122"/>
                <a:cs typeface="Calibri" pitchFamily="34" charset="-120"/>
              </a:rPr>
              <a:t>Return on capital = fleet earnings ÷ USD 250m. Forecast window October 2026 to September 2027.</a:t>
            </a:r>
            <a:endParaRPr lang="en-US" sz="1300" dirty="0"/>
          </a:p>
        </p:txBody>
      </p:sp>
      <p:sp>
        <p:nvSpPr>
          <p:cNvPr id="8" name="Panel"/>
          <p:cNvSpPr/>
          <p:nvPr/>
        </p:nvSpPr>
        <p:spPr>
          <a:xfrm>
            <a:off x="502920" y="3154680"/>
            <a:ext cx="3566160" cy="2194560"/>
          </a:xfrm>
          <a:prstGeom prst="roundRect">
            <a:avLst>
              <a:gd name="adj" fmla="val 2500"/>
            </a:avLst>
          </a:prstGeom>
          <a:solidFill>
            <a:srgbClr val="EEF3FA"/>
          </a:solidFill>
          <a:ln w="9525">
            <a:solidFill>
              <a:srgbClr val="D7DEE8"/>
            </a:solidFill>
            <a:prstDash val="solid"/>
          </a:ln>
        </p:spPr>
      </p:sp>
      <p:sp>
        <p:nvSpPr>
          <p:cNvPr id="9" name="Panel title"/>
          <p:cNvSpPr txBox="1"/>
          <p:nvPr/>
        </p:nvSpPr>
        <p:spPr>
          <a:xfrm>
            <a:off x="68580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350 operating days</a:t>
            </a:r>
            <a:endParaRPr lang="en-US" sz="1350" dirty="0"/>
          </a:p>
        </p:txBody>
      </p:sp>
      <p:sp>
        <p:nvSpPr>
          <p:cNvPr id="10" name="Panel body"/>
          <p:cNvSpPr txBox="1"/>
          <p:nvPr/>
        </p:nvSpPr>
        <p:spPr>
          <a:xfrm>
            <a:off x="68580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365 days less 15 days of off-hire for repairs, surveys and the first special survey due on the 5-year-old MRs. Each month of delivery delay removes one twelfth of that ship's year.</a:t>
            </a:r>
            <a:endParaRPr lang="en-US" sz="1250" dirty="0"/>
          </a:p>
        </p:txBody>
      </p:sp>
      <p:sp>
        <p:nvSpPr>
          <p:cNvPr id="11" name="Panel"/>
          <p:cNvSpPr/>
          <p:nvPr/>
        </p:nvSpPr>
        <p:spPr>
          <a:xfrm>
            <a:off x="4297680" y="3154680"/>
            <a:ext cx="3566160" cy="2194560"/>
          </a:xfrm>
          <a:prstGeom prst="roundRect">
            <a:avLst>
              <a:gd name="adj" fmla="val 2500"/>
            </a:avLst>
          </a:prstGeom>
          <a:solidFill>
            <a:srgbClr val="EEF3FA"/>
          </a:solidFill>
          <a:ln w="9525">
            <a:solidFill>
              <a:srgbClr val="D7DEE8"/>
            </a:solidFill>
            <a:prstDash val="solid"/>
          </a:ln>
        </p:spPr>
      </p:sp>
      <p:sp>
        <p:nvSpPr>
          <p:cNvPr id="12" name="Panel title"/>
          <p:cNvSpPr txBox="1"/>
          <p:nvPr/>
        </p:nvSpPr>
        <p:spPr>
          <a:xfrm>
            <a:off x="448056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Before OPEX, at TCE level</a:t>
            </a:r>
            <a:endParaRPr lang="en-US" sz="1350" dirty="0"/>
          </a:p>
        </p:txBody>
      </p:sp>
      <p:sp>
        <p:nvSpPr>
          <p:cNvPr id="13" name="Panel body"/>
          <p:cNvSpPr txBox="1"/>
          <p:nvPr/>
        </p:nvSpPr>
        <p:spPr>
          <a:xfrm>
            <a:off x="448056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The brief asks for revenue, not operating costs. On a time charter the charterer pays bunkers, port and canal costs; on the spot ships the TCE already nets them out. OPEX is kept as a reference line for questions.</a:t>
            </a:r>
            <a:endParaRPr lang="en-US" sz="1250" dirty="0"/>
          </a:p>
        </p:txBody>
      </p:sp>
      <p:sp>
        <p:nvSpPr>
          <p:cNvPr id="14" name="Panel"/>
          <p:cNvSpPr/>
          <p:nvPr/>
        </p:nvSpPr>
        <p:spPr>
          <a:xfrm>
            <a:off x="8092440" y="3154680"/>
            <a:ext cx="3566160" cy="2194560"/>
          </a:xfrm>
          <a:prstGeom prst="roundRect">
            <a:avLst>
              <a:gd name="adj" fmla="val 2500"/>
            </a:avLst>
          </a:prstGeom>
          <a:solidFill>
            <a:srgbClr val="EEF3FA"/>
          </a:solidFill>
          <a:ln w="9525">
            <a:solidFill>
              <a:srgbClr val="D7DEE8"/>
            </a:solidFill>
            <a:prstDash val="solid"/>
          </a:ln>
        </p:spPr>
      </p:sp>
      <p:sp>
        <p:nvSpPr>
          <p:cNvPr id="15" name="Panel title"/>
          <p:cNvSpPr txBox="1"/>
          <p:nvPr/>
        </p:nvSpPr>
        <p:spPr>
          <a:xfrm>
            <a:off x="827532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Commission 0%</a:t>
            </a:r>
            <a:endParaRPr lang="en-US" sz="1350" dirty="0"/>
          </a:p>
        </p:txBody>
      </p:sp>
      <p:sp>
        <p:nvSpPr>
          <p:cNvPr id="16" name="Panel body"/>
          <p:cNvSpPr txBox="1"/>
          <p:nvPr/>
        </p:nvSpPr>
        <p:spPr>
          <a:xfrm>
            <a:off x="827532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Set to zero so the slide figures match gross hire. At the industry norm of 3.75% (address plus brokerage) the base case is $47.8m, or 19.1%, with every scenario reduced by the same share.</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Base case by vessel: USD 49.7m, 19.9% on capital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Inputs and Forecast; rates from the fixtures on the Part 2 slides.</a:t>
            </a:r>
            <a:endParaRPr lang="en-US" sz="8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7223760" cy="914400"/>
        </p:xfrm>
        <a:graphic>
          <a:graphicData uri="http://schemas.openxmlformats.org/drawingml/2006/table">
            <a:tbl>
              <a:tblPr/>
              <a:tblGrid>
                <a:gridCol w="1463040"/>
                <a:gridCol w="2834640"/>
                <a:gridCol w="1005840"/>
                <a:gridCol w="1005840"/>
                <a:gridCol w="91440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 $/day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Annual earnings,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Share of fleet income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1-year TC, SUNCOR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30,000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Challenge Pollux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27,000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9.45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3-year TC, AET benchmark</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12-month TC, CNR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XH Hope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23,000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8.05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Fleet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60% of ship-days fixed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142,000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C8102E"/>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Stat"/>
          <p:cNvSpPr/>
          <p:nvPr/>
        </p:nvSpPr>
        <p:spPr>
          <a:xfrm>
            <a:off x="7955280" y="1463040"/>
            <a:ext cx="3703320" cy="1051560"/>
          </a:xfrm>
          <a:prstGeom prst="roundRect">
            <a:avLst>
              <a:gd name="adj" fmla="val 5217"/>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$142,000</a:t>
            </a:r>
            <a:endParaRPr lang="en-US" sz="2400" dirty="0"/>
          </a:p>
        </p:txBody>
      </p:sp>
      <p:sp>
        <p:nvSpPr>
          <p:cNvPr id="8" name="Stat label"/>
          <p:cNvSpPr txBox="1"/>
          <p:nvPr/>
        </p:nvSpPr>
        <p:spPr>
          <a:xfrm>
            <a:off x="8092440" y="208483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fleet income per day in the base case</a:t>
            </a:r>
            <a:endParaRPr lang="en-US" sz="1050" dirty="0"/>
          </a:p>
        </p:txBody>
      </p:sp>
      <p:sp>
        <p:nvSpPr>
          <p:cNvPr id="9" name="Stat"/>
          <p:cNvSpPr/>
          <p:nvPr/>
        </p:nvSpPr>
        <p:spPr>
          <a:xfrm>
            <a:off x="7955280" y="2651760"/>
            <a:ext cx="3703320" cy="1051560"/>
          </a:xfrm>
          <a:prstGeom prst="roundRect">
            <a:avLst>
              <a:gd name="adj" fmla="val 5217"/>
            </a:avLst>
          </a:prstGeom>
          <a:solidFill>
            <a:srgbClr val="EEF3FA"/>
          </a:solidFill>
          <a:ln w="9525">
            <a:solidFill>
              <a:srgbClr val="D7DEE8"/>
            </a:solidFill>
            <a:prstDash val="solid"/>
          </a:ln>
        </p:spPr>
      </p:sp>
      <p:sp>
        <p:nvSpPr>
          <p:cNvPr id="10" name="Stat value"/>
          <p:cNvSpPr txBox="1"/>
          <p:nvPr/>
        </p:nvSpPr>
        <p:spPr>
          <a:xfrm>
            <a:off x="8092440" y="276148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19.9%</a:t>
            </a:r>
            <a:endParaRPr lang="en-US" sz="2400" dirty="0"/>
          </a:p>
        </p:txBody>
      </p:sp>
      <p:sp>
        <p:nvSpPr>
          <p:cNvPr id="11" name="Stat label"/>
          <p:cNvSpPr txBox="1"/>
          <p:nvPr/>
        </p:nvSpPr>
        <p:spPr>
          <a:xfrm>
            <a:off x="8092440" y="327355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return on USD 250m before OPEX; 14.8% after OPEX of $12.8m</a:t>
            </a:r>
            <a:endParaRPr lang="en-US" sz="1050" dirty="0"/>
          </a:p>
        </p:txBody>
      </p:sp>
      <p:sp>
        <p:nvSpPr>
          <p:cNvPr id="12" name="Stat"/>
          <p:cNvSpPr/>
          <p:nvPr/>
        </p:nvSpPr>
        <p:spPr>
          <a:xfrm>
            <a:off x="7955280" y="3840480"/>
            <a:ext cx="3703320" cy="1051560"/>
          </a:xfrm>
          <a:prstGeom prst="roundRect">
            <a:avLst>
              <a:gd name="adj" fmla="val 5217"/>
            </a:avLst>
          </a:prstGeom>
          <a:solidFill>
            <a:srgbClr val="EEF3FA"/>
          </a:solidFill>
          <a:ln w="9525">
            <a:solidFill>
              <a:srgbClr val="D7DEE8"/>
            </a:solidFill>
            <a:prstDash val="solid"/>
          </a:ln>
        </p:spPr>
      </p:sp>
      <p:sp>
        <p:nvSpPr>
          <p:cNvPr id="13" name="Stat value"/>
          <p:cNvSpPr txBox="1"/>
          <p:nvPr/>
        </p:nvSpPr>
        <p:spPr>
          <a:xfrm>
            <a:off x="8092440" y="395020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65%</a:t>
            </a:r>
            <a:endParaRPr lang="en-US" sz="2400" dirty="0"/>
          </a:p>
        </p:txBody>
      </p:sp>
      <p:sp>
        <p:nvSpPr>
          <p:cNvPr id="14" name="Stat label"/>
          <p:cNvSpPr txBox="1"/>
          <p:nvPr/>
        </p:nvSpPr>
        <p:spPr>
          <a:xfrm>
            <a:off x="8092440" y="446227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of base income comes from the three fixed ships ($32.2m), identical in every scenario</a:t>
            </a:r>
            <a:endParaRPr lang="en-US" sz="1050" dirty="0"/>
          </a:p>
        </p:txBody>
      </p:sp>
      <p:sp>
        <p:nvSpPr>
          <p:cNvPr id="15" name="Panel"/>
          <p:cNvSpPr/>
          <p:nvPr/>
        </p:nvSpPr>
        <p:spPr>
          <a:xfrm>
            <a:off x="502920" y="4434840"/>
            <a:ext cx="7223760" cy="1554480"/>
          </a:xfrm>
          <a:prstGeom prst="roundRect">
            <a:avLst>
              <a:gd name="adj" fmla="val 3529"/>
            </a:avLst>
          </a:prstGeom>
          <a:solidFill>
            <a:srgbClr val="EEF3FA"/>
          </a:solidFill>
          <a:ln w="9525">
            <a:solidFill>
              <a:srgbClr val="D7DEE8"/>
            </a:solidFill>
            <a:prstDash val="solid"/>
          </a:ln>
        </p:spPr>
      </p:sp>
      <p:sp>
        <p:nvSpPr>
          <p:cNvPr id="16" name="Panel body"/>
          <p:cNvSpPr txBox="1"/>
          <p:nvPr/>
        </p:nvSpPr>
        <p:spPr>
          <a:xfrm>
            <a:off x="685800" y="4562856"/>
            <a:ext cx="6858000" cy="13167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Each line is the daily rate times 350 days. MR #1: 30,000 × 350 = $10.5m. Aframax: 40,000 × 350 = $14.0m. The two spot ships use the latest one-year fixtures as a conservative proxy; the coal voyage fixture converts to about $27,400/day, above the $23,000 used here.</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Three scenarios: the floor is 17.9% with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Bear = 2025 average of SIN earnings series 543759 (MR Eco) and 533288 (Kamsarmax Eco); Base = last-done 1-year fixtures; Bull = the same series in the week of 9 Oct 2026. Weights are the group's judgement.</a:t>
            </a:r>
            <a:endParaRPr lang="en-US" sz="850" dirty="0"/>
          </a:p>
        </p:txBody>
      </p:sp>
      <p:pic>
        <p:nvPicPr>
          <p:cNvPr id="5" name="11_scenarios.png" descr="/home/user/MT6102/charts_deck/11_scenarios.png">    </p:cNvPr>
          <p:cNvPicPr>
            <a:picLocks noChangeAspect="1"/>
          </p:cNvPicPr>
          <p:nvPr/>
        </p:nvPicPr>
        <p:blipFill>
          <a:blip r:embed="rId1"/>
          <a:srcRect l="0" r="0" t="0" b="0"/>
          <a:stretch/>
        </p:blipFill>
        <p:spPr>
          <a:xfrm>
            <a:off x="502920" y="1463040"/>
            <a:ext cx="7315200" cy="4526280"/>
          </a:xfrm>
          <a:prstGeom prst="rect">
            <a:avLst/>
          </a:prstGeom>
        </p:spPr>
      </p:pic>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8046720" y="1463040"/>
          <a:ext cx="3611880" cy="914400"/>
        </p:xfrm>
        <a:graphic>
          <a:graphicData uri="http://schemas.openxmlformats.org/drawingml/2006/table">
            <a:tbl>
              <a:tblPr/>
              <a:tblGrid>
                <a:gridCol w="1371600"/>
                <a:gridCol w="960120"/>
                <a:gridCol w="640080"/>
                <a:gridCol w="64008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Spot legs,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Earnings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Return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Bear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22,950 / 12,880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$44.7m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27,000 / 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$49.7m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Bull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53,741 / 23,389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$59.2m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Expected (30 / 50 / 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$50.1m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Base after 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$36.9m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7" name="Panel"/>
          <p:cNvSpPr/>
          <p:nvPr/>
        </p:nvSpPr>
        <p:spPr>
          <a:xfrm>
            <a:off x="8046720" y="3931920"/>
            <a:ext cx="3611880" cy="2057400"/>
          </a:xfrm>
          <a:prstGeom prst="roundRect">
            <a:avLst>
              <a:gd name="adj" fmla="val 2667"/>
            </a:avLst>
          </a:prstGeom>
          <a:solidFill>
            <a:srgbClr val="EEF3FA"/>
          </a:solidFill>
          <a:ln w="9525">
            <a:solidFill>
              <a:srgbClr val="D7DEE8"/>
            </a:solidFill>
            <a:prstDash val="solid"/>
          </a:ln>
        </p:spPr>
      </p:sp>
      <p:sp>
        <p:nvSpPr>
          <p:cNvPr id="8" name="Panel title"/>
          <p:cNvSpPr txBox="1"/>
          <p:nvPr/>
        </p:nvSpPr>
        <p:spPr>
          <a:xfrm>
            <a:off x="8229600" y="4059936"/>
            <a:ext cx="32461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Why the bear case still works</a:t>
            </a:r>
            <a:endParaRPr lang="en-US" sz="1250" dirty="0"/>
          </a:p>
        </p:txBody>
      </p:sp>
      <p:sp>
        <p:nvSpPr>
          <p:cNvPr id="9" name="Panel body"/>
          <p:cNvSpPr txBox="1"/>
          <p:nvPr/>
        </p:nvSpPr>
        <p:spPr>
          <a:xfrm>
            <a:off x="8229600" y="4407408"/>
            <a:ext cx="3246120" cy="1472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Only the two spot ships move. Even at 2025 average earnings, the year before the tanker boom, the fleet returns 17.9%. The bull case has already been overtaken by the October market, so our upside is stated conservatively.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Sensitivity: the fleet stays above 16.8% even if both spot ships collapse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Sensitivity and Voyage_TCE; Singapore VLSFO September 2026 average $874.94/t (SIN series 542456).</a:t>
            </a:r>
            <a:endParaRPr lang="en-US" sz="85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914400"/>
        </p:xfrm>
        <a:graphic>
          <a:graphicData uri="http://schemas.openxmlformats.org/drawingml/2006/table">
            <a:tbl>
              <a:tblPr/>
              <a:tblGrid>
                <a:gridCol w="2286000"/>
                <a:gridCol w="1097280"/>
                <a:gridCol w="1097280"/>
                <a:gridCol w="1097280"/>
                <a:gridCol w="109728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#2 spot, $/day  →  Kamsarmax #2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Panel"/>
          <p:cNvSpPr/>
          <p:nvPr/>
        </p:nvSpPr>
        <p:spPr>
          <a:xfrm>
            <a:off x="502920" y="4343400"/>
            <a:ext cx="667512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471416"/>
            <a:ext cx="630936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Reading the grid</a:t>
            </a:r>
            <a:endParaRPr lang="en-US" sz="1350" dirty="0"/>
          </a:p>
        </p:txBody>
      </p:sp>
      <p:sp>
        <p:nvSpPr>
          <p:cNvPr id="8" name="Panel body"/>
          <p:cNvSpPr txBox="1"/>
          <p:nvPr/>
        </p:nvSpPr>
        <p:spPr>
          <a:xfrm>
            <a:off x="685800" y="4818888"/>
            <a:ext cx="630936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Every $1,000/day on both spot ships moves annual earnings by $0.7m (2 ships × 350 days). The worst cell, both ships at $15,000 and $13,000, still returns 16.8%. The return falls below 15% only if the two ships together earn less than $15,100/day.</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737360"/>
                <a:gridCol w="256032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Voyage cross-check: coal DBCT to Vizag</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Cargo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at $25.60/t, SAIL, 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$2.05m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Round voyage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39 days, 4,600 nm each way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848 t VLSFO at $874.94/t, $0.74m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$0.16m and 3.75%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Voyage 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about $27,400/day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$23,000/day: base case is conservative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Five shocks, five prepared answers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news #217187, #227049 (port fees), #227789 (Black Sea), #226856 (EU ETS review), #228241; USTR notice on the Section 301 suspension; SIN TC assessment series 48989 / 49108.</a:t>
            </a:r>
            <a:endParaRPr lang="en-US" sz="8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2743200"/>
                <a:gridCol w="2926080"/>
                <a:gridCol w="3108960"/>
              </a:tblGrid>
              <a:tr h="71323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Shock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Probability signal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Impact on the fleet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Our answer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Middle East ceasefire or sanctions relief, tanker rates collapse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The forward curve already prices it: Suezmax 1-year TC $140k against 3-year $64k</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We own no Suezmax; the Aframax 3-year charter is untouched; the MR spot leg falls, and the bear case already uses 2025 averages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Cash plus about $2.7m a month of fixed hire buys tankers once secondhand prices fall below newbuild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US and China port-fee suspension expires around 10 Nov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Dated event; USTR notice, news #217187 and #227049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China-built ships calling at US ports pay fees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five ships are Japan or Korea built; the premium is already in our purchase prices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Black Sea escalation blocks grain exports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Attacks on ships and ports continued through August and October, news #227789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Kamsarmax #2 loses one cargo source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Shift to Guinea bauxite and Australian coal; two September coal fixtures prove the cargo is there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Global recession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World seaborne trade already −0.4% in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three trades cool at once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60% of ship-days fixed, floor 17.9%; both spot ships can be fixed for a year within weeks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Carbon rules tighten (EU ETS, FuelEU, IMO)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EU ETS review opened, news #226856; FuelEU limits step up from 2030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Older, less efficient ships lose value and charterers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Only Eco ships under 10 years old; on time charter the charterer carries fuel and allowances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Charter expiry is timed against the delivery wave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(dataset L15), extracted 10 Oct 2026; fixture Torm Genesis 3 years at $40,000/day, 31 Aug 2026.</a:t>
            </a:r>
            <a:endParaRPr lang="en-US" sz="850" dirty="0"/>
          </a:p>
        </p:txBody>
      </p:sp>
      <p:sp>
        <p:nvSpPr>
          <p:cNvPr id="5" name="Delivery wave band"/>
          <p:cNvSpPr/>
          <p:nvPr/>
        </p:nvSpPr>
        <p:spPr>
          <a:xfrm>
            <a:off x="3091375" y="1783080"/>
            <a:ext cx="5711483" cy="3429000"/>
          </a:xfrm>
          <a:prstGeom prst="rect">
            <a:avLst/>
          </a:prstGeom>
          <a:solidFill>
            <a:srgbClr val="FBECEC"/>
          </a:solidFill>
          <a:ln w="12700">
            <a:solidFill>
              <a:srgbClr val="FBECEC"/>
            </a:solidFill>
            <a:prstDash val="solid"/>
          </a:ln>
        </p:spPr>
      </p:sp>
      <p:sp>
        <p:nvSpPr>
          <p:cNvPr id="6" name="Text 4"/>
          <p:cNvSpPr txBox="1"/>
          <p:nvPr/>
        </p:nvSpPr>
        <p:spPr>
          <a:xfrm>
            <a:off x="3182815" y="1828800"/>
            <a:ext cx="5528603" cy="274320"/>
          </a:xfrm>
          <a:prstGeom prst="rect">
            <a:avLst/>
          </a:prstGeom>
          <a:noFill/>
          <a:ln/>
        </p:spPr>
        <p:txBody>
          <a:bodyPr wrap="square" lIns="0" tIns="0" rIns="0" bIns="0" rtlCol="0" anchor="ctr"/>
          <a:lstStyle/>
          <a:p>
            <a:pPr indent="0" marL="0">
              <a:buNone/>
            </a:pPr>
            <a:r>
              <a:rPr lang="en-US" sz="1000" i="1" dirty="0">
                <a:solidFill>
                  <a:srgbClr val="C8102E"/>
                </a:solidFill>
                <a:latin typeface="Calibri" pitchFamily="34" charset="0"/>
                <a:ea typeface="Calibri" pitchFamily="34" charset="-122"/>
                <a:cs typeface="Calibri" pitchFamily="34" charset="-120"/>
              </a:rPr>
              <a:t>Delivery wave 2027 to 2028: Kamsarmax 171 ships in 2027, MR above 100 a year, LR2 62 and 71</a:t>
            </a:r>
            <a:endParaRPr lang="en-US" sz="1000" dirty="0"/>
          </a:p>
        </p:txBody>
      </p:sp>
      <p:sp>
        <p:nvSpPr>
          <p:cNvPr id="7" name="Tick"/>
          <p:cNvSpPr/>
          <p:nvPr/>
        </p:nvSpPr>
        <p:spPr>
          <a:xfrm>
            <a:off x="2377440" y="1737360"/>
            <a:ext cx="0" cy="3520440"/>
          </a:xfrm>
          <a:prstGeom prst="line">
            <a:avLst/>
          </a:prstGeom>
          <a:noFill/>
          <a:ln w="9525">
            <a:solidFill>
              <a:srgbClr val="D7DEE8"/>
            </a:solidFill>
            <a:prstDash val="dash"/>
          </a:ln>
        </p:spPr>
      </p:sp>
      <p:sp>
        <p:nvSpPr>
          <p:cNvPr id="8" name="Text 6"/>
          <p:cNvSpPr txBox="1"/>
          <p:nvPr/>
        </p:nvSpPr>
        <p:spPr>
          <a:xfrm>
            <a:off x="1920240"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Oct 2026</a:t>
            </a:r>
            <a:endParaRPr lang="en-US" sz="950" dirty="0"/>
          </a:p>
        </p:txBody>
      </p:sp>
      <p:sp>
        <p:nvSpPr>
          <p:cNvPr id="9" name="Tick"/>
          <p:cNvSpPr/>
          <p:nvPr/>
        </p:nvSpPr>
        <p:spPr>
          <a:xfrm>
            <a:off x="3091375" y="1737360"/>
            <a:ext cx="0" cy="3520440"/>
          </a:xfrm>
          <a:prstGeom prst="line">
            <a:avLst/>
          </a:prstGeom>
          <a:noFill/>
          <a:ln w="9525">
            <a:solidFill>
              <a:srgbClr val="D7DEE8"/>
            </a:solidFill>
            <a:prstDash val="dash"/>
          </a:ln>
        </p:spPr>
      </p:sp>
      <p:sp>
        <p:nvSpPr>
          <p:cNvPr id="10" name="Text 8"/>
          <p:cNvSpPr txBox="1"/>
          <p:nvPr/>
        </p:nvSpPr>
        <p:spPr>
          <a:xfrm>
            <a:off x="2634175"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2027</a:t>
            </a:r>
            <a:endParaRPr lang="en-US" sz="950" dirty="0"/>
          </a:p>
        </p:txBody>
      </p:sp>
      <p:sp>
        <p:nvSpPr>
          <p:cNvPr id="11" name="Tick"/>
          <p:cNvSpPr/>
          <p:nvPr/>
        </p:nvSpPr>
        <p:spPr>
          <a:xfrm>
            <a:off x="5947117" y="1737360"/>
            <a:ext cx="0" cy="3520440"/>
          </a:xfrm>
          <a:prstGeom prst="line">
            <a:avLst/>
          </a:prstGeom>
          <a:noFill/>
          <a:ln w="9525">
            <a:solidFill>
              <a:srgbClr val="D7DEE8"/>
            </a:solidFill>
            <a:prstDash val="dash"/>
          </a:ln>
        </p:spPr>
      </p:sp>
      <p:sp>
        <p:nvSpPr>
          <p:cNvPr id="12" name="Text 10"/>
          <p:cNvSpPr txBox="1"/>
          <p:nvPr/>
        </p:nvSpPr>
        <p:spPr>
          <a:xfrm>
            <a:off x="5489917"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2028</a:t>
            </a:r>
            <a:endParaRPr lang="en-US" sz="950" dirty="0"/>
          </a:p>
        </p:txBody>
      </p:sp>
      <p:sp>
        <p:nvSpPr>
          <p:cNvPr id="13" name="Tick"/>
          <p:cNvSpPr/>
          <p:nvPr/>
        </p:nvSpPr>
        <p:spPr>
          <a:xfrm>
            <a:off x="8802858" y="1737360"/>
            <a:ext cx="0" cy="3520440"/>
          </a:xfrm>
          <a:prstGeom prst="line">
            <a:avLst/>
          </a:prstGeom>
          <a:noFill/>
          <a:ln w="9525">
            <a:solidFill>
              <a:srgbClr val="D7DEE8"/>
            </a:solidFill>
            <a:prstDash val="dash"/>
          </a:ln>
        </p:spPr>
      </p:sp>
      <p:sp>
        <p:nvSpPr>
          <p:cNvPr id="14" name="Text 12"/>
          <p:cNvSpPr txBox="1"/>
          <p:nvPr/>
        </p:nvSpPr>
        <p:spPr>
          <a:xfrm>
            <a:off x="8345658"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2029</a:t>
            </a:r>
            <a:endParaRPr lang="en-US" sz="950" dirty="0"/>
          </a:p>
        </p:txBody>
      </p:sp>
      <p:sp>
        <p:nvSpPr>
          <p:cNvPr id="15" name="Tick"/>
          <p:cNvSpPr/>
          <p:nvPr/>
        </p:nvSpPr>
        <p:spPr>
          <a:xfrm>
            <a:off x="11420622" y="1737360"/>
            <a:ext cx="0" cy="3520440"/>
          </a:xfrm>
          <a:prstGeom prst="line">
            <a:avLst/>
          </a:prstGeom>
          <a:noFill/>
          <a:ln w="9525">
            <a:solidFill>
              <a:srgbClr val="D7DEE8"/>
            </a:solidFill>
            <a:prstDash val="dash"/>
          </a:ln>
        </p:spPr>
      </p:sp>
      <p:sp>
        <p:nvSpPr>
          <p:cNvPr id="16" name="Text 14"/>
          <p:cNvSpPr txBox="1"/>
          <p:nvPr/>
        </p:nvSpPr>
        <p:spPr>
          <a:xfrm>
            <a:off x="10963422"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Dec 2029</a:t>
            </a:r>
            <a:endParaRPr lang="en-US" sz="950" dirty="0"/>
          </a:p>
        </p:txBody>
      </p:sp>
      <p:sp>
        <p:nvSpPr>
          <p:cNvPr id="17" name="Text 15"/>
          <p:cNvSpPr txBox="1"/>
          <p:nvPr/>
        </p:nvSpPr>
        <p:spPr>
          <a:xfrm>
            <a:off x="502920" y="2221992"/>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#1</a:t>
            </a:r>
            <a:endParaRPr lang="en-US" sz="1150" dirty="0"/>
          </a:p>
        </p:txBody>
      </p:sp>
      <p:sp>
        <p:nvSpPr>
          <p:cNvPr id="18" name="Charter bar"/>
          <p:cNvSpPr/>
          <p:nvPr/>
        </p:nvSpPr>
        <p:spPr>
          <a:xfrm>
            <a:off x="2377440" y="2240280"/>
            <a:ext cx="2855742" cy="274320"/>
          </a:xfrm>
          <a:prstGeom prst="roundRect">
            <a:avLst>
              <a:gd name="adj" fmla="val 16667"/>
            </a:avLst>
          </a:prstGeom>
          <a:solidFill>
            <a:srgbClr val="142B4F"/>
          </a:solidFill>
          <a:ln w="12700">
            <a:solidFill>
              <a:srgbClr val="142B4F"/>
            </a:solidFill>
            <a:prstDash val="solid"/>
          </a:ln>
        </p:spPr>
      </p:sp>
      <p:sp>
        <p:nvSpPr>
          <p:cNvPr id="19" name="Text 17"/>
          <p:cNvSpPr txBox="1"/>
          <p:nvPr/>
        </p:nvSpPr>
        <p:spPr>
          <a:xfrm>
            <a:off x="2487168" y="2240280"/>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1-year TC, SUNCOR $30,000</a:t>
            </a:r>
            <a:endParaRPr lang="en-US" sz="950" dirty="0"/>
          </a:p>
        </p:txBody>
      </p:sp>
      <p:sp>
        <p:nvSpPr>
          <p:cNvPr id="20" name="Text 18"/>
          <p:cNvSpPr txBox="1"/>
          <p:nvPr/>
        </p:nvSpPr>
        <p:spPr>
          <a:xfrm>
            <a:off x="502920" y="2807208"/>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#1</a:t>
            </a:r>
            <a:endParaRPr lang="en-US" sz="1150" dirty="0"/>
          </a:p>
        </p:txBody>
      </p:sp>
      <p:sp>
        <p:nvSpPr>
          <p:cNvPr id="21" name="Charter bar"/>
          <p:cNvSpPr/>
          <p:nvPr/>
        </p:nvSpPr>
        <p:spPr>
          <a:xfrm>
            <a:off x="2377440" y="2825496"/>
            <a:ext cx="2855742" cy="274320"/>
          </a:xfrm>
          <a:prstGeom prst="roundRect">
            <a:avLst>
              <a:gd name="adj" fmla="val 16667"/>
            </a:avLst>
          </a:prstGeom>
          <a:solidFill>
            <a:srgbClr val="142B4F"/>
          </a:solidFill>
          <a:ln w="12700">
            <a:solidFill>
              <a:srgbClr val="142B4F"/>
            </a:solidFill>
            <a:prstDash val="solid"/>
          </a:ln>
        </p:spPr>
      </p:sp>
      <p:sp>
        <p:nvSpPr>
          <p:cNvPr id="22" name="Text 20"/>
          <p:cNvSpPr txBox="1"/>
          <p:nvPr/>
        </p:nvSpPr>
        <p:spPr>
          <a:xfrm>
            <a:off x="2487168" y="2825496"/>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12-month TC, CNR $22,000</a:t>
            </a:r>
            <a:endParaRPr lang="en-US" sz="950" dirty="0"/>
          </a:p>
        </p:txBody>
      </p:sp>
      <p:sp>
        <p:nvSpPr>
          <p:cNvPr id="23" name="Text 21"/>
          <p:cNvSpPr txBox="1"/>
          <p:nvPr/>
        </p:nvSpPr>
        <p:spPr>
          <a:xfrm>
            <a:off x="502920" y="3392424"/>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Aframax</a:t>
            </a:r>
            <a:endParaRPr lang="en-US" sz="1150" dirty="0"/>
          </a:p>
        </p:txBody>
      </p:sp>
      <p:sp>
        <p:nvSpPr>
          <p:cNvPr id="24" name="Charter bar"/>
          <p:cNvSpPr/>
          <p:nvPr/>
        </p:nvSpPr>
        <p:spPr>
          <a:xfrm>
            <a:off x="2377440" y="3410712"/>
            <a:ext cx="8567225" cy="274320"/>
          </a:xfrm>
          <a:prstGeom prst="roundRect">
            <a:avLst>
              <a:gd name="adj" fmla="val 16667"/>
            </a:avLst>
          </a:prstGeom>
          <a:solidFill>
            <a:srgbClr val="142B4F"/>
          </a:solidFill>
          <a:ln w="12700">
            <a:solidFill>
              <a:srgbClr val="142B4F"/>
            </a:solidFill>
            <a:prstDash val="solid"/>
          </a:ln>
        </p:spPr>
      </p:sp>
      <p:sp>
        <p:nvSpPr>
          <p:cNvPr id="25" name="Text 23"/>
          <p:cNvSpPr txBox="1"/>
          <p:nvPr/>
        </p:nvSpPr>
        <p:spPr>
          <a:xfrm>
            <a:off x="2487168" y="3410712"/>
            <a:ext cx="8384345"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3-year TC, AET benchmark $40,000</a:t>
            </a:r>
            <a:endParaRPr lang="en-US" sz="950" dirty="0"/>
          </a:p>
        </p:txBody>
      </p:sp>
      <p:sp>
        <p:nvSpPr>
          <p:cNvPr id="26" name="Text 24"/>
          <p:cNvSpPr txBox="1"/>
          <p:nvPr/>
        </p:nvSpPr>
        <p:spPr>
          <a:xfrm>
            <a:off x="502920" y="3977640"/>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#2</a:t>
            </a:r>
            <a:endParaRPr lang="en-US" sz="1150" dirty="0"/>
          </a:p>
        </p:txBody>
      </p:sp>
      <p:sp>
        <p:nvSpPr>
          <p:cNvPr id="27" name="Charter bar"/>
          <p:cNvSpPr/>
          <p:nvPr/>
        </p:nvSpPr>
        <p:spPr>
          <a:xfrm>
            <a:off x="2377440" y="3995928"/>
            <a:ext cx="9043182" cy="274320"/>
          </a:xfrm>
          <a:prstGeom prst="roundRect">
            <a:avLst>
              <a:gd name="adj" fmla="val 16667"/>
            </a:avLst>
          </a:prstGeom>
          <a:solidFill>
            <a:srgbClr val="9FB6D9"/>
          </a:solidFill>
          <a:ln w="12700">
            <a:solidFill>
              <a:srgbClr val="9FB6D9"/>
            </a:solidFill>
            <a:prstDash val="solid"/>
          </a:ln>
        </p:spPr>
      </p:sp>
      <p:sp>
        <p:nvSpPr>
          <p:cNvPr id="28" name="Text 26"/>
          <p:cNvSpPr txBox="1"/>
          <p:nvPr/>
        </p:nvSpPr>
        <p:spPr>
          <a:xfrm>
            <a:off x="2487168" y="3995928"/>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a year if MR spot stays below $20,000 for 8 weeks</a:t>
            </a:r>
            <a:endParaRPr lang="en-US" sz="950" dirty="0"/>
          </a:p>
        </p:txBody>
      </p:sp>
      <p:sp>
        <p:nvSpPr>
          <p:cNvPr id="29" name="Text 27"/>
          <p:cNvSpPr txBox="1"/>
          <p:nvPr/>
        </p:nvSpPr>
        <p:spPr>
          <a:xfrm>
            <a:off x="502920" y="4562856"/>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#2</a:t>
            </a:r>
            <a:endParaRPr lang="en-US" sz="1150" dirty="0"/>
          </a:p>
        </p:txBody>
      </p:sp>
      <p:sp>
        <p:nvSpPr>
          <p:cNvPr id="30" name="Charter bar"/>
          <p:cNvSpPr/>
          <p:nvPr/>
        </p:nvSpPr>
        <p:spPr>
          <a:xfrm>
            <a:off x="2377440" y="4581144"/>
            <a:ext cx="9043182" cy="274320"/>
          </a:xfrm>
          <a:prstGeom prst="roundRect">
            <a:avLst>
              <a:gd name="adj" fmla="val 16667"/>
            </a:avLst>
          </a:prstGeom>
          <a:solidFill>
            <a:srgbClr val="9FB6D9"/>
          </a:solidFill>
          <a:ln w="12700">
            <a:solidFill>
              <a:srgbClr val="9FB6D9"/>
            </a:solidFill>
            <a:prstDash val="solid"/>
          </a:ln>
        </p:spPr>
      </p:sp>
      <p:sp>
        <p:nvSpPr>
          <p:cNvPr id="31" name="Text 29"/>
          <p:cNvSpPr txBox="1"/>
          <p:nvPr/>
        </p:nvSpPr>
        <p:spPr>
          <a:xfrm>
            <a:off x="2487168" y="4581144"/>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12 months if BDI stays below 2,000 for 8 weeks</a:t>
            </a:r>
            <a:endParaRPr lang="en-US" sz="950" dirty="0"/>
          </a:p>
        </p:txBody>
      </p:sp>
      <p:sp>
        <p:nvSpPr>
          <p:cNvPr id="32" name="Panel"/>
          <p:cNvSpPr/>
          <p:nvPr/>
        </p:nvSpPr>
        <p:spPr>
          <a:xfrm>
            <a:off x="502920" y="5486400"/>
            <a:ext cx="11155680" cy="566928"/>
          </a:xfrm>
          <a:prstGeom prst="roundRect">
            <a:avLst>
              <a:gd name="adj" fmla="val 9677"/>
            </a:avLst>
          </a:prstGeom>
          <a:solidFill>
            <a:srgbClr val="EEF3FA"/>
          </a:solidFill>
          <a:ln w="9525">
            <a:solidFill>
              <a:srgbClr val="D7DEE8"/>
            </a:solidFill>
            <a:prstDash val="solid"/>
          </a:ln>
        </p:spPr>
      </p:sp>
      <p:sp>
        <p:nvSpPr>
          <p:cNvPr id="33" name="Panel body"/>
          <p:cNvSpPr txBox="1"/>
          <p:nvPr/>
        </p:nvSpPr>
        <p:spPr>
          <a:xfrm>
            <a:off x="685800" y="5614416"/>
            <a:ext cx="10789920" cy="329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MR #1 and Kamsarmax #1 expire around September 2027, before the wave peaks: renew or go spot one quarter ahead. The Aframax charter runs to 2029, across the whole wave; LR2 orders at 3.37 times the old LR2 fleet are the hidden competitor it hedges.</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we watch, when we act, and two weaknesses we state ourselves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dataset L6 (Hormuz transits), series 17259 (BDI), 543759 (MR Eco earnings), 534440 (product tanker orderbook); OPEX series 540687 / 540689 / 540683.</a:t>
            </a:r>
            <a:endParaRPr lang="en-US" sz="85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949440" cy="914400"/>
        </p:xfrm>
        <a:graphic>
          <a:graphicData uri="http://schemas.openxmlformats.org/drawingml/2006/table">
            <a:tbl>
              <a:tblPr/>
              <a:tblGrid>
                <a:gridCol w="3200400"/>
                <a:gridCol w="3749040"/>
              </a:tblGrid>
              <a:tr h="60350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Hormuz crude tanker transits above 50 a week for four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Normalisation signal. Our income is unchanged; start screening secondhand Suezmaxes with a target price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BDI below 2,000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Kamsarmax #2 on a 12-month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MR spot earnings below $20,000/day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MR #2 on a 1-year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Port-fee suspension not renewed in November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 action needed (Japan and Korea built); re-check charterers' US calling plans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Every Friday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One member scans the SIN weekly: fixtures, sanctions lists, ceasefire and tariff news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7680960" y="1463040"/>
            <a:ext cx="3977640" cy="1828800"/>
          </a:xfrm>
          <a:prstGeom prst="roundRect">
            <a:avLst>
              <a:gd name="adj" fmla="val 3000"/>
            </a:avLst>
          </a:prstGeom>
          <a:solidFill>
            <a:srgbClr val="FBECEC"/>
          </a:solidFill>
          <a:ln w="9525">
            <a:solidFill>
              <a:srgbClr val="F2C9C9"/>
            </a:solidFill>
            <a:prstDash val="solid"/>
          </a:ln>
        </p:spPr>
      </p:sp>
      <p:sp>
        <p:nvSpPr>
          <p:cNvPr id="7" name="Panel title"/>
          <p:cNvSpPr txBox="1"/>
          <p:nvPr/>
        </p:nvSpPr>
        <p:spPr>
          <a:xfrm>
            <a:off x="7863840" y="159105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1: MR orderbook</a:t>
            </a:r>
            <a:endParaRPr lang="en-US" sz="1350" dirty="0"/>
          </a:p>
        </p:txBody>
      </p:sp>
      <p:sp>
        <p:nvSpPr>
          <p:cNvPr id="8" name="Panel body"/>
          <p:cNvSpPr txBox="1"/>
          <p:nvPr/>
        </p:nvSpPr>
        <p:spPr>
          <a:xfrm>
            <a:off x="7863840" y="1938528"/>
            <a:ext cx="3611880" cy="124358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18% of dwt is high. We offset it with the purchase price (at replacement cost), with 2027 products demand (+6.3%) and with one MR fixed for a year.</a:t>
            </a:r>
            <a:endParaRPr lang="en-US" sz="1200" dirty="0"/>
          </a:p>
        </p:txBody>
      </p:sp>
      <p:sp>
        <p:nvSpPr>
          <p:cNvPr id="9" name="Panel"/>
          <p:cNvSpPr/>
          <p:nvPr/>
        </p:nvSpPr>
        <p:spPr>
          <a:xfrm>
            <a:off x="7680960" y="3474720"/>
            <a:ext cx="3977640" cy="2103120"/>
          </a:xfrm>
          <a:prstGeom prst="roundRect">
            <a:avLst>
              <a:gd name="adj" fmla="val 2609"/>
            </a:avLst>
          </a:prstGeom>
          <a:solidFill>
            <a:srgbClr val="FBECEC"/>
          </a:solidFill>
          <a:ln w="9525">
            <a:solidFill>
              <a:srgbClr val="F2C9C9"/>
            </a:solidFill>
            <a:prstDash val="solid"/>
          </a:ln>
        </p:spPr>
      </p:sp>
      <p:sp>
        <p:nvSpPr>
          <p:cNvPr id="10" name="Panel title"/>
          <p:cNvSpPr txBox="1"/>
          <p:nvPr/>
        </p:nvSpPr>
        <p:spPr>
          <a:xfrm>
            <a:off x="7863840" y="360273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2: a thin cash line</a:t>
            </a:r>
            <a:endParaRPr lang="en-US" sz="1350" dirty="0"/>
          </a:p>
        </p:txBody>
      </p:sp>
      <p:sp>
        <p:nvSpPr>
          <p:cNvPr id="11" name="Panel body"/>
          <p:cNvSpPr txBox="1"/>
          <p:nvPr/>
        </p:nvSpPr>
        <p:spPr>
          <a:xfrm>
            <a:off x="7863840" y="3950208"/>
            <a:ext cx="3611880" cy="151790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2% of capital is deliberate, because idle cash earns nothing in a strong market. It covers five months of OPEX, and fixed hire adds about $2.7m a month. A variant with one ship fewer and more cash is kept in reserve.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82296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822960" y="118872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Skip the peak. Buy value. Lock income.</a:t>
            </a:r>
            <a:endParaRPr lang="en-US" sz="3600" dirty="0"/>
          </a:p>
        </p:txBody>
      </p:sp>
      <p:sp>
        <p:nvSpPr>
          <p:cNvPr id="4" name="Number"/>
          <p:cNvSpPr/>
          <p:nvPr/>
        </p:nvSpPr>
        <p:spPr>
          <a:xfrm>
            <a:off x="868680" y="2377440"/>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86868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371600" y="233172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How we allocate</a:t>
            </a:r>
            <a:endParaRPr lang="en-US" sz="1500" dirty="0"/>
          </a:p>
        </p:txBody>
      </p:sp>
      <p:sp>
        <p:nvSpPr>
          <p:cNvPr id="7" name="Text 5"/>
          <p:cNvSpPr txBox="1"/>
          <p:nvPr/>
        </p:nvSpPr>
        <p:spPr>
          <a:xfrm>
            <a:off x="1371600" y="266090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Tankers 70%, dry bulk 28%, cash 2%: two MRs, one Aframax, two Kamsarmaxes, five ships at or near replacement cost.</a:t>
            </a:r>
            <a:endParaRPr lang="en-US" sz="1200" dirty="0"/>
          </a:p>
        </p:txBody>
      </p:sp>
      <p:sp>
        <p:nvSpPr>
          <p:cNvPr id="8" name="Number"/>
          <p:cNvSpPr/>
          <p:nvPr/>
        </p:nvSpPr>
        <p:spPr>
          <a:xfrm>
            <a:off x="868680" y="333756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868680" y="3337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371600" y="329184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p:txBody>
      </p:sp>
      <p:sp>
        <p:nvSpPr>
          <p:cNvPr id="11" name="Text 9"/>
          <p:cNvSpPr txBox="1"/>
          <p:nvPr/>
        </p:nvSpPr>
        <p:spPr>
          <a:xfrm>
            <a:off x="1371600" y="362102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We avoid Suezmax at 1.44 times newbuild and steep backwardation; we buy segments with the smallest orderbooks against their ageing fleets; we fix 60% of ship-days so the worst case still returns 17.9%.</a:t>
            </a:r>
            <a:endParaRPr lang="en-US" sz="1200" dirty="0"/>
          </a:p>
        </p:txBody>
      </p:sp>
      <p:sp>
        <p:nvSpPr>
          <p:cNvPr id="12" name="Number"/>
          <p:cNvSpPr/>
          <p:nvPr/>
        </p:nvSpPr>
        <p:spPr>
          <a:xfrm>
            <a:off x="868680" y="4297680"/>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868680" y="4297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371600" y="425196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the data says</a:t>
            </a:r>
            <a:endParaRPr lang="en-US" sz="1500" dirty="0"/>
          </a:p>
        </p:txBody>
      </p:sp>
      <p:sp>
        <p:nvSpPr>
          <p:cNvPr id="15" name="Text 13"/>
          <p:cNvSpPr txBox="1"/>
          <p:nvPr/>
        </p:nvSpPr>
        <p:spPr>
          <a:xfrm>
            <a:off x="1371600" y="458114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60 time series, 40 last-done transactions and 55 news items from Clarksons SIN, every figure with a series number and a screenshot. Base case 19.9%, expected value 20.0%, floor 17.9% before OPEX.</a:t>
            </a:r>
            <a:endParaRPr lang="en-US" sz="1200" dirty="0"/>
          </a:p>
        </p:txBody>
      </p:sp>
      <p:sp>
        <p:nvSpPr>
          <p:cNvPr id="16" name="Text 14"/>
          <p:cNvSpPr txBox="1"/>
          <p:nvPr/>
        </p:nvSpPr>
        <p:spPr>
          <a:xfrm>
            <a:off x="822960" y="5440680"/>
            <a:ext cx="10515600" cy="457200"/>
          </a:xfrm>
          <a:prstGeom prst="rect">
            <a:avLst/>
          </a:prstGeom>
          <a:noFill/>
          <a:ln/>
        </p:spPr>
        <p:txBody>
          <a:bodyPr wrap="square" lIns="0" tIns="0" rIns="0" bIns="0" rtlCol="0" anchor="ctr"/>
          <a:lstStyle/>
          <a:p>
            <a:pPr indent="0" marL="0">
              <a:buNone/>
            </a:pPr>
            <a:r>
              <a:rPr lang="en-US" sz="1600" i="1" dirty="0">
                <a:solidFill>
                  <a:srgbClr val="9FB6D9"/>
                </a:solidFill>
                <a:latin typeface="Cambria" pitchFamily="34" charset="0"/>
                <a:ea typeface="Cambria" pitchFamily="34" charset="-122"/>
                <a:cs typeface="Cambria" pitchFamily="34" charset="-120"/>
              </a:rPr>
              <a:t>We do not forecast the market. We lock the structure. Thank you, we welcome your questions.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210312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822960" y="24688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Reference pages for questions</a:t>
            </a:r>
            <a:endParaRPr lang="en-US" sz="4000" dirty="0"/>
          </a:p>
        </p:txBody>
      </p:sp>
      <p:sp>
        <p:nvSpPr>
          <p:cNvPr id="4" name="Text 2"/>
          <p:cNvSpPr txBox="1"/>
          <p:nvPr/>
        </p:nvSpPr>
        <p:spPr>
          <a:xfrm>
            <a:off x="822960" y="3429000"/>
            <a:ext cx="10515600" cy="1097280"/>
          </a:xfrm>
          <a:prstGeom prst="rect">
            <a:avLst/>
          </a:prstGeom>
          <a:noFill/>
          <a:ln/>
        </p:spPr>
        <p:txBody>
          <a:bodyPr wrap="square" lIns="0" tIns="0" rIns="0" bIns="0" rtlCol="0" anchor="t"/>
          <a:lstStyle/>
          <a:p>
            <a:pPr indent="0" marL="0">
              <a:buNone/>
            </a:pPr>
            <a:r>
              <a:rPr lang="en-US" sz="1300" dirty="0">
                <a:solidFill>
                  <a:srgbClr val="C9D6EA"/>
                </a:solidFill>
                <a:latin typeface="Calibri" pitchFamily="34" charset="0"/>
                <a:ea typeface="Calibri" pitchFamily="34" charset="-122"/>
                <a:cs typeface="Calibri" pitchFamily="34" charset="-120"/>
              </a:rPr>
              <a:t>A1 Fleet and orderbook detail  ·  A2 Deliveries and demolition by year  ·  A3 Sale and purchase records  ·  A4 Time-charter fixtures  ·  A5 Spot fixtures and voyage conversion  ·  A6 News evidence library  ·  A7 Earnings model structure  ·  A8 Course concepts applied  ·  A9 Glossary  ·  A10 Market backdrop charts</a:t>
            </a:r>
            <a:endParaRPr lang="en-US" sz="13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Fleet and orderbook detail, two bases side by side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Fleet Development and Orderbook series (dataset L4, Sep 2026 and 1 Oct 2026), Orderbook Delivery Schedule and Fleet Register age profile (L15, L16, 10 Oct 2026).</a:t>
            </a:r>
            <a:endParaRPr lang="en-US" sz="85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737360"/>
                <a:gridCol w="914400"/>
                <a:gridCol w="914400"/>
                <a:gridCol w="1234440"/>
                <a:gridCol w="1234440"/>
                <a:gridCol w="1005840"/>
                <a:gridCol w="1234440"/>
                <a:gridCol w="1554480"/>
                <a:gridCol w="132588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(1 Oct)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of fleet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Ships aged 20+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20+ fleet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MR 40 to 55k dwt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92.5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 (MR/Handy 25 to 55k)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0.65x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Aframax incl.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139.2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254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223 crude + 59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0.28x crude, 3.37x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Suezmax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113.8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Panamax and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282.1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463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38.6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618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0.76x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Handymax and Ultramax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4,574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35.8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754880"/>
            <a:ext cx="11155680" cy="1234440"/>
          </a:xfrm>
          <a:prstGeom prst="roundRect">
            <a:avLst>
              <a:gd name="adj" fmla="val 4444"/>
            </a:avLst>
          </a:prstGeom>
          <a:solidFill>
            <a:srgbClr val="EEF3FA"/>
          </a:solidFill>
          <a:ln w="9525">
            <a:solidFill>
              <a:srgbClr val="D7DEE8"/>
            </a:solidFill>
            <a:prstDash val="solid"/>
          </a:ln>
        </p:spPr>
      </p:sp>
      <p:sp>
        <p:nvSpPr>
          <p:cNvPr id="7" name="Panel title"/>
          <p:cNvSpPr txBox="1"/>
          <p:nvPr/>
        </p:nvSpPr>
        <p:spPr>
          <a:xfrm>
            <a:off x="685800" y="4882896"/>
            <a:ext cx="1078992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two bases</a:t>
            </a:r>
            <a:endParaRPr lang="en-US" sz="1350" dirty="0"/>
          </a:p>
        </p:txBody>
      </p:sp>
      <p:sp>
        <p:nvSpPr>
          <p:cNvPr id="8" name="Panel body"/>
          <p:cNvSpPr txBox="1"/>
          <p:nvPr/>
        </p:nvSpPr>
        <p:spPr>
          <a:xfrm>
            <a:off x="685800" y="5230368"/>
            <a:ext cx="10789920" cy="64922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dwt basis (Sep) is the standard orderbook ratio; the ship basis (10 Oct) is what the replacement test needs. Crude Aframax on its own is 8.4% of dwt and 62 ships; including LR2 the figure is 20.8%, because LR2 newbuilds can trade crude. That is why we hold one Aframax only and fix it for three years.</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A2</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Deliveries and demolition by year, ships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 540953 / 29984 / 39696 and demolition series 30291 / 540965 / 29967 / 39683, extracted 10 Oct 2026. Crude Aframax = Aframax tanker minus LR2. 2026 = year to date.</a:t>
            </a:r>
            <a:endParaRPr lang="en-US" sz="85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371600"/>
                <a:gridCol w="1554480"/>
                <a:gridCol w="960120"/>
                <a:gridCol w="1371600"/>
                <a:gridCol w="960120"/>
                <a:gridCol w="1371600"/>
                <a:gridCol w="960120"/>
                <a:gridCol w="1371600"/>
                <a:gridCol w="123444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Kamsarmax / Panamax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40 to 55k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Aframax crude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LR2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2021 to 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2026 YTD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153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5257800"/>
            <a:ext cx="11155680" cy="731520"/>
          </a:xfrm>
          <a:prstGeom prst="roundRect">
            <a:avLst>
              <a:gd name="adj" fmla="val 7500"/>
            </a:avLst>
          </a:prstGeom>
          <a:solidFill>
            <a:srgbClr val="EEF3FA"/>
          </a:solidFill>
          <a:ln w="9525">
            <a:solidFill>
              <a:srgbClr val="D7DEE8"/>
            </a:solidFill>
            <a:prstDash val="solid"/>
          </a:ln>
        </p:spPr>
      </p:sp>
      <p:sp>
        <p:nvSpPr>
          <p:cNvPr id="7" name="Panel body"/>
          <p:cNvSpPr txBox="1"/>
          <p:nvPr/>
        </p:nvSpPr>
        <p:spPr>
          <a:xfrm>
            <a:off x="685800" y="5385816"/>
            <a:ext cx="10789920" cy="493776"/>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Across 2021 to 2025, only 15% of new Kamsarmax tonnage was offset by scrapping and 25% of new MRs; crude Aframax scrapped two thirds of what it took delivery of. In 2026 scrapping has almost stopped in every segment.</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A3</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Sale and purchase records, 18 last-done transactions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by vessel type, extracted 12 Sep 2026. Prices undisclosed where the register shows none. * = en bloc resale of newbuildings.</a:t>
            </a:r>
            <a:endParaRPr lang="en-US" sz="85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508760"/>
                <a:gridCol w="731520"/>
                <a:gridCol w="548640"/>
                <a:gridCol w="2103120"/>
                <a:gridCol w="1188720"/>
                <a:gridCol w="1600200"/>
                <a:gridCol w="1600200"/>
              </a:tblGrid>
              <a:tr h="23774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Yard (country)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Price $m</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Seller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Buyer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Promise*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Prosper*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High Discovery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49,999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15.30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Japanese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d'Amico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Atlantic Eagle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47,128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Cido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Amaryllis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Sinopacific Dayang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61,171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Nantong COSCO KHI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Helikon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Tokyo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66,628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41.60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OBE Ships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Cape Benat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156,719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Jiangsu Rongsheng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62.50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Pareto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Lila Global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Hedda Knutsen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154,348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113.00 (TC incl.)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Knutsen NYK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KNOT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Bristol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157,077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Samho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Euronav</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01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Southern Reverence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108,534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Nissen Kaiun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24 Apr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Borneo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108,667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Laut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Penelop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115,091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Daewoo DSME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Lundqvist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05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Green Attitude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112,532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Aegean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Minerva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BBG Wuzhou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81,895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29.00 (auction)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CDB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Presinge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81,886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SwissMarine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Indian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Aquavita Aim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82,192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Oshima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38.00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Olive Shipmanagement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Medi Positano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81,661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d'Amico Dry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Greek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A4</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Time-charter fixtures, 16 last-done records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Highlighted rows are the five rates used in the earnings model.</a:t>
            </a:r>
            <a:endParaRPr lang="en-US" sz="85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600200"/>
                <a:gridCol w="731520"/>
                <a:gridCol w="548640"/>
                <a:gridCol w="1188720"/>
                <a:gridCol w="914400"/>
                <a:gridCol w="1234440"/>
                <a:gridCol w="914400"/>
                <a:gridCol w="21488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Charterer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Delivery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Rate $/day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PS Imabari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52,838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SUNCOR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Shoei Kisen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Challenge Pollux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50,068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EXXONMOBIL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NYK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SM Falcon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CLEARLAKE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25,500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Imagination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49,689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ESSAR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UK Cont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W-Lion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NOVA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Port Qasim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Yuan Hai Qing Han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63,776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CHINALAND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 to 10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20,750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JIC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Gramba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61,233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CTM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Dalian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Susesea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Monte Urbasa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74,500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Ibaizabal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Ithaki Warrior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159,962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TRAFIGURA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Baltic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14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86,000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Polembros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Kapsali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158,546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Centrofin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TP Spirit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114,139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53,250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Transpetrol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 Genesis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119,456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 Despina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109,990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07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Intensity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Yeosu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Aegean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03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XH Hope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84,998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CARGILL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to 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23,000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Zhejiang Xiehai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Kuala Lumpur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82,074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Maoming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9 to 11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21,000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A5</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Spot fixtures and the voyage-to-TCE conversion</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MT6102_Earnings_Model.xlsx sheet Voyage_TCE; Singapore VLSFO series 542456.</a:t>
            </a:r>
            <a:endParaRPr lang="en-US" sz="85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097280"/>
                <a:gridCol w="1554480"/>
                <a:gridCol w="548640"/>
                <a:gridCol w="1463040"/>
                <a:gridCol w="1737360"/>
                <a:gridCol w="1737360"/>
                <a:gridCol w="1280160"/>
                <a:gridCol w="1737360"/>
              </a:tblGrid>
              <a:tr h="32918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Vessel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Cargo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Discharge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Charterer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DBCT,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Vizag, India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$25.60/t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SAIL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09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Newcastle,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Hadong, Korea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$23.21/t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KEPCO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03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 Amethyst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West Africa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Mediterranean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WS210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SHELL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Barcelona Spirit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Brazil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Chile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WS388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PETROBRAS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Dee4 Juniper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Gasoline 37,000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Ventspils, Baltic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US Gulf</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WS105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VITOL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Pacific Cobalt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Gasoil 35,000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Singapore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Balikpapan, Indonesia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$1.2m lump sum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SEARIVER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2011680"/>
                <a:gridCol w="9144000"/>
              </a:tblGrid>
              <a:tr h="26517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 $25.60 = $2,048,000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Sea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4,600 nm laden at 12.5 kn + 4,600 nm ballast at 13 kn = 30.1 days; port 9 days; total 39.1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30.1 × 27 t + 9 × 4 t = 848 t × $874.94 = $742,000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$160,000 + 3.75% × $2,048,000 = $76,800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Net voyage result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$1,069,000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$1,069,000 ÷ 39.1 days = about $27,400/day, 19% above the $23,000 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A6</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News evidence library: which decision each item supports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Research news on SIN (article numbers shown), 55 items collected; the 19 below enter the argument. Tags: skip tanker, buy bulk, buy MR, buy Aframax, ship choice, risk.</a:t>
            </a:r>
            <a:endParaRPr lang="en-US" sz="85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005840"/>
                <a:gridCol w="3931920"/>
                <a:gridCol w="4754880"/>
                <a:gridCol w="1463040"/>
              </a:tblGrid>
              <a:tr h="21945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Clarksons headline and article number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Point and use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Supports</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04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Update No.3, #221824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Day 5 of the conflict, Hormuz transits collapse: the start of the tanker spike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Update: Disruption Doubling Up?, #227050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Red Sea attacks restart in 2026; VLCC Bab el-Mandeb transits fall; supports longer hauls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#228241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1,004 sanctioned tankers = 20% of crude tanker capacity (Aframax 35%)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#227115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adds 13 ships on 24 Jul: sanctions tighten month by month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Shipping Market Update, #226516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How the conflict feeds through to each segment's rates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and Iron Ore Exports Update, #224049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exports Jan to Apr +29%; Simandou ramping up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25 Jun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Markets Enjoying The Summer Sun, #225971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Clarksons confirms bulk at a two-year high: recovery stage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 Outlook, August 2026, #228048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Ore plus grain on the demand side, moderate ordering on supply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Bumper Year For Grain Trade (So Far), #227870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 a bumper grain year: basis for the Q4 spot 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Ship Recycling: Building Up An Overhang, #229922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Recycling under 0.5% of the fleet a year for five years; the overhang backs the replacement test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22 Dec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Seaborne Oil Trade: Bouncing Back, #219145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recovering since mid-2025: the MR turning point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In It For The Long Haul?, #191021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Refineries moving east lengthen product hauls: the MR long story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And Chinese Port Fees: Taking Stock, #216732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fees on China-built ships start, China retaliates: build country becomes a cost variable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30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US-China Policy: 30th Oct Update, #217187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One-year suspension on both sides; expiry around 10 Nov 2026 inside the presentation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Section 301 Tariff Update, #227049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Latest 301 developments ahead of the expiry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Review of the Emissions Trading Scheme, #226856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ETS review opens: the case for Eco ships under 10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Russia-Ukraine: Vessel and Infrastructure Attacks, #227789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Black Sea attacks hit oil and grain exports: cargo flexibility for Kamsarmax #2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13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BDI 2,801 (SIN series 17259, refreshed 15 Oct)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Dry bulk strong but off the September high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Torm orders six MR2s (industry news, not SIN)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leading owner still invests in MR; delivery after 2028, outside our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A7</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Earnings model structure: eight sheets, seven steps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every input cell carries its SIN series number or fixture.</a:t>
            </a:r>
            <a:endParaRPr lang="en-US" sz="850" dirty="0"/>
          </a:p>
        </p:txBody>
      </p:sp>
      <p:sp>
        <p:nvSpPr>
          <p:cNvPr id="5" name="Panel"/>
          <p:cNvSpPr/>
          <p:nvPr/>
        </p:nvSpPr>
        <p:spPr>
          <a:xfrm>
            <a:off x="502920" y="1463040"/>
            <a:ext cx="3566160" cy="1097280"/>
          </a:xfrm>
          <a:prstGeom prst="roundRect">
            <a:avLst>
              <a:gd name="adj" fmla="val 5000"/>
            </a:avLst>
          </a:prstGeom>
          <a:solidFill>
            <a:srgbClr val="EEF3FA"/>
          </a:solidFill>
          <a:ln w="9525">
            <a:solidFill>
              <a:srgbClr val="D7DEE8"/>
            </a:solidFill>
            <a:prstDash val="solid"/>
          </a:ln>
        </p:spPr>
      </p:sp>
      <p:sp>
        <p:nvSpPr>
          <p:cNvPr id="6" name="Panel title"/>
          <p:cNvSpPr txBox="1"/>
          <p:nvPr/>
        </p:nvSpPr>
        <p:spPr>
          <a:xfrm>
            <a:off x="68580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Inputs</a:t>
            </a:r>
            <a:endParaRPr lang="en-US" sz="1250" dirty="0"/>
          </a:p>
        </p:txBody>
      </p:sp>
      <p:sp>
        <p:nvSpPr>
          <p:cNvPr id="7" name="Panel body"/>
          <p:cNvSpPr txBox="1"/>
          <p:nvPr/>
        </p:nvSpPr>
        <p:spPr>
          <a:xfrm>
            <a:off x="68580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Every number used, with its source; yellow cells are assumptions</a:t>
            </a:r>
            <a:endParaRPr lang="en-US" sz="1050" dirty="0"/>
          </a:p>
        </p:txBody>
      </p:sp>
      <p:sp>
        <p:nvSpPr>
          <p:cNvPr id="8" name="Panel"/>
          <p:cNvSpPr/>
          <p:nvPr/>
        </p:nvSpPr>
        <p:spPr>
          <a:xfrm>
            <a:off x="4297680" y="1463040"/>
            <a:ext cx="3566160" cy="1097280"/>
          </a:xfrm>
          <a:prstGeom prst="roundRect">
            <a:avLst>
              <a:gd name="adj" fmla="val 5000"/>
            </a:avLst>
          </a:prstGeom>
          <a:solidFill>
            <a:srgbClr val="EEF3FA"/>
          </a:solidFill>
          <a:ln w="9525">
            <a:solidFill>
              <a:srgbClr val="D7DEE8"/>
            </a:solidFill>
            <a:prstDash val="solid"/>
          </a:ln>
        </p:spPr>
      </p:sp>
      <p:sp>
        <p:nvSpPr>
          <p:cNvPr id="9" name="Panel title"/>
          <p:cNvSpPr txBox="1"/>
          <p:nvPr/>
        </p:nvSpPr>
        <p:spPr>
          <a:xfrm>
            <a:off x="448056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Forecast</a:t>
            </a:r>
            <a:endParaRPr lang="en-US" sz="1250" dirty="0"/>
          </a:p>
        </p:txBody>
      </p:sp>
      <p:sp>
        <p:nvSpPr>
          <p:cNvPr id="10" name="Panel body"/>
          <p:cNvSpPr txBox="1"/>
          <p:nvPr/>
        </p:nvSpPr>
        <p:spPr>
          <a:xfrm>
            <a:off x="448056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Per-ship annual earnings, three scenarios, expected value, return, after-OPEX line</a:t>
            </a:r>
            <a:endParaRPr lang="en-US" sz="1050" dirty="0"/>
          </a:p>
        </p:txBody>
      </p:sp>
      <p:sp>
        <p:nvSpPr>
          <p:cNvPr id="11" name="Panel"/>
          <p:cNvSpPr/>
          <p:nvPr/>
        </p:nvSpPr>
        <p:spPr>
          <a:xfrm>
            <a:off x="8092440" y="1463040"/>
            <a:ext cx="3566160" cy="1097280"/>
          </a:xfrm>
          <a:prstGeom prst="roundRect">
            <a:avLst>
              <a:gd name="adj" fmla="val 5000"/>
            </a:avLst>
          </a:prstGeom>
          <a:solidFill>
            <a:srgbClr val="EEF3FA"/>
          </a:solidFill>
          <a:ln w="9525">
            <a:solidFill>
              <a:srgbClr val="D7DEE8"/>
            </a:solidFill>
            <a:prstDash val="solid"/>
          </a:ln>
        </p:spPr>
      </p:sp>
      <p:sp>
        <p:nvSpPr>
          <p:cNvPr id="12" name="Panel title"/>
          <p:cNvSpPr txBox="1"/>
          <p:nvPr/>
        </p:nvSpPr>
        <p:spPr>
          <a:xfrm>
            <a:off x="827532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Monthly</a:t>
            </a:r>
            <a:endParaRPr lang="en-US" sz="1250" dirty="0"/>
          </a:p>
        </p:txBody>
      </p:sp>
      <p:sp>
        <p:nvSpPr>
          <p:cNvPr id="13" name="Panel body"/>
          <p:cNvSpPr txBox="1"/>
          <p:nvPr/>
        </p:nvSpPr>
        <p:spPr>
          <a:xfrm>
            <a:off x="827532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The chosen scenario spread over 12 calendar months</a:t>
            </a:r>
            <a:endParaRPr lang="en-US" sz="1050" dirty="0"/>
          </a:p>
        </p:txBody>
      </p:sp>
      <p:sp>
        <p:nvSpPr>
          <p:cNvPr id="14" name="Panel"/>
          <p:cNvSpPr/>
          <p:nvPr/>
        </p:nvSpPr>
        <p:spPr>
          <a:xfrm>
            <a:off x="502920" y="2697480"/>
            <a:ext cx="3566160" cy="1097280"/>
          </a:xfrm>
          <a:prstGeom prst="roundRect">
            <a:avLst>
              <a:gd name="adj" fmla="val 5000"/>
            </a:avLst>
          </a:prstGeom>
          <a:solidFill>
            <a:srgbClr val="EEF3FA"/>
          </a:solidFill>
          <a:ln w="9525">
            <a:solidFill>
              <a:srgbClr val="D7DEE8"/>
            </a:solidFill>
            <a:prstDash val="solid"/>
          </a:ln>
        </p:spPr>
      </p:sp>
      <p:sp>
        <p:nvSpPr>
          <p:cNvPr id="15" name="Panel title"/>
          <p:cNvSpPr txBox="1"/>
          <p:nvPr/>
        </p:nvSpPr>
        <p:spPr>
          <a:xfrm>
            <a:off x="68580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Sensitivity</a:t>
            </a:r>
            <a:endParaRPr lang="en-US" sz="1250" dirty="0"/>
          </a:p>
        </p:txBody>
      </p:sp>
      <p:sp>
        <p:nvSpPr>
          <p:cNvPr id="16" name="Panel body"/>
          <p:cNvSpPr txBox="1"/>
          <p:nvPr/>
        </p:nvSpPr>
        <p:spPr>
          <a:xfrm>
            <a:off x="68580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Fleet earnings for any pair of spot rates</a:t>
            </a:r>
            <a:endParaRPr lang="en-US" sz="1050" dirty="0"/>
          </a:p>
        </p:txBody>
      </p:sp>
      <p:sp>
        <p:nvSpPr>
          <p:cNvPr id="17" name="Panel"/>
          <p:cNvSpPr/>
          <p:nvPr/>
        </p:nvSpPr>
        <p:spPr>
          <a:xfrm>
            <a:off x="4297680" y="2697480"/>
            <a:ext cx="3566160" cy="1097280"/>
          </a:xfrm>
          <a:prstGeom prst="roundRect">
            <a:avLst>
              <a:gd name="adj" fmla="val 5000"/>
            </a:avLst>
          </a:prstGeom>
          <a:solidFill>
            <a:srgbClr val="EEF3FA"/>
          </a:solidFill>
          <a:ln w="9525">
            <a:solidFill>
              <a:srgbClr val="D7DEE8"/>
            </a:solidFill>
            <a:prstDash val="solid"/>
          </a:ln>
        </p:spPr>
      </p:sp>
      <p:sp>
        <p:nvSpPr>
          <p:cNvPr id="18" name="Panel title"/>
          <p:cNvSpPr txBox="1"/>
          <p:nvPr/>
        </p:nvSpPr>
        <p:spPr>
          <a:xfrm>
            <a:off x="448056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Voyage_TCE</a:t>
            </a:r>
            <a:endParaRPr lang="en-US" sz="1250" dirty="0"/>
          </a:p>
        </p:txBody>
      </p:sp>
      <p:sp>
        <p:nvSpPr>
          <p:cNvPr id="19" name="Panel body"/>
          <p:cNvSpPr txBox="1"/>
          <p:nvPr/>
        </p:nvSpPr>
        <p:spPr>
          <a:xfrm>
            <a:off x="448056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Converts the coal fixture into a daily rate</a:t>
            </a:r>
            <a:endParaRPr lang="en-US" sz="1050" dirty="0"/>
          </a:p>
        </p:txBody>
      </p:sp>
      <p:sp>
        <p:nvSpPr>
          <p:cNvPr id="20" name="Panel"/>
          <p:cNvSpPr/>
          <p:nvPr/>
        </p:nvSpPr>
        <p:spPr>
          <a:xfrm>
            <a:off x="8092440" y="2697480"/>
            <a:ext cx="3566160" cy="1097280"/>
          </a:xfrm>
          <a:prstGeom prst="roundRect">
            <a:avLst>
              <a:gd name="adj" fmla="val 5000"/>
            </a:avLst>
          </a:prstGeom>
          <a:solidFill>
            <a:srgbClr val="EEF3FA"/>
          </a:solidFill>
          <a:ln w="9525">
            <a:solidFill>
              <a:srgbClr val="D7DEE8"/>
            </a:solidFill>
            <a:prstDash val="solid"/>
          </a:ln>
        </p:spPr>
      </p:sp>
      <p:sp>
        <p:nvSpPr>
          <p:cNvPr id="21" name="Panel title"/>
          <p:cNvSpPr txBox="1"/>
          <p:nvPr/>
        </p:nvSpPr>
        <p:spPr>
          <a:xfrm>
            <a:off x="827532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Notes and Sources</a:t>
            </a:r>
            <a:endParaRPr lang="en-US" sz="1250" dirty="0"/>
          </a:p>
        </p:txBody>
      </p:sp>
      <p:sp>
        <p:nvSpPr>
          <p:cNvPr id="22" name="Panel body"/>
          <p:cNvSpPr txBox="1"/>
          <p:nvPr/>
        </p:nvSpPr>
        <p:spPr>
          <a:xfrm>
            <a:off x="827532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Formula, caveats, series list</a:t>
            </a:r>
            <a:endParaRPr lang="en-US" sz="1050" dirty="0"/>
          </a:p>
        </p:txBody>
      </p:sp>
      <p:sp>
        <p:nvSpPr>
          <p:cNvPr id="23" name="Number"/>
          <p:cNvSpPr/>
          <p:nvPr/>
        </p:nvSpPr>
        <p:spPr>
          <a:xfrm>
            <a:off x="548640" y="4087368"/>
            <a:ext cx="237744" cy="237744"/>
          </a:xfrm>
          <a:prstGeom prst="ellipse">
            <a:avLst/>
          </a:prstGeom>
          <a:solidFill>
            <a:srgbClr val="142B4F"/>
          </a:solidFill>
          <a:ln w="12700">
            <a:solidFill>
              <a:srgbClr val="142B4F"/>
            </a:solidFill>
            <a:prstDash val="solid"/>
          </a:ln>
        </p:spPr>
      </p:sp>
      <p:sp>
        <p:nvSpPr>
          <p:cNvPr id="24" name="Number text"/>
          <p:cNvSpPr txBox="1"/>
          <p:nvPr/>
        </p:nvSpPr>
        <p:spPr>
          <a:xfrm>
            <a:off x="548640" y="408736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5" name="Text 23"/>
          <p:cNvSpPr txBox="1"/>
          <p:nvPr/>
        </p:nvSpPr>
        <p:spPr>
          <a:xfrm>
            <a:off x="914400" y="406908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Fix the rates: three ships at their fixture rates, two spot ships at the one-year fixture proxies</a:t>
            </a:r>
            <a:endParaRPr lang="en-US" sz="1050" dirty="0"/>
          </a:p>
        </p:txBody>
      </p:sp>
      <p:sp>
        <p:nvSpPr>
          <p:cNvPr id="26" name="Number"/>
          <p:cNvSpPr/>
          <p:nvPr/>
        </p:nvSpPr>
        <p:spPr>
          <a:xfrm>
            <a:off x="548640" y="4370832"/>
            <a:ext cx="237744" cy="237744"/>
          </a:xfrm>
          <a:prstGeom prst="ellipse">
            <a:avLst/>
          </a:prstGeom>
          <a:solidFill>
            <a:srgbClr val="142B4F"/>
          </a:solidFill>
          <a:ln w="12700">
            <a:solidFill>
              <a:srgbClr val="142B4F"/>
            </a:solidFill>
            <a:prstDash val="solid"/>
          </a:ln>
        </p:spPr>
      </p:sp>
      <p:sp>
        <p:nvSpPr>
          <p:cNvPr id="27" name="Number text"/>
          <p:cNvSpPr txBox="1"/>
          <p:nvPr/>
        </p:nvSpPr>
        <p:spPr>
          <a:xfrm>
            <a:off x="548640" y="437083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8" name="Text 26"/>
          <p:cNvSpPr txBox="1"/>
          <p:nvPr/>
        </p:nvSpPr>
        <p:spPr>
          <a:xfrm>
            <a:off x="914400" y="435254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Scenario values for the two spot ships: bear 2025 average, base fixture, bull latest week</a:t>
            </a:r>
            <a:endParaRPr lang="en-US" sz="1050" dirty="0"/>
          </a:p>
        </p:txBody>
      </p:sp>
      <p:sp>
        <p:nvSpPr>
          <p:cNvPr id="29" name="Number"/>
          <p:cNvSpPr/>
          <p:nvPr/>
        </p:nvSpPr>
        <p:spPr>
          <a:xfrm>
            <a:off x="548640" y="4654296"/>
            <a:ext cx="237744" cy="237744"/>
          </a:xfrm>
          <a:prstGeom prst="ellipse">
            <a:avLst/>
          </a:prstGeom>
          <a:solidFill>
            <a:srgbClr val="142B4F"/>
          </a:solidFill>
          <a:ln w="12700">
            <a:solidFill>
              <a:srgbClr val="142B4F"/>
            </a:solidFill>
            <a:prstDash val="solid"/>
          </a:ln>
        </p:spPr>
      </p:sp>
      <p:sp>
        <p:nvSpPr>
          <p:cNvPr id="30" name="Number text"/>
          <p:cNvSpPr txBox="1"/>
          <p:nvPr/>
        </p:nvSpPr>
        <p:spPr>
          <a:xfrm>
            <a:off x="548640" y="4654296"/>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1" name="Text 29"/>
          <p:cNvSpPr txBox="1"/>
          <p:nvPr/>
        </p:nvSpPr>
        <p:spPr>
          <a:xfrm>
            <a:off x="914400" y="4636008"/>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Each ship: rate × 350 days</a:t>
            </a:r>
            <a:endParaRPr lang="en-US" sz="1050" dirty="0"/>
          </a:p>
        </p:txBody>
      </p:sp>
      <p:sp>
        <p:nvSpPr>
          <p:cNvPr id="32" name="Number"/>
          <p:cNvSpPr/>
          <p:nvPr/>
        </p:nvSpPr>
        <p:spPr>
          <a:xfrm>
            <a:off x="548640" y="4937760"/>
            <a:ext cx="237744" cy="237744"/>
          </a:xfrm>
          <a:prstGeom prst="ellipse">
            <a:avLst/>
          </a:prstGeom>
          <a:solidFill>
            <a:srgbClr val="142B4F"/>
          </a:solidFill>
          <a:ln w="12700">
            <a:solidFill>
              <a:srgbClr val="142B4F"/>
            </a:solidFill>
            <a:prstDash val="solid"/>
          </a:ln>
        </p:spPr>
      </p:sp>
      <p:sp>
        <p:nvSpPr>
          <p:cNvPr id="33" name="Number text"/>
          <p:cNvSpPr txBox="1"/>
          <p:nvPr/>
        </p:nvSpPr>
        <p:spPr>
          <a:xfrm>
            <a:off x="548640" y="4937760"/>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4" name="Text 32"/>
          <p:cNvSpPr txBox="1"/>
          <p:nvPr/>
        </p:nvSpPr>
        <p:spPr>
          <a:xfrm>
            <a:off x="914400" y="4919472"/>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Add the five ships: $142,000 × 350 = $49.7m base</a:t>
            </a:r>
            <a:endParaRPr lang="en-US" sz="1050" dirty="0"/>
          </a:p>
        </p:txBody>
      </p:sp>
      <p:sp>
        <p:nvSpPr>
          <p:cNvPr id="35" name="Number"/>
          <p:cNvSpPr/>
          <p:nvPr/>
        </p:nvSpPr>
        <p:spPr>
          <a:xfrm>
            <a:off x="548640" y="5221224"/>
            <a:ext cx="237744" cy="237744"/>
          </a:xfrm>
          <a:prstGeom prst="ellipse">
            <a:avLst/>
          </a:prstGeom>
          <a:solidFill>
            <a:srgbClr val="142B4F"/>
          </a:solidFill>
          <a:ln w="12700">
            <a:solidFill>
              <a:srgbClr val="142B4F"/>
            </a:solidFill>
            <a:prstDash val="solid"/>
          </a:ln>
        </p:spPr>
      </p:sp>
      <p:sp>
        <p:nvSpPr>
          <p:cNvPr id="36" name="Number text"/>
          <p:cNvSpPr txBox="1"/>
          <p:nvPr/>
        </p:nvSpPr>
        <p:spPr>
          <a:xfrm>
            <a:off x="548640" y="5221224"/>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914400" y="5202936"/>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Divide by $250m: 19.9%; bear 17.9%, bull 23.7%</a:t>
            </a:r>
            <a:endParaRPr lang="en-US" sz="1050" dirty="0"/>
          </a:p>
        </p:txBody>
      </p:sp>
      <p:sp>
        <p:nvSpPr>
          <p:cNvPr id="38" name="Number"/>
          <p:cNvSpPr/>
          <p:nvPr/>
        </p:nvSpPr>
        <p:spPr>
          <a:xfrm>
            <a:off x="548640" y="5504688"/>
            <a:ext cx="237744" cy="237744"/>
          </a:xfrm>
          <a:prstGeom prst="ellipse">
            <a:avLst/>
          </a:prstGeom>
          <a:solidFill>
            <a:srgbClr val="142B4F"/>
          </a:solidFill>
          <a:ln w="12700">
            <a:solidFill>
              <a:srgbClr val="142B4F"/>
            </a:solidFill>
            <a:prstDash val="solid"/>
          </a:ln>
        </p:spPr>
      </p:sp>
      <p:sp>
        <p:nvSpPr>
          <p:cNvPr id="39" name="Number text"/>
          <p:cNvSpPr txBox="1"/>
          <p:nvPr/>
        </p:nvSpPr>
        <p:spPr>
          <a:xfrm>
            <a:off x="548640" y="550468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txBox="1"/>
          <p:nvPr/>
        </p:nvSpPr>
        <p:spPr>
          <a:xfrm>
            <a:off x="914400" y="548640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Weight 30 / 50 / 20: expected $50.1m, 20.0%</a:t>
            </a:r>
            <a:endParaRPr lang="en-US" sz="1050" dirty="0"/>
          </a:p>
        </p:txBody>
      </p:sp>
      <p:sp>
        <p:nvSpPr>
          <p:cNvPr id="41" name="Number"/>
          <p:cNvSpPr/>
          <p:nvPr/>
        </p:nvSpPr>
        <p:spPr>
          <a:xfrm>
            <a:off x="548640" y="5788152"/>
            <a:ext cx="237744" cy="237744"/>
          </a:xfrm>
          <a:prstGeom prst="ellipse">
            <a:avLst/>
          </a:prstGeom>
          <a:solidFill>
            <a:srgbClr val="142B4F"/>
          </a:solidFill>
          <a:ln w="12700">
            <a:solidFill>
              <a:srgbClr val="142B4F"/>
            </a:solidFill>
            <a:prstDash val="solid"/>
          </a:ln>
        </p:spPr>
      </p:sp>
      <p:sp>
        <p:nvSpPr>
          <p:cNvPr id="42" name="Number text"/>
          <p:cNvSpPr txBox="1"/>
          <p:nvPr/>
        </p:nvSpPr>
        <p:spPr>
          <a:xfrm>
            <a:off x="548640" y="578815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914400" y="576986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Deduct OPEX of $36,560/day × 350 = $12.8m for the after-OPEX reference: $36.9m, 14.8%</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A8</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Course concepts applied in the proposal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Concepts from the MT6102 lecture series; page references held in the group's working notes.</a:t>
            </a:r>
            <a:endParaRPr lang="en-US" sz="85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3840480"/>
                <a:gridCol w="7315200"/>
              </a:tblGrid>
              <a:tr h="42062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Concept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is used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Derived demand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Shipping demand follows cargo trade: Part 3 starts from bauxite, products and crude volumes, not from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Four shipping markets and the last-done convention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2: every price is the last transacted sale or fixture, the starting point of any negotiation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Cost split under a time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Owner pays capital and operating costs, charterer pays voyage costs: the before-OPEX convention and the fuel and allowance exposure of the fixed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Cycle stages and peak signals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Secondhand above newbuild, old ships chartered, rates many times OPEX, zero scrapping: the Suezmax diagnosis and the dry bulk recovery call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Ship price determinants, 5 to 6% a year depreciation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5-year-old against 10-year-old comparison and the replacement-cost ratio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Demand and supply five-factor model, tonne-miles and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3 structure; crude volumes −7.3% with average haul +3.3%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Supply is inelastic in the short run; build time one to four years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a Hormuz closure multiplies rates, and why the 2027 to 2028 wave is already fixed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Scrapping determinants: age, obsolescence, scrap price, earnings, expectations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scrapping stopped in 2025 and why the overhang will return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Financiers prefer predictable earnings; debt means fixed repayments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60% of ship-days fixed; all-equity base case; leverage optional later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Regulatory cost incidence and marginal abatement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Eco ships abate cheaply; on time charter the charterer carries fuel and allowances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A9</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Glossary</a:t>
            </a:r>
            <a:endParaRPr lang="en-US" sz="27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877824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Term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Time charter (TC)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charterer hires the ship for a period at a daily rate and pays voyage costs; the owner pays capital and operating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Spot / voyage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One voyage at a freight rate per tonne or in Worldscale; the owner pays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Time-charter equivalent: voyage income net of voyage costs, per day, comparable with a TC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Worldscale (WS)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Tanker freight index; WS100 is the published flat rate for the route, quotes are a percentage of 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Last done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most recent transaction at the time of extraction; the starting point of charter negotiations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Orderbook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Ships contracted but not yet delivered, as a share of the fleet in dwt or in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Tonne-miles,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Cargo tonnes times distance; average haul = tonne-miles ÷ tonnes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Crew, insurance, stores, repair and maintenance; excludes capital and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Eco ship</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Post-2013 design with lower fuel consumption; better placed under EU ETS and FuelEU</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BDI</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Baltic Dry Index, a weighted average of Capesize, Panamax and Supramax time-charter averages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Bulk carrier of about 80,000 to 85,000 dwt, the largest size Port Kamsar in Guinea can load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Replacement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newbuild price of an equivalent ship; secondhand above replacement cost signals over-trading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A10</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Market backdrop: a supply shock, and a reversible one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98801 / 546177 (crude volumes and earnings), L11 (sanctioned fleet), L6 (chokepoint transits), 534438 (crude orderbook); news #221824, #227050, #228241.</a:t>
            </a:r>
            <a:endParaRPr lang="en-US" sz="850" dirty="0"/>
          </a:p>
        </p:txBody>
      </p:sp>
      <p:pic>
        <p:nvPicPr>
          <p:cNvPr id="5" name="02_supply_shock.png" descr="/home/user/MT6102/charts_deck/02_supply_shock.png">    </p:cNvPr>
          <p:cNvPicPr>
            <a:picLocks noChangeAspect="1"/>
          </p:cNvPicPr>
          <p:nvPr/>
        </p:nvPicPr>
        <p:blipFill>
          <a:blip r:embed="rId1"/>
          <a:srcRect l="0" r="0" t="0" b="0"/>
          <a:stretch/>
        </p:blipFill>
        <p:spPr>
          <a:xfrm>
            <a:off x="502920" y="1463040"/>
            <a:ext cx="5486400" cy="2240280"/>
          </a:xfrm>
          <a:prstGeom prst="rect">
            <a:avLst/>
          </a:prstGeom>
        </p:spPr>
      </p:pic>
      <p:pic>
        <p:nvPicPr>
          <p:cNvPr id="6" name="09_chokepoints.png" descr="/home/user/MT6102/charts_deck/09_chokepoints.png">    </p:cNvPr>
          <p:cNvPicPr>
            <a:picLocks noChangeAspect="1"/>
          </p:cNvPicPr>
          <p:nvPr/>
        </p:nvPicPr>
        <p:blipFill>
          <a:blip r:embed="rId2"/>
          <a:srcRect l="0" r="0" t="0" b="0"/>
          <a:stretch/>
        </p:blipFill>
        <p:spPr>
          <a:xfrm>
            <a:off x="6172200" y="1463040"/>
            <a:ext cx="5486400" cy="2240280"/>
          </a:xfrm>
          <a:prstGeom prst="rect">
            <a:avLst/>
          </a:prstGeom>
        </p:spPr>
      </p:pic>
      <p:pic>
        <p:nvPicPr>
          <p:cNvPr id="7" name="10_sanctioned_fleet.png" descr="/home/user/MT6102/charts_deck/10_sanctioned_fleet.png">    </p:cNvPr>
          <p:cNvPicPr>
            <a:picLocks noChangeAspect="1"/>
          </p:cNvPicPr>
          <p:nvPr/>
        </p:nvPicPr>
        <p:blipFill>
          <a:blip r:embed="rId3"/>
          <a:srcRect l="0" r="0" t="0" b="0"/>
          <a:stretch/>
        </p:blipFill>
        <p:spPr>
          <a:xfrm>
            <a:off x="502920" y="3794760"/>
            <a:ext cx="5486400" cy="2240280"/>
          </a:xfrm>
          <a:prstGeom prst="rect">
            <a:avLst/>
          </a:prstGeom>
        </p:spPr>
      </p:pic>
      <p:pic>
        <p:nvPicPr>
          <p:cNvPr id="8" name="04_fleet_growth.png" descr="/home/user/MT6102/charts_deck/04_fleet_growth.png">    </p:cNvPr>
          <p:cNvPicPr>
            <a:picLocks noChangeAspect="1"/>
          </p:cNvPicPr>
          <p:nvPr/>
        </p:nvPicPr>
        <p:blipFill>
          <a:blip r:embed="rId4"/>
          <a:srcRect l="0" r="0" t="0" b="0"/>
          <a:stretch/>
        </p:blipFill>
        <p:spPr>
          <a:xfrm>
            <a:off x="6172200" y="3794760"/>
            <a:ext cx="5486400" cy="2240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MT6102 Proposal">
  <a:themeElements>
    <a:clrScheme name="MT6102 Proposal">
      <a:dk1>
        <a:srgbClr val="1A2433"/>
      </a:dk1>
      <a:lt1>
        <a:srgbClr val="FFFFFF"/>
      </a:lt1>
      <a:dk2>
        <a:srgbClr val="142B4F"/>
      </a:dk2>
      <a:lt2>
        <a:srgbClr val="EEF3FA"/>
      </a:lt2>
      <a:accent1>
        <a:srgbClr val="142B4F"/>
      </a:accent1>
      <a:accent2>
        <a:srgbClr val="C8102E"/>
      </a:accent2>
      <a:accent3>
        <a:srgbClr val="4A6FA5"/>
      </a:accent3>
      <a:accent4>
        <a:srgbClr val="9FB6D9"/>
      </a:accent4>
      <a:accent5>
        <a:srgbClr val="5A6472"/>
      </a:accent5>
      <a:accent6>
        <a:srgbClr val="C9D6EA"/>
      </a:accent6>
      <a:hlink>
        <a:srgbClr val="4A6FA5"/>
      </a:hlink>
      <a:folHlink>
        <a:srgbClr val="5A6472"/>
      </a:folHlink>
    </a:clrScheme>
    <a:fontScheme name="MT6102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 250 Million Shipping Investment Proposal</dc:title>
  <dc:subject>PptxGenJS Presentation</dc:subject>
  <dc:creator>MT6102 Group</dc:creator>
  <cp:lastModifiedBy>MT6102 Group</cp:lastModifiedBy>
  <cp:revision>1</cp:revision>
  <dcterms:created xsi:type="dcterms:W3CDTF">2026-10-15T15:11:20Z</dcterms:created>
  <dcterms:modified xsi:type="dcterms:W3CDTF">2026-10-15T15:11:20Z</dcterms:modified>
</cp:coreProperties>
</file>