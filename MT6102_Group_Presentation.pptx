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notesSlides/notesSlide14.xml" ContentType="application/vnd.openxmlformats-officedocument.presentationml.notesSlide+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notesSlides/notesSlide15.xml" ContentType="application/vnd.openxmlformats-officedocument.presentationml.notesSlide+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91" r:id="rId15"/>
    <p:sldId id="292" r:id="rId16"/>
    <p:sldId id="293"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7D6907E-7A03-D6A6-C201-94B05DAB1EE1}">
          <p14:sldIdLst>
            <p14:sldId id="256"/>
            <p14:sldId id="257"/>
          </p14:sldIdLst>
        </p14:section>
        <p14:section name="Part 1 The decision" id="{C1F5B71E-A208-39BC-5273-AEE60F181554}">
          <p14:sldIdLst>
            <p14:sldId id="258"/>
            <p14:sldId id="259"/>
            <p14:sldId id="260"/>
            <p14:sldId id="261"/>
          </p14:sldIdLst>
        </p14:section>
        <p14:section name="Part 2 Pricing basis" id="{880CDE4C-B172-7D9B-5914-34284AD4AA9E}">
          <p14:sldIdLst>
            <p14:sldId id="262"/>
            <p14:sldId id="263"/>
            <p14:sldId id="264"/>
          </p14:sldIdLst>
        </p14:section>
        <p14:section name="Part 3 Demand and supply" id="{6A5AC75F-2E92-CCBF-99C6-7DC076F159B1}">
          <p14:sldIdLst>
            <p14:sldId id="265"/>
            <p14:sldId id="266"/>
            <p14:sldId id="267"/>
            <p14:sldId id="268"/>
          </p14:sldIdLst>
        </p14:section>
        <p14:section name="Part 4 Market data and news" id="{31AEDE94-0B45-BED6-D54F-F15808E84506}">
          <p14:sldIdLst>
            <p14:sldId id="291"/>
            <p14:sldId id="292"/>
            <p14:sldId id="293"/>
          </p14:sldIdLst>
        </p14:section>
        <p14:section name="Part 5 Earnings" id="{C675A525-461C-04D0-FA18-7B006B576D06}">
          <p14:sldIdLst>
            <p14:sldId id="272"/>
            <p14:sldId id="273"/>
            <p14:sldId id="274"/>
            <p14:sldId id="275"/>
          </p14:sldIdLst>
        </p14:section>
        <p14:section name="Part 6 Shocks and mitigation" id="{5A6F828A-DF6D-94A4-458B-4F0CFA3AB86B}">
          <p14:sldIdLst>
            <p14:sldId id="276"/>
            <p14:sldId id="277"/>
            <p14:sldId id="278"/>
          </p14:sldIdLst>
        </p14:section>
        <p14:section name="Close" id="{099C4B46-E182-A81A-C54F-ED72280AF12D}">
          <p14:sldIdLst>
            <p14:sldId id="279"/>
          </p14:sldIdLst>
        </p14:section>
        <p14:section name="Appendix" id="{B305C4DF-0610-C85E-A7C7-EC37B61D81DF}">
          <p14:sldIdLst>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2" d="100"/>
          <a:sy n="102" d="100"/>
        </p:scale>
        <p:origin x="93" y="5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8810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(1 minute together with the agenda). The board asked for a USD 250m proposal. One sentence: buy five secondhand ships and keep a small cash reserve, fix three on period charters, trade two spot, and stay out of the large crude tanker market that has already peaked. Base case 19.9% before OPEX, bear case 17.9%. Purchase prices and base-case rates trace to Clarksons SIN sales and fixtures; the MR price is the SIN 5-year-old assessment, because no recent 5-year-old MR sale had a disclosed price. Bear and bull legs use SIN earnings series.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in the order of the brief: Part 1 answers tasks 1 and 2, Part 2 task 3, Parts 3 and 4 task 4, Part 5 task 5, Part 6 task 6. One chain: the decision needs prices, prices need fundamentals, fundamentals need market confirmation, then we compute earnings, and the shock plan protects the downside.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whole project: how much, why, which data. Why three fixed: in a stress test on SIN weekly spot earnings since 2010 (MR c2010 series 545055, because the MR Eco series starts in 2020; Kamsarmax Eco 533288), three is the fewest that keeps the fleet above 15% before OPEX in the worst 12 months (Nov 2011 to Oct 2012: 15.2% before OPEX, 10.1% after; with two fixed, 13.0% and 7.9%). If each spot ship takes its own worst year separately, 14.6%. Why one MR stays open: MR spot ($53,741) sits 25% above the October 1-year rate ($43,000), so the market expects a fall, the same reading as slide 14. The 1-year rate already prices that fall: in SIN data since 2014, in months when MR spot was 25% or more above the 1-year rate, spot over the next 12 months beat the 1-year rate about half the time (median +4% to +7%; small sample, 12 to 13 months in 7 episodes). So the open ship costs little in expectation, keeps the upside, and fixes if spot stays below $20,000 for 8 weeks.</a:t>
            </a:r>
          </a:p>
          <a:p>
            <a:r>
              <a:rPr lang="en-US" dirty="0"/>
              <a:t>If asked which is the floor: 17.9% is the lowest of our three scenarios (slides 19 and 24, 2025 averages); the stress test is a separate, harsher check. It agrees with slide 20: returns fall below 15% only if the two spot ships together earn under $15,100/day; the 2011 to 2012 pair earned $9,654 + $7,083 = $16,737, below slide 20's grid, which stops at $15,000 + $13,000. Aframax: the 3-year lock gives up about $4.6m of year-one income against the 1-year last done ($53,250, TP Spirit), 1.9 points, to keep income contracted through the wave; each $1,000/day less costs 0.14 points.</a:t>
            </a:r>
          </a:p>
          <a:p>
            <a:r>
              <a:rPr lang="en-US" dirty="0"/>
              <a:t>If asked whether the Aframax curve is steep too: yes, in October 1-year $89,375 against 3-year $37,500, which is why the Aframax takes no spot exposure and is fixed for three years at once. What separates it from Suezmax is price, 1.12x newbuild against 1.44x, and the lowest orderbook of our five segments.</a:t>
            </a:r>
          </a:p>
          <a:p>
            <a:r>
              <a:rPr lang="en-US" dirty="0"/>
              <a:t>If asked about Simandou (slide 10): its ore moves mainly in Capesizes, which tightens the whole bulk fleet.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 money 245m, cash 5m. Each row names the sale behind the price; for the MRs, with no recent 5-year-old sale at a disclosed price, the SIN assessment. All equity now, leverage optional later. The MRs are a purchase specification: 5-year-old, Eco, Japan or Korea built, for example Clearocean Hickory (2021, HD Hyundai Mipo) or Nord Mirai (2021, Minaminippon).</a:t>
            </a:r>
          </a:p>
          <a:p>
            <a:r>
              <a:rPr lang="en-US" dirty="0"/>
              <a:t>If asked about the October MR assessment of 52m: the same plan would cost 254m; we bid in the 50m to 52m range, and any excess comes from the cash line, which would fall to about 1m; fixed hire adds about 2.7m a month. Section 301: the fees target Chinese-built ships and Chinese owners or operators; with a non-Chinese owner our five ships pay none.</a:t>
            </a:r>
          </a:p>
          <a:p>
            <a:r>
              <a:rPr lang="en-US" dirty="0"/>
              <a:t>If asked about delivery timing: a ship bought in late October delivers in one to three months, and slide 17 removes one twelfth of the year per month of delay.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allows buying or chartering, so we costed three routes for both segments. Charter-in keeps only the spread over hire: Kamsarmax +0.35m a year in the base case (+0.49m in the bull case) and a 3.2m loss at 2025 earnings; MR a 1.05m loss in the base case.</a:t>
            </a:r>
          </a:p>
          <a:p>
            <a:r>
              <a:rPr lang="en-US" dirty="0"/>
              <a:t>If asked about our 30/50/20 weights: a chartered-in MR expects about +0.4m a year, against about 10.9m expected from owning one, and at the October 1-year rate of 43,000 the hire exceeds expected earnings. A newbuild earns nothing for 1.5 to 3 years. Secondhand prices in our segments sit at or near replacement cost; Suezmax is far above.</a:t>
            </a:r>
          </a:p>
          <a:p>
            <a:r>
              <a:rPr lang="en-US" dirty="0"/>
              <a:t>If asked about Kamsarmax #2 (2015, 11 years old, against slide 21's 'under 10 years'): it is Japan-built, Eco and scrubber-fitted, on spot the owner keeps the fuel saving, and four of the five ships are under 10 years old.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trades, one line each. MRs: products trade rebounds 6.3% in 2027 after an 8.9% dip in 2026, so 2027 volume (1,029 Mt) is still about 3% below 2025 (1,062 Mt); the average haul rose 19% from 2019 to 2024 and has been flat since. The spot MR goes where the cargo is, and the bear case already uses 2025 averages. Aframax: fixed for three years at the AET benchmark; we give up spot upside, about 4.6m in year one against the 1-year last done of 53,250 (TP Spirit), to keep income contracted through the wave. Kamsarmax #1: fixed 12 months; the charterer picks bauxite or coal.</a:t>
            </a:r>
          </a:p>
          <a:p>
            <a:r>
              <a:rPr lang="en-US" dirty="0"/>
              <a:t>If asked, Capesizes carry about 90% of Guinea bauxite (SIN #213368); their pull tightens the whole bulk fleet, and Kamsarmax takes the direct Port Kamsar loadings. Kamsarmax #2: Q4 grain, then bauxite and coal, with the BDI 2,000 trigger. Part 3 gives the demand chart behind each trade. Handover to Pricing group B.</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price family: purchase prices. Two 2018 Tsuneishi Aframaxes at about 75m (SIN marks them 'region' and 'excess'); two Japan-built Kamsarmax sales on 10 August; the China-built sister sold 2.75m cheaper the next day, a gap that includes port-fee risk and Medi Positano's scrubber. The latest MR sales in the register (7 to 14 Aug) include no 5-year-old ship with a disclosed price, so the MRs use the SIN assessment: 50m in September, 52m in October.</a:t>
            </a:r>
          </a:p>
          <a:p>
            <a:r>
              <a:rPr lang="en-US" dirty="0"/>
              <a:t>If asked whether the Aframax sales (April and May) are stale: SIN September assessments of 85m (5-year-old) and 72.5m (10-year-old) bracket an 8-year-old ship near this level; we price at last done as the brief asks, and the 3-year charter makes the asset financeable.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price family: charter rates. Every base-case rate is a real fixture from the four weeks before the 12 Sep cut; bear and bull use SIN earnings series. These are benchmarks from other owners' ships; we would fix our own ships at last-done levels with charterers of the same standing. Torm Genesis is 2011-built and got 40,000 for three years on 31 August; ours is 2018-built. CNR means the charterer was not reported. October: MR 1-year 43,000 against the 30,000 in our base, so the MR base case is conservative; a fixture at October levels, or the 2027 renewal, would earn more. The 43,000 is an assessment; we would fix at whatever is done on delivery. Kamsarmax 1-year 19,750 and Aframax 3-year 37,500 sit below our benchmarks. At October assessments the three fixed legs would earn about 2.9m more in total (MR +4.55m, Aframax -0.88m, Kamsarmax -0.79m). On slide 16, read 'Fixed leg has upside' this way.</a:t>
            </a:r>
          </a:p>
          <a:p>
            <a:r>
              <a:rPr lang="en-US" dirty="0"/>
              <a:t>If asked about age: Intensity (2026) and XH Hope (2022) are younger than our Kamsarmaxes; an age discount of 1,000 to 2,000 a day on Kamsarmax #1 would cost 0.14 to 0.28 points (the slide 20 grid varies only the spot ships).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family: freight rates, the explicit requirement of brief item 3. Our spot Kamsarmax carries Q4 grain and then coal; there is no grain voyage fixture in the cut, so the base keeps the XH Hope rate of 23,000. The coal fixture converts to about 27,400 a day at the September VLSFO average of 874.94 (one route, ballast leg included; a single fixture can sit above the SIN Kamsarmax earnings average, 24,484 in the week of 11 Sep). The MR fixtures cover the Atlantic and intra-Asia. MR spot holds some war premium: it rose from 35,804 to 53,741 between the weeks of 11 Sep and 9 Oct; the bear case uses the 2025 average of 22,950. The Suezmax lines are context only. Count: 16 transactions on slides 7 to 9 plus 1 SIN assessment; the appendix register holds 40. Link: Part 3 asks whether the fundamentals can hold these prices.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engines. Bauxite: volume and distance both grow. Products: refineries moving east stretch hauls. Crude: volumes fell but average haul rose, the course formula tonne-miles divided by tonnes explains why ships stay busy while cargo shrinks.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Fleet growth is deliveries minus scrapping. With earnings this high nobody scraps, so an overhang of old ships builds up, which Clarksons itself flagged on 9 October. Crude Aframax is the exception: more left than arrived in 2025.</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orderbook is already contracted, so 2027 and 2028 are known. Kamsarmax deliveries peak at 171 in 2027; MR runs above 100 a year; crude Aframax stays tiny; LR2 is the oversupplied one, and LR2s can switch into crude, which is why the Aframax is fixed for three years.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replacement test answers the obvious question: are the new ships net growth or just replacement? For our three segments the orderbook is smaller than the ships old enough to scrap. LR2 is the outlier and the hidden competitor to Aframax.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370CB-8C11-5181-8D9F-C118BFD3AC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7C106F-D53D-4EB8-7ABD-AC56D09E47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6776B6-6287-888A-19E1-48FD67D6A004}"/>
              </a:ext>
            </a:extLst>
          </p:cNvPr>
          <p:cNvSpPr>
            <a:spLocks noGrp="1"/>
          </p:cNvSpPr>
          <p:nvPr>
            <p:ph type="body" idx="1"/>
          </p:nvPr>
        </p:nvSpPr>
        <p:spPr/>
        <p:txBody>
          <a:bodyPr/>
          <a:lstStyle/>
          <a:p>
            <a:r>
              <a:rPr lang="en-US" altLang="zh-CN" dirty="0"/>
              <a:t>Suezmax earns the most and is the one segment we refuse. Two peak signals from the cycle framework are present: secondhand above newbuild, and steep backwardation between 1-year and 3-year rates. The cause is a supply shock: Hormuz transits and sanctions. Both can reverse quickly, so the rates can fall fast.</a:t>
            </a:r>
          </a:p>
        </p:txBody>
      </p:sp>
      <p:sp>
        <p:nvSpPr>
          <p:cNvPr id="4" name="Slide Number Placeholder 3">
            <a:extLst>
              <a:ext uri="{FF2B5EF4-FFF2-40B4-BE49-F238E27FC236}">
                <a16:creationId xmlns:a16="http://schemas.microsoft.com/office/drawing/2014/main" id="{94C67320-7AFA-D463-C99B-B2F36C966B3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6936069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Dry bulk prices are rising gently while rates have come off the September high. MR is at replacement cost, which is where we want to buy. We are honest about the MR orderbook at 18% of dwt and offset it with the price we pay and with demand growth.</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whether rates will rise or fall and why. We answer per segment, with the news that supports it. Every October change strengthens the diagnosis: the Suezmax peak is more extreme, MR fixed rates have moved above our fixture, dry bulk is firm but off its high.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formula. Three assumptions are stated up front so that questions land on known ground: operating days, the before-OPEX convention, and commission.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rows, one multiplication each. The fixed ships give 32.2m whatever happens; the spot ships add 17.5m in the base case. Base-case spot proxies are one-year fixtures, which are below current spot, so the base case is conservative.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scenarios change only two ships' rates. Bear takes the 2025 averages, base the last one-year fixtures, bull the latest week. The floor of 17.9% is the direct answer to the black-swan question: we do not forecast the market, we lock the structure.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checks. The grid shows the return for any pair of spot rates; the floor is 16.8%. The voyage conversion turns the last coal fixture into a daily rate using September bunker prices and confirms the base assumption is conservative.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shocks, each with a signal, an impact and a prepared answer. The ceasefire is the big one and it is the reason the portfolio avoids Suezmax. The port-fee expiry is a dated event inside the presentation window; we are immune by construction.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matters as much as rates. The two one-year charters end before the wave crests, so the decision point comes early. The Aframax is covered through the wave. Spot ships carry explicit triggers that convert them to period charters.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turn the plan into actions with numbers and dates. We name our own two weak points before anyone asks: the MR orderbook and the thin cash line, and we show how each is handled.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the same order as the opening: how we allocate, why, and what the data says. One sentence to end: we do not forecast the market, we lock the structure.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6473952"/>
            <a:ext cx="7772400" cy="274320"/>
          </a:xfrm>
          <a:prstGeom prst="rect">
            <a:avLst/>
          </a:prstGeom>
          <a:noFill/>
          <a:ln/>
        </p:spPr>
        <p:txBody>
          <a:bodyPr wrap="square" lIns="0" tIns="0" rIns="0" bIns="0" rtlCol="0" anchor="ctr"/>
          <a:lstStyle/>
          <a:p>
            <a:pPr marL="0" indent="0">
              <a:buNone/>
            </a:pPr>
            <a:r>
              <a:rPr lang="en-US" sz="900" dirty="0">
                <a:solidFill>
                  <a:srgbClr val="5A6472"/>
                </a:solidFill>
                <a:latin typeface="Calibri" pitchFamily="34" charset="0"/>
                <a:ea typeface="Calibri" pitchFamily="34" charset="-122"/>
                <a:cs typeface="Calibri" pitchFamily="34" charset="-120"/>
              </a:rPr>
              <a:t>MT6102 Maritime Economics  ·  USD 250m Group Investment Proposal</a:t>
            </a:r>
            <a:endParaRPr lang="en-US" sz="9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B4F"/>
        </a:solidFill>
        <a:effectLst/>
      </p:bgPr>
    </p:bg>
    <p:spTree>
      <p:nvGrpSpPr>
        <p:cNvPr id="1" name=""/>
        <p:cNvGrpSpPr/>
        <p:nvPr/>
      </p:nvGrpSpPr>
      <p:grpSpPr>
        <a:xfrm>
          <a:off x="0" y="0"/>
          <a:ext cx="0" cy="0"/>
          <a:chOff x="0" y="0"/>
          <a:chExt cx="0" cy="0"/>
        </a:xfrm>
      </p:grpSpPr>
      <p:sp>
        <p:nvSpPr>
          <p:cNvPr id="2" name="Text 0"/>
          <p:cNvSpPr/>
          <p:nvPr/>
        </p:nvSpPr>
        <p:spPr>
          <a:xfrm>
            <a:off x="502920" y="6473952"/>
            <a:ext cx="7772400" cy="274320"/>
          </a:xfrm>
          <a:prstGeom prst="rect">
            <a:avLst/>
          </a:prstGeom>
          <a:noFill/>
          <a:ln/>
        </p:spPr>
        <p:txBody>
          <a:bodyPr wrap="square" lIns="0" tIns="0" rIns="0" bIns="0" rtlCol="0" anchor="ctr"/>
          <a:lstStyle/>
          <a:p>
            <a:pPr marL="0" indent="0">
              <a:buNone/>
            </a:pPr>
            <a:r>
              <a:rPr lang="en-US" sz="900" dirty="0">
                <a:solidFill>
                  <a:srgbClr val="7F93B5"/>
                </a:solidFill>
                <a:latin typeface="Calibri" pitchFamily="34" charset="0"/>
                <a:ea typeface="Calibri" pitchFamily="34" charset="-122"/>
                <a:cs typeface="Calibri" pitchFamily="34" charset="-120"/>
              </a:rPr>
              <a:t>MT6102 Maritime Economics  ·  USD 250m Group Investment Proposal</a:t>
            </a:r>
            <a:endParaRPr lang="en-US" sz="9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image" Target="../media/image7.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notesSlide" Target="../notesSlides/notesSlide14.xml"/><Relationship Id="rId5" Type="http://schemas.openxmlformats.org/officeDocument/2006/relationships/tags" Target="../tags/tag5.xml"/><Relationship Id="rId10" Type="http://schemas.openxmlformats.org/officeDocument/2006/relationships/slideLayout" Target="../slideLayouts/slideLayout2.xml"/><Relationship Id="rId4" Type="http://schemas.openxmlformats.org/officeDocument/2006/relationships/tags" Target="../tags/tag4.xml"/><Relationship Id="rId9" Type="http://schemas.openxmlformats.org/officeDocument/2006/relationships/tags" Target="../tags/tag9.xml"/></Relationships>
</file>

<file path=ppt/slides/_rels/slide15.xml.rels><?xml version="1.0" encoding="UTF-8" standalone="yes"?>
<Relationships xmlns="http://schemas.openxmlformats.org/package/2006/relationships"><Relationship Id="rId8" Type="http://schemas.openxmlformats.org/officeDocument/2006/relationships/tags" Target="../tags/tag17.xml"/><Relationship Id="rId3" Type="http://schemas.openxmlformats.org/officeDocument/2006/relationships/tags" Target="../tags/tag12.xml"/><Relationship Id="rId7" Type="http://schemas.openxmlformats.org/officeDocument/2006/relationships/tags" Target="../tags/tag16.xml"/><Relationship Id="rId12" Type="http://schemas.openxmlformats.org/officeDocument/2006/relationships/image" Target="../media/image8.png"/><Relationship Id="rId2" Type="http://schemas.openxmlformats.org/officeDocument/2006/relationships/tags" Target="../tags/tag11.xml"/><Relationship Id="rId1" Type="http://schemas.openxmlformats.org/officeDocument/2006/relationships/tags" Target="../tags/tag10.xml"/><Relationship Id="rId6" Type="http://schemas.openxmlformats.org/officeDocument/2006/relationships/tags" Target="../tags/tag15.xml"/><Relationship Id="rId11" Type="http://schemas.openxmlformats.org/officeDocument/2006/relationships/notesSlide" Target="../notesSlides/notesSlide15.xml"/><Relationship Id="rId5" Type="http://schemas.openxmlformats.org/officeDocument/2006/relationships/tags" Target="../tags/tag14.xml"/><Relationship Id="rId10" Type="http://schemas.openxmlformats.org/officeDocument/2006/relationships/slideLayout" Target="../slideLayouts/slideLayout2.xml"/><Relationship Id="rId4" Type="http://schemas.openxmlformats.org/officeDocument/2006/relationships/tags" Target="../tags/tag13.xml"/><Relationship Id="rId9" Type="http://schemas.openxmlformats.org/officeDocument/2006/relationships/tags" Target="../tags/tag18.xml"/></Relationships>
</file>

<file path=ppt/slides/_rels/slide16.xml.rels><?xml version="1.0" encoding="UTF-8" standalone="yes"?>
<Relationships xmlns="http://schemas.openxmlformats.org/package/2006/relationships"><Relationship Id="rId8" Type="http://schemas.openxmlformats.org/officeDocument/2006/relationships/tags" Target="../tags/tag26.xml"/><Relationship Id="rId3" Type="http://schemas.openxmlformats.org/officeDocument/2006/relationships/tags" Target="../tags/tag21.xml"/><Relationship Id="rId7" Type="http://schemas.openxmlformats.org/officeDocument/2006/relationships/tags" Target="../tags/tag25.xml"/><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tags" Target="../tags/tag24.xml"/><Relationship Id="rId11" Type="http://schemas.openxmlformats.org/officeDocument/2006/relationships/notesSlide" Target="../notesSlides/notesSlide16.xml"/><Relationship Id="rId5" Type="http://schemas.openxmlformats.org/officeDocument/2006/relationships/tags" Target="../tags/tag23.xml"/><Relationship Id="rId10" Type="http://schemas.openxmlformats.org/officeDocument/2006/relationships/slideLayout" Target="../slideLayouts/slideLayout2.xml"/><Relationship Id="rId4" Type="http://schemas.openxmlformats.org/officeDocument/2006/relationships/tags" Target="../tags/tag22.xml"/><Relationship Id="rId9" Type="http://schemas.openxmlformats.org/officeDocument/2006/relationships/tags" Target="../tags/tag2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051560"/>
            <a:ext cx="10515600" cy="320040"/>
          </a:xfrm>
          <a:prstGeom prst="rect">
            <a:avLst/>
          </a:prstGeom>
          <a:noFill/>
          <a:ln/>
        </p:spPr>
        <p:txBody>
          <a:bodyPr wrap="square" lIns="0" tIns="0" rIns="0" bIns="0" rtlCol="0" anchor="ctr"/>
          <a:lstStyle/>
          <a:p>
            <a:pPr marL="0" indent="0">
              <a:buNone/>
            </a:pPr>
            <a:r>
              <a:rPr lang="en-US" sz="1200" b="1" kern="0" spc="300" dirty="0">
                <a:solidFill>
                  <a:srgbClr val="9FB6D9"/>
                </a:solidFill>
                <a:latin typeface="Calibri" pitchFamily="34" charset="0"/>
                <a:ea typeface="Calibri" pitchFamily="34" charset="-122"/>
                <a:cs typeface="Calibri" pitchFamily="34" charset="-120"/>
              </a:rPr>
              <a:t>MT6102 MARITIME ECONOMICS  ·  GROUP INVESTMENT PROPOSAL</a:t>
            </a:r>
            <a:endParaRPr lang="en-US" sz="1200" dirty="0"/>
          </a:p>
        </p:txBody>
      </p:sp>
      <p:sp>
        <p:nvSpPr>
          <p:cNvPr id="3" name="Text 1"/>
          <p:cNvSpPr txBox="1"/>
          <p:nvPr/>
        </p:nvSpPr>
        <p:spPr>
          <a:xfrm>
            <a:off x="822960" y="1554480"/>
            <a:ext cx="10515600" cy="173736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USD 250 Million</a:t>
            </a:r>
            <a:endParaRPr lang="en-US" sz="4400" dirty="0"/>
          </a:p>
          <a:p>
            <a:pPr marL="0" indent="0">
              <a:buNone/>
            </a:pPr>
            <a:r>
              <a:rPr lang="en-US" sz="4400" b="1" dirty="0">
                <a:solidFill>
                  <a:srgbClr val="FFFFFF"/>
                </a:solidFill>
                <a:latin typeface="Cambria" pitchFamily="34" charset="0"/>
                <a:ea typeface="Cambria" pitchFamily="34" charset="-122"/>
                <a:cs typeface="Cambria" pitchFamily="34" charset="-120"/>
              </a:rPr>
              <a:t>Shipping Investment Proposal</a:t>
            </a:r>
            <a:endParaRPr lang="en-US" sz="4400" dirty="0"/>
          </a:p>
        </p:txBody>
      </p:sp>
      <p:sp>
        <p:nvSpPr>
          <p:cNvPr id="4" name="Text 2"/>
          <p:cNvSpPr txBox="1"/>
          <p:nvPr/>
        </p:nvSpPr>
        <p:spPr>
          <a:xfrm>
            <a:off x="822960" y="3429000"/>
            <a:ext cx="10058400" cy="320040"/>
          </a:xfrm>
          <a:prstGeom prst="rect">
            <a:avLst/>
          </a:prstGeom>
          <a:noFill/>
          <a:ln/>
        </p:spPr>
        <p:txBody>
          <a:bodyPr wrap="square" lIns="0" tIns="0" rIns="0" bIns="0" rtlCol="0" anchor="t"/>
          <a:lstStyle/>
          <a:p>
            <a:pPr marL="0" indent="0">
              <a:buNone/>
            </a:pPr>
            <a:r>
              <a:rPr lang="en-US" sz="1700" dirty="0">
                <a:solidFill>
                  <a:srgbClr val="C9D6EA"/>
                </a:solidFill>
                <a:latin typeface="Calibri" pitchFamily="34" charset="0"/>
                <a:ea typeface="Calibri" pitchFamily="34" charset="-122"/>
                <a:cs typeface="Calibri" pitchFamily="34" charset="-120"/>
              </a:rPr>
              <a:t>Skip the peak, buy value, lock income: five secondhand ships, three fixed, two spot, USD 5m cash</a:t>
            </a:r>
            <a:endParaRPr lang="en-US" sz="1700" dirty="0"/>
          </a:p>
        </p:txBody>
      </p:sp>
      <p:sp>
        <p:nvSpPr>
          <p:cNvPr id="26" name="Result line"/>
          <p:cNvSpPr txBox="1"/>
          <p:nvPr/>
        </p:nvSpPr>
        <p:spPr>
          <a:xfrm>
            <a:off x="822960" y="3840480"/>
            <a:ext cx="10058400" cy="320040"/>
          </a:xfrm>
          <a:prstGeom prst="rect">
            <a:avLst/>
          </a:prstGeom>
          <a:noFill/>
          <a:ln/>
        </p:spPr>
        <p:txBody>
          <a:bodyPr wrap="square" lIns="0" tIns="0" rIns="0" bIns="0" rtlCol="0" anchor="t"/>
          <a:lstStyle/>
          <a:p>
            <a:pPr marL="0" indent="0">
              <a:buNone/>
            </a:pPr>
            <a:r>
              <a:rPr lang="en-US" sz="1500" dirty="0">
                <a:solidFill>
                  <a:srgbClr val="C9D6EA"/>
                </a:solidFill>
                <a:latin typeface="Calibri" pitchFamily="34" charset="0"/>
                <a:ea typeface="Calibri" pitchFamily="34" charset="-122"/>
                <a:cs typeface="Calibri" pitchFamily="34" charset="-120"/>
              </a:rPr>
              <a:t>Base case </a:t>
            </a:r>
            <a:r>
              <a:rPr lang="en-US" sz="1500" dirty="0" b="1">
                <a:solidFill>
                  <a:srgbClr val="FFFFFF"/>
                </a:solidFill>
                <a:latin typeface="Calibri" pitchFamily="34" charset="0"/>
                <a:ea typeface="Calibri" pitchFamily="34" charset="-122"/>
                <a:cs typeface="Calibri" pitchFamily="34" charset="-120"/>
              </a:rPr>
              <a:t>19.9%</a:t>
            </a:r>
            <a:r>
              <a:rPr lang="en-US" sz="1500" dirty="0">
                <a:solidFill>
                  <a:srgbClr val="C9D6EA"/>
                </a:solidFill>
                <a:latin typeface="Calibri" pitchFamily="34" charset="0"/>
                <a:ea typeface="Calibri" pitchFamily="34" charset="-122"/>
                <a:cs typeface="Calibri" pitchFamily="34" charset="-120"/>
              </a:rPr>
              <a:t> on USD 250m over 12 months, before OPEX; bear case </a:t>
            </a:r>
            <a:r>
              <a:rPr lang="en-US" sz="1500" dirty="0" b="1">
                <a:solidFill>
                  <a:srgbClr val="FFFFFF"/>
                </a:solidFill>
                <a:latin typeface="Calibri" pitchFamily="34" charset="0"/>
                <a:ea typeface="Calibri" pitchFamily="34" charset="-122"/>
                <a:cs typeface="Calibri" pitchFamily="34" charset="-120"/>
              </a:rPr>
              <a:t>17.9%</a:t>
            </a:r>
            <a:endParaRPr lang="en-US" sz="1500" dirty="0"/>
          </a:p>
        </p:txBody>
      </p:sp>
      <p:sp>
        <p:nvSpPr>
          <p:cNvPr id="5" name="Text 3"/>
          <p:cNvSpPr txBox="1"/>
          <p:nvPr/>
        </p:nvSpPr>
        <p:spPr>
          <a:xfrm>
            <a:off x="822960" y="4434840"/>
            <a:ext cx="10515600" cy="320040"/>
          </a:xfrm>
          <a:prstGeom prst="rect">
            <a:avLst/>
          </a:prstGeom>
          <a:noFill/>
          <a:ln/>
        </p:spPr>
        <p:txBody>
          <a:bodyPr wrap="square" lIns="0" tIns="0" rIns="0" bIns="0" rtlCol="0" anchor="ctr"/>
          <a:lstStyle/>
          <a:p>
            <a:pPr marL="0" indent="0">
              <a:buNone/>
            </a:pPr>
            <a:r>
              <a:rPr lang="en-US" sz="1300" dirty="0">
                <a:solidFill>
                  <a:srgbClr val="C9D6EA"/>
                </a:solidFill>
                <a:latin typeface="Calibri" pitchFamily="34" charset="0"/>
                <a:ea typeface="Calibri" pitchFamily="34" charset="-122"/>
                <a:cs typeface="Calibri" pitchFamily="34" charset="-120"/>
              </a:rPr>
              <a:t>Group X  ·  Semester 1 2026/27  ·  Group members and matriculation numbers to be added here (10 members)</a:t>
            </a:r>
            <a:endParaRPr lang="en-US" sz="1300" dirty="0"/>
          </a:p>
        </p:txBody>
      </p:sp>
      <p:sp>
        <p:nvSpPr>
          <p:cNvPr id="6" name="Text 4"/>
          <p:cNvSpPr txBox="1"/>
          <p:nvPr/>
        </p:nvSpPr>
        <p:spPr>
          <a:xfrm>
            <a:off x="822960" y="5029200"/>
            <a:ext cx="10058400" cy="731520"/>
          </a:xfrm>
          <a:prstGeom prst="rect">
            <a:avLst/>
          </a:prstGeom>
          <a:noFill/>
          <a:ln/>
        </p:spPr>
        <p:txBody>
          <a:bodyPr wrap="square" lIns="0" tIns="0" rIns="0" bIns="0" rtlCol="0" anchor="t"/>
          <a:lstStyle/>
          <a:p>
            <a:pPr marL="0" indent="0">
              <a:buNone/>
            </a:pPr>
            <a:r>
              <a:rPr lang="en-US" sz="1100" dirty="0">
                <a:solidFill>
                  <a:srgbClr val="7F93B5"/>
                </a:solidFill>
                <a:latin typeface="Calibri" pitchFamily="34" charset="0"/>
                <a:ea typeface="Calibri" pitchFamily="34" charset="-122"/>
                <a:cs typeface="Calibri" pitchFamily="34" charset="-120"/>
              </a:rPr>
              <a:t>Purchase prices and base-case charter and freight rates are last transacted sales and fixtures on the Clarksons Shipping Intelligence Network (SIN), except the MR price: no recent 5-year-old MR sale had a disclosed price, so it is the SIN assessment. Price series extracted 12 Sep 2026 and re-checked 15 Oct 2026; supply data extracted 10 Oct 2026.</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AGENDA</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Seven parts, in the order of the brief</a:t>
            </a:r>
            <a:endParaRPr lang="en-US" sz="2700" dirty="0"/>
          </a:p>
        </p:txBody>
      </p:sp>
      <p:sp>
        <p:nvSpPr>
          <p:cNvPr id="4" name="Number"/>
          <p:cNvSpPr/>
          <p:nvPr/>
        </p:nvSpPr>
        <p:spPr>
          <a:xfrm>
            <a:off x="548640" y="1490472"/>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5" name="Number text"/>
          <p:cNvSpPr txBox="1"/>
          <p:nvPr/>
        </p:nvSpPr>
        <p:spPr>
          <a:xfrm>
            <a:off x="548640" y="149047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051560" y="1444752"/>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The decision</a:t>
            </a:r>
            <a:endParaRPr lang="en-US" sz="1500" dirty="0"/>
          </a:p>
        </p:txBody>
      </p:sp>
      <p:sp>
        <p:nvSpPr>
          <p:cNvPr id="33" name="Brief tag"/>
          <p:cNvSpPr txBox="1"/>
          <p:nvPr/>
        </p:nvSpPr>
        <p:spPr>
          <a:xfrm>
            <a:off x="9829800" y="1444752"/>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1 and 2</a:t>
            </a:r>
            <a:endParaRPr lang="en-US" sz="1100" dirty="0"/>
          </a:p>
        </p:txBody>
      </p:sp>
      <p:sp>
        <p:nvSpPr>
          <p:cNvPr id="7" name="Text 5"/>
          <p:cNvSpPr txBox="1"/>
          <p:nvPr/>
        </p:nvSpPr>
        <p:spPr>
          <a:xfrm>
            <a:off x="1051560" y="1764792"/>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How the USD 250m is allocated, why each line is sized that way, and which data supports it. Five ships, four trades, one cash line.</a:t>
            </a:r>
            <a:endParaRPr lang="en-US" sz="1250" dirty="0"/>
          </a:p>
        </p:txBody>
      </p:sp>
      <p:sp>
        <p:nvSpPr>
          <p:cNvPr id="8" name="Number"/>
          <p:cNvSpPr/>
          <p:nvPr/>
        </p:nvSpPr>
        <p:spPr>
          <a:xfrm>
            <a:off x="548640" y="2148840"/>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9" name="Number text"/>
          <p:cNvSpPr txBox="1"/>
          <p:nvPr/>
        </p:nvSpPr>
        <p:spPr>
          <a:xfrm>
            <a:off x="548640" y="214884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51560" y="2103120"/>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Pricing basis</a:t>
            </a:r>
            <a:endParaRPr lang="en-US" sz="1500" dirty="0"/>
          </a:p>
        </p:txBody>
      </p:sp>
      <p:sp>
        <p:nvSpPr>
          <p:cNvPr id="34" name="Brief tag"/>
          <p:cNvSpPr txBox="1"/>
          <p:nvPr/>
        </p:nvSpPr>
        <p:spPr>
          <a:xfrm>
            <a:off x="9829800" y="2103120"/>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3</a:t>
            </a:r>
            <a:endParaRPr lang="en-US" sz="1100" dirty="0"/>
          </a:p>
        </p:txBody>
      </p:sp>
      <p:sp>
        <p:nvSpPr>
          <p:cNvPr id="11" name="Text 9"/>
          <p:cNvSpPr txBox="1"/>
          <p:nvPr/>
        </p:nvSpPr>
        <p:spPr>
          <a:xfrm>
            <a:off x="1051560" y="2423160"/>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Purchase prices, charter rates and freight rates from last-done SIN sales and fixtures; the MR price from the SIN assessment.</a:t>
            </a:r>
            <a:endParaRPr lang="en-US" sz="1250" dirty="0"/>
          </a:p>
        </p:txBody>
      </p:sp>
      <p:sp>
        <p:nvSpPr>
          <p:cNvPr id="12" name="Number"/>
          <p:cNvSpPr/>
          <p:nvPr/>
        </p:nvSpPr>
        <p:spPr>
          <a:xfrm>
            <a:off x="548640" y="2807208"/>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13" name="Number text"/>
          <p:cNvSpPr txBox="1"/>
          <p:nvPr/>
        </p:nvSpPr>
        <p:spPr>
          <a:xfrm>
            <a:off x="548640" y="280720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051560" y="2761488"/>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Demand and supply</a:t>
            </a:r>
            <a:endParaRPr lang="en-US" sz="1500" dirty="0"/>
          </a:p>
        </p:txBody>
      </p:sp>
      <p:sp>
        <p:nvSpPr>
          <p:cNvPr id="35" name="Brief tag"/>
          <p:cNvSpPr txBox="1"/>
          <p:nvPr/>
        </p:nvSpPr>
        <p:spPr>
          <a:xfrm>
            <a:off x="9829800" y="2761488"/>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4</a:t>
            </a:r>
            <a:endParaRPr lang="en-US" sz="1100" dirty="0"/>
          </a:p>
        </p:txBody>
      </p:sp>
      <p:sp>
        <p:nvSpPr>
          <p:cNvPr id="15" name="Text 13"/>
          <p:cNvSpPr txBox="1"/>
          <p:nvPr/>
        </p:nvSpPr>
        <p:spPr>
          <a:xfrm>
            <a:off x="1051560" y="3081528"/>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Three demand engines, deliveries against demolition, the 2027 to 2028 delivery wave, and a replacement test against the ageing fleet.</a:t>
            </a:r>
            <a:endParaRPr lang="en-US" sz="1250" dirty="0"/>
          </a:p>
        </p:txBody>
      </p:sp>
      <p:sp>
        <p:nvSpPr>
          <p:cNvPr id="16" name="Number"/>
          <p:cNvSpPr/>
          <p:nvPr/>
        </p:nvSpPr>
        <p:spPr>
          <a:xfrm>
            <a:off x="548640" y="3465576"/>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17" name="Number text"/>
          <p:cNvSpPr txBox="1"/>
          <p:nvPr/>
        </p:nvSpPr>
        <p:spPr>
          <a:xfrm>
            <a:off x="548640" y="346557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3419856"/>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Market data and news</a:t>
            </a:r>
            <a:endParaRPr lang="en-US" sz="1500" dirty="0"/>
          </a:p>
        </p:txBody>
      </p:sp>
      <p:sp>
        <p:nvSpPr>
          <p:cNvPr id="36" name="Brief tag"/>
          <p:cNvSpPr txBox="1"/>
          <p:nvPr/>
        </p:nvSpPr>
        <p:spPr>
          <a:xfrm>
            <a:off x="9829800" y="3419856"/>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4</a:t>
            </a:r>
            <a:endParaRPr lang="en-US" sz="1100" dirty="0"/>
          </a:p>
        </p:txBody>
      </p:sp>
      <p:sp>
        <p:nvSpPr>
          <p:cNvPr id="19" name="Text 17"/>
          <p:cNvSpPr txBox="1"/>
          <p:nvPr/>
        </p:nvSpPr>
        <p:spPr>
          <a:xfrm>
            <a:off x="1051560" y="3739896"/>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Suezmax peak signals, dry bulk off the high, MR at replacement cost, changes since 12 September, our rate call.</a:t>
            </a:r>
            <a:endParaRPr lang="en-US" sz="1250" dirty="0"/>
          </a:p>
        </p:txBody>
      </p:sp>
      <p:sp>
        <p:nvSpPr>
          <p:cNvPr id="20" name="Number"/>
          <p:cNvSpPr/>
          <p:nvPr/>
        </p:nvSpPr>
        <p:spPr>
          <a:xfrm>
            <a:off x="548640" y="4123944"/>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21" name="Number text"/>
          <p:cNvSpPr txBox="1"/>
          <p:nvPr/>
        </p:nvSpPr>
        <p:spPr>
          <a:xfrm>
            <a:off x="548640" y="412394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1051560" y="4078224"/>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Earnings</a:t>
            </a:r>
            <a:endParaRPr lang="en-US" sz="1500" dirty="0"/>
          </a:p>
        </p:txBody>
      </p:sp>
      <p:sp>
        <p:nvSpPr>
          <p:cNvPr id="37" name="Brief tag"/>
          <p:cNvSpPr txBox="1"/>
          <p:nvPr/>
        </p:nvSpPr>
        <p:spPr>
          <a:xfrm>
            <a:off x="9829800" y="4078224"/>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5</a:t>
            </a:r>
            <a:endParaRPr lang="en-US" sz="1100" dirty="0"/>
          </a:p>
        </p:txBody>
      </p:sp>
      <p:sp>
        <p:nvSpPr>
          <p:cNvPr id="23" name="Text 21"/>
          <p:cNvSpPr txBox="1"/>
          <p:nvPr/>
        </p:nvSpPr>
        <p:spPr>
          <a:xfrm>
            <a:off x="1051560" y="4398264"/>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One formula, the base case by vessel, three scenarios with an expected value, and sensitivity.</a:t>
            </a:r>
            <a:endParaRPr lang="en-US" sz="1250" dirty="0"/>
          </a:p>
        </p:txBody>
      </p:sp>
      <p:sp>
        <p:nvSpPr>
          <p:cNvPr id="24" name="Number"/>
          <p:cNvSpPr/>
          <p:nvPr/>
        </p:nvSpPr>
        <p:spPr>
          <a:xfrm>
            <a:off x="548640" y="4782312"/>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25" name="Number text"/>
          <p:cNvSpPr txBox="1"/>
          <p:nvPr/>
        </p:nvSpPr>
        <p:spPr>
          <a:xfrm>
            <a:off x="548640" y="478231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1051560" y="4736592"/>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Shocks and mitigation</a:t>
            </a:r>
            <a:endParaRPr lang="en-US" sz="1500" dirty="0"/>
          </a:p>
        </p:txBody>
      </p:sp>
      <p:sp>
        <p:nvSpPr>
          <p:cNvPr id="38" name="Brief tag"/>
          <p:cNvSpPr txBox="1"/>
          <p:nvPr/>
        </p:nvSpPr>
        <p:spPr>
          <a:xfrm>
            <a:off x="9829800" y="4736592"/>
            <a:ext cx="1828800" cy="329184"/>
          </a:xfrm>
          <a:prstGeom prst="rect">
            <a:avLst/>
          </a:prstGeom>
          <a:noFill/>
          <a:ln/>
        </p:spPr>
        <p:txBody>
          <a:bodyPr wrap="square" lIns="0" tIns="0" rIns="0" bIns="0" rtlCol="0" anchor="ctr"/>
          <a:lstStyle/>
          <a:p>
            <a:pPr marL="0" indent="0" algn="r">
              <a:buNone/>
            </a:pPr>
            <a:r>
              <a:rPr lang="en-US" sz="1100" b="0" dirty="0">
                <a:solidFill>
                  <a:srgbClr val="5A6472"/>
                </a:solidFill>
                <a:latin typeface="Calibri" pitchFamily="34" charset="0"/>
                <a:ea typeface="Calibri" pitchFamily="34" charset="-122"/>
                <a:cs typeface="Calibri" pitchFamily="34" charset="-120"/>
              </a:rPr>
              <a:t>Brief 6</a:t>
            </a:r>
            <a:endParaRPr lang="en-US" sz="1100" dirty="0"/>
          </a:p>
        </p:txBody>
      </p:sp>
      <p:sp>
        <p:nvSpPr>
          <p:cNvPr id="27" name="Text 25"/>
          <p:cNvSpPr txBox="1"/>
          <p:nvPr/>
        </p:nvSpPr>
        <p:spPr>
          <a:xfrm>
            <a:off x="1051560" y="5056632"/>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Five shocks, charter expiry timed against the delivery wave, and the triggers we watch.</a:t>
            </a:r>
            <a:endParaRPr lang="en-US" sz="1250" dirty="0"/>
          </a:p>
        </p:txBody>
      </p:sp>
      <p:sp>
        <p:nvSpPr>
          <p:cNvPr id="28" name="Number"/>
          <p:cNvSpPr/>
          <p:nvPr/>
        </p:nvSpPr>
        <p:spPr>
          <a:xfrm>
            <a:off x="548640" y="5440680"/>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29" name="Number text"/>
          <p:cNvSpPr txBox="1"/>
          <p:nvPr/>
        </p:nvSpPr>
        <p:spPr>
          <a:xfrm>
            <a:off x="548640" y="544068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0" name="Text 28"/>
          <p:cNvSpPr txBox="1"/>
          <p:nvPr/>
        </p:nvSpPr>
        <p:spPr>
          <a:xfrm>
            <a:off x="1051560" y="5394960"/>
            <a:ext cx="3657600" cy="329184"/>
          </a:xfrm>
          <a:prstGeom prst="rect">
            <a:avLst/>
          </a:prstGeom>
          <a:noFill/>
          <a:ln/>
        </p:spPr>
        <p:txBody>
          <a:bodyPr wrap="square" lIns="0" tIns="0" rIns="0" bIns="0" rtlCol="0" anchor="ctr"/>
          <a:lstStyle/>
          <a:p>
            <a:pPr marL="0" indent="0">
              <a:buNone/>
            </a:pPr>
            <a:r>
              <a:rPr lang="en-US" sz="1500" b="1" dirty="0">
                <a:solidFill>
                  <a:srgbClr val="142B4F"/>
                </a:solidFill>
                <a:latin typeface="Calibri" pitchFamily="34" charset="0"/>
                <a:ea typeface="Calibri" pitchFamily="34" charset="-122"/>
                <a:cs typeface="Calibri" pitchFamily="34" charset="-120"/>
              </a:rPr>
              <a:t>Conclusion</a:t>
            </a:r>
            <a:endParaRPr lang="en-US" sz="1500" dirty="0"/>
          </a:p>
        </p:txBody>
      </p:sp>
      <p:sp>
        <p:nvSpPr>
          <p:cNvPr id="31" name="Text 29"/>
          <p:cNvSpPr txBox="1"/>
          <p:nvPr/>
        </p:nvSpPr>
        <p:spPr>
          <a:xfrm>
            <a:off x="1051560" y="5715000"/>
            <a:ext cx="10424160" cy="310896"/>
          </a:xfrm>
          <a:prstGeom prst="rect">
            <a:avLst/>
          </a:prstGeom>
          <a:noFill/>
          <a:ln/>
        </p:spPr>
        <p:txBody>
          <a:bodyPr wrap="square" lIns="0" tIns="0" rIns="0" bIns="0" rtlCol="0" anchor="ctr"/>
          <a:lstStyle/>
          <a:p>
            <a:pPr marL="0" indent="0">
              <a:buNone/>
            </a:pPr>
            <a:r>
              <a:rPr lang="en-US" sz="1250" dirty="0">
                <a:solidFill>
                  <a:srgbClr val="1A2433"/>
                </a:solidFill>
                <a:latin typeface="Calibri" pitchFamily="34" charset="0"/>
                <a:ea typeface="Calibri" pitchFamily="34" charset="-122"/>
                <a:cs typeface="Calibri" pitchFamily="34" charset="-120"/>
              </a:rPr>
              <a:t>The same three questions in the same order: how we allocate, why, and what data says so.</a:t>
            </a:r>
            <a:endParaRPr lang="en-US" sz="1250" dirty="0"/>
          </a:p>
        </p:txBody>
      </p:sp>
      <p:sp>
        <p:nvSpPr>
          <p:cNvPr id="32"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USD 250m: 70% tankers, 28% dry bulk, 2% cash, 60% of days fixed</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Clarksons SIN series and fixture register, extracted 12 Sep 2026, spot anchors week of 9 Oct 2026, supply data 10 Oct 2026. Full series list in the appendix.</a:t>
            </a:r>
            <a:endParaRPr lang="en-US" sz="85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02920" y="1417320"/>
          <a:ext cx="11155680" cy="3691128"/>
        </p:xfrm>
        <a:graphic>
          <a:graphicData uri="http://schemas.openxmlformats.org/drawingml/2006/table">
            <a:tbl>
              <a:tblPr/>
              <a:tblGrid>
                <a:gridCol w="233172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Allocation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USD m (share)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Why this much</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Data behind the decision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0">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2× MR product tankers</a:t>
                      </a:r>
                      <a:endParaRPr lang="en-US" sz="1050" dirty="0">
                        <a:latin typeface="Calibri" charset="0"/>
                        <a:ea typeface="Calibri" charset="0"/>
                        <a:cs typeface="Calibri" charset="0"/>
                      </a:endParaRPr>
                    </a:p>
                    <a:p>
                      <a:pPr marL="0" indent="0">
                        <a:buNone/>
                      </a:pPr>
                      <a:r>
                        <a:rPr lang="en-US" sz="1050" b="0" dirty="0">
                          <a:solidFill>
                            <a:srgbClr val="1A2433"/>
                          </a:solidFill>
                          <a:latin typeface="Calibri" pitchFamily="34" charset="0"/>
                          <a:ea typeface="Calibri" pitchFamily="34" charset="-122"/>
                          <a:cs typeface="Calibri" pitchFamily="34" charset="-120"/>
                        </a:rPr>
                        <a:t>5-year-old Eco, 50k dwt. One on a 1-year TC at $30,000/day, one spot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200" b="1" dirty="0">
                          <a:solidFill>
                            <a:srgbClr val="C8102E"/>
                          </a:solidFill>
                          <a:latin typeface="Cambria" pitchFamily="34" charset="0"/>
                          <a:ea typeface="Cambria" pitchFamily="34" charset="-122"/>
                          <a:cs typeface="Cambria" pitchFamily="34" charset="-120"/>
                        </a:rPr>
                        <a:t>100 (40%)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100" dirty="0">
                          <a:solidFill>
                            <a:srgbClr val="1A2433"/>
                          </a:solidFill>
                          <a:latin typeface="Calibri" pitchFamily="34" charset="0"/>
                          <a:ea typeface="Calibri" pitchFamily="34" charset="-122"/>
                          <a:cs typeface="Calibri" pitchFamily="34" charset="-120"/>
                        </a:rPr>
                        <a:t>Closest to replacement cost: 5-yr-old $50m vs newbuild $52m in Sep (</a:t>
                      </a:r>
                      <a:r>
                        <a:rPr lang="en-US" sz="1100" dirty="0" b="1">
                          <a:solidFill>
                            <a:srgbClr val="1A2433"/>
                          </a:solidFill>
                          <a:latin typeface="Calibri" pitchFamily="34" charset="0"/>
                          <a:ea typeface="Calibri" pitchFamily="34" charset="-122"/>
                          <a:cs typeface="Calibri" pitchFamily="34" charset="-120"/>
                        </a:rPr>
                        <a:t>0.96x</a:t>
                      </a:r>
                      <a:r>
                        <a:rPr lang="en-US" sz="1100" dirty="0">
                          <a:solidFill>
                            <a:srgbClr val="1A2433"/>
                          </a:solidFill>
                          <a:latin typeface="Calibri" pitchFamily="34" charset="0"/>
                          <a:ea typeface="Calibri" pitchFamily="34" charset="-122"/>
                          <a:cs typeface="Calibri" pitchFamily="34" charset="-120"/>
                        </a:rPr>
                        <a:t>), </a:t>
                      </a:r>
                      <a:r>
                        <a:rPr lang="en-US" sz="1100" dirty="0" b="1">
                          <a:solidFill>
                            <a:srgbClr val="1A2433"/>
                          </a:solidFill>
                          <a:latin typeface="Calibri" pitchFamily="34" charset="0"/>
                          <a:ea typeface="Calibri" pitchFamily="34" charset="-122"/>
                          <a:cs typeface="Calibri" pitchFamily="34" charset="-120"/>
                        </a:rPr>
                        <a:t>0.99x</a:t>
                      </a:r>
                      <a:r>
                        <a:rPr lang="en-US" sz="1100" dirty="0">
                          <a:solidFill>
                            <a:srgbClr val="1A2433"/>
                          </a:solidFill>
                          <a:latin typeface="Calibri" pitchFamily="34" charset="0"/>
                          <a:ea typeface="Calibri" pitchFamily="34" charset="-122"/>
                          <a:cs typeface="Calibri" pitchFamily="34" charset="-120"/>
                        </a:rPr>
                        <a:t> in Oct. Products trade </a:t>
                      </a:r>
                      <a:r>
                        <a:rPr lang="en-US" sz="1100" dirty="0" b="1">
                          <a:solidFill>
                            <a:srgbClr val="1A2433"/>
                          </a:solidFill>
                          <a:latin typeface="Calibri" pitchFamily="34" charset="0"/>
                          <a:ea typeface="Calibri" pitchFamily="34" charset="-122"/>
                          <a:cs typeface="Calibri" pitchFamily="34" charset="-120"/>
                        </a:rPr>
                        <a:t>+6.3%</a:t>
                      </a:r>
                      <a:r>
                        <a:rPr lang="en-US" sz="1100" dirty="0">
                          <a:solidFill>
                            <a:srgbClr val="1A2433"/>
                          </a:solidFill>
                          <a:latin typeface="Calibri" pitchFamily="34" charset="0"/>
                          <a:ea typeface="Calibri" pitchFamily="34" charset="-122"/>
                          <a:cs typeface="Calibri" pitchFamily="34" charset="-120"/>
                        </a:rPr>
                        <a:t> in 2027F. Spot sits above the 1-yr rate, which already prices the expected fall, so the open ship costs little, keeps the upside and fixes if spot stays below </a:t>
                      </a:r>
                      <a:r>
                        <a:rPr lang="en-US" sz="1100" dirty="0" b="1">
                          <a:solidFill>
                            <a:srgbClr val="1A2433"/>
                          </a:solidFill>
                          <a:latin typeface="Calibri" pitchFamily="34" charset="0"/>
                          <a:ea typeface="Calibri" pitchFamily="34" charset="-122"/>
                          <a:cs typeface="Calibri" pitchFamily="34" charset="-120"/>
                        </a:rPr>
                        <a:t>$20,000</a:t>
                      </a:r>
                      <a:r>
                        <a:rPr lang="en-US" sz="1100" dirty="0">
                          <a:solidFill>
                            <a:srgbClr val="1A2433"/>
                          </a:solidFill>
                          <a:latin typeface="Calibri" pitchFamily="34" charset="0"/>
                          <a:ea typeface="Calibri" pitchFamily="34" charset="-122"/>
                          <a:cs typeface="Calibri" pitchFamily="34" charset="-120"/>
                        </a:rPr>
                        <a:t> for 8 weeks.</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Series 47130 / 71267 (prices), 98802 / 534403 (products trade), 541552 (1-yr TC), 543759 (MR Eco spot). Fixtures PS Imabari to SUNCOR $30,000 and Challenge Pollux to ExxonMobil $27,000, 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1× Aframax crude tanker</a:t>
                      </a:r>
                      <a:endParaRPr lang="en-US" sz="1050" dirty="0">
                        <a:latin typeface="Calibri" charset="0"/>
                        <a:ea typeface="Calibri" charset="0"/>
                        <a:cs typeface="Calibri" charset="0"/>
                      </a:endParaRPr>
                    </a:p>
                    <a:p>
                      <a:pPr marL="0" indent="0">
                        <a:buNone/>
                      </a:pPr>
                      <a:r>
                        <a:rPr lang="en-US" sz="1050" b="0" dirty="0">
                          <a:solidFill>
                            <a:srgbClr val="1A2433"/>
                          </a:solidFill>
                          <a:latin typeface="Calibri" pitchFamily="34" charset="0"/>
                          <a:ea typeface="Calibri" pitchFamily="34" charset="-122"/>
                          <a:cs typeface="Calibri" pitchFamily="34" charset="-120"/>
                        </a:rPr>
                        <a:t>2018 Japan-built, 110k dwt. 3-year TC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200" b="1" dirty="0">
                          <a:solidFill>
                            <a:srgbClr val="C8102E"/>
                          </a:solidFill>
                          <a:latin typeface="Cambria" pitchFamily="34" charset="0"/>
                          <a:ea typeface="Cambria" pitchFamily="34" charset="-122"/>
                          <a:cs typeface="Cambria" pitchFamily="34" charset="-120"/>
                        </a:rPr>
                        <a:t>75 (30%)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100" dirty="0">
                          <a:solidFill>
                            <a:srgbClr val="1A2433"/>
                          </a:solidFill>
                          <a:latin typeface="Calibri" pitchFamily="34" charset="0"/>
                          <a:ea typeface="Calibri" pitchFamily="34" charset="-122"/>
                          <a:cs typeface="Calibri" pitchFamily="34" charset="-120"/>
                        </a:rPr>
                        <a:t>Lowest orderbook of our five segments: crude Aframax </a:t>
                      </a:r>
                      <a:r>
                        <a:rPr lang="en-US" sz="1100" dirty="0" b="1">
                          <a:solidFill>
                            <a:srgbClr val="1A2433"/>
                          </a:solidFill>
                          <a:latin typeface="Calibri" pitchFamily="34" charset="0"/>
                          <a:ea typeface="Calibri" pitchFamily="34" charset="-122"/>
                          <a:cs typeface="Calibri" pitchFamily="34" charset="-120"/>
                        </a:rPr>
                        <a:t>8.4%</a:t>
                      </a:r>
                      <a:r>
                        <a:rPr lang="en-US" sz="1100" dirty="0">
                          <a:solidFill>
                            <a:srgbClr val="1A2433"/>
                          </a:solidFill>
                          <a:latin typeface="Calibri" pitchFamily="34" charset="0"/>
                          <a:ea typeface="Calibri" pitchFamily="34" charset="-122"/>
                          <a:cs typeface="Calibri" pitchFamily="34" charset="-120"/>
                        </a:rPr>
                        <a:t> of dwt, </a:t>
                      </a:r>
                      <a:r>
                        <a:rPr lang="en-US" sz="1100" dirty="0" b="1">
                          <a:solidFill>
                            <a:srgbClr val="1A2433"/>
                          </a:solidFill>
                          <a:latin typeface="Calibri" pitchFamily="34" charset="0"/>
                          <a:ea typeface="Calibri" pitchFamily="34" charset="-122"/>
                          <a:cs typeface="Calibri" pitchFamily="34" charset="-120"/>
                        </a:rPr>
                        <a:t>62</a:t>
                      </a:r>
                      <a:r>
                        <a:rPr lang="en-US" sz="1100" dirty="0">
                          <a:solidFill>
                            <a:srgbClr val="1A2433"/>
                          </a:solidFill>
                          <a:latin typeface="Calibri" pitchFamily="34" charset="0"/>
                          <a:ea typeface="Calibri" pitchFamily="34" charset="-122"/>
                          <a:cs typeface="Calibri" pitchFamily="34" charset="-120"/>
                        </a:rPr>
                        <a:t> ships on order vs </a:t>
                      </a:r>
                      <a:r>
                        <a:rPr lang="en-US" sz="1100" dirty="0" b="1">
                          <a:solidFill>
                            <a:srgbClr val="1A2433"/>
                          </a:solidFill>
                          <a:latin typeface="Calibri" pitchFamily="34" charset="0"/>
                          <a:ea typeface="Calibri" pitchFamily="34" charset="-122"/>
                          <a:cs typeface="Calibri" pitchFamily="34" charset="-120"/>
                        </a:rPr>
                        <a:t>223</a:t>
                      </a:r>
                      <a:r>
                        <a:rPr lang="en-US" sz="1100" dirty="0">
                          <a:solidFill>
                            <a:srgbClr val="1A2433"/>
                          </a:solidFill>
                          <a:latin typeface="Calibri" pitchFamily="34" charset="0"/>
                          <a:ea typeface="Calibri" pitchFamily="34" charset="-122"/>
                          <a:cs typeface="Calibri" pitchFamily="34" charset="-120"/>
                        </a:rPr>
                        <a:t> over 20 years old. A 3-yr TC at the last-done </a:t>
                      </a:r>
                      <a:r>
                        <a:rPr lang="en-US" sz="1100" dirty="0" b="1">
                          <a:solidFill>
                            <a:srgbClr val="1A2433"/>
                          </a:solidFill>
                          <a:latin typeface="Calibri" pitchFamily="34" charset="0"/>
                          <a:ea typeface="Calibri" pitchFamily="34" charset="-122"/>
                          <a:cs typeface="Calibri" pitchFamily="34" charset="-120"/>
                        </a:rPr>
                        <a:t>$40,000</a:t>
                      </a:r>
                      <a:r>
                        <a:rPr lang="en-US" sz="1100" dirty="0">
                          <a:solidFill>
                            <a:srgbClr val="1A2433"/>
                          </a:solidFill>
                          <a:latin typeface="Calibri" pitchFamily="34" charset="0"/>
                          <a:ea typeface="Calibri" pitchFamily="34" charset="-122"/>
                          <a:cs typeface="Calibri" pitchFamily="34" charset="-120"/>
                        </a:rPr>
                        <a:t> (Torm Genesis to AET, 31 Aug) keeps income contracted through the 2027 to 2028 wave. No Suezmax: </a:t>
                      </a:r>
                      <a:r>
                        <a:rPr lang="en-US" sz="1100" dirty="0" b="1">
                          <a:solidFill>
                            <a:srgbClr val="1A2433"/>
                          </a:solidFill>
                          <a:latin typeface="Calibri" pitchFamily="34" charset="0"/>
                          <a:ea typeface="Calibri" pitchFamily="34" charset="-122"/>
                          <a:cs typeface="Calibri" pitchFamily="34" charset="-120"/>
                        </a:rPr>
                        <a:t>1.44x</a:t>
                      </a:r>
                      <a:r>
                        <a:rPr lang="en-US" sz="1100" dirty="0">
                          <a:solidFill>
                            <a:srgbClr val="1A2433"/>
                          </a:solidFill>
                          <a:latin typeface="Calibri" pitchFamily="34" charset="0"/>
                          <a:ea typeface="Calibri" pitchFamily="34" charset="-122"/>
                          <a:cs typeface="Calibri" pitchFamily="34" charset="-120"/>
                        </a:rPr>
                        <a:t> newbuild vs </a:t>
                      </a:r>
                      <a:r>
                        <a:rPr lang="en-US" sz="1100" dirty="0" b="1">
                          <a:solidFill>
                            <a:srgbClr val="1A2433"/>
                          </a:solidFill>
                          <a:latin typeface="Calibri" pitchFamily="34" charset="0"/>
                          <a:ea typeface="Calibri" pitchFamily="34" charset="-122"/>
                          <a:cs typeface="Calibri" pitchFamily="34" charset="-120"/>
                        </a:rPr>
                        <a:t>1.12x</a:t>
                      </a:r>
                      <a:r>
                        <a:rPr lang="en-US" sz="1100" dirty="0">
                          <a:solidFill>
                            <a:srgbClr val="1A2433"/>
                          </a:solidFill>
                          <a:latin typeface="Calibri" pitchFamily="34" charset="0"/>
                          <a:ea typeface="Calibri" pitchFamily="34" charset="-122"/>
                          <a:cs typeface="Calibri" pitchFamily="34" charset="-120"/>
                        </a:rPr>
                        <a:t> for Aframax.</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Series 534456 (orderbook), 531168 (earnings), 38981 / 35905 and 87302 / 53070 (prices), 48989 / 49108 (Suezmax TC), datasets L13 to L16. Sales Southern Reverence and Pusaka Borneo at $75.0m.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2× Kamsarmax bulkers</a:t>
                      </a:r>
                      <a:endParaRPr lang="en-US" sz="1050" dirty="0">
                        <a:latin typeface="Calibri" charset="0"/>
                        <a:ea typeface="Calibri" charset="0"/>
                        <a:cs typeface="Calibri" charset="0"/>
                      </a:endParaRPr>
                    </a:p>
                    <a:p>
                      <a:pPr marL="0" indent="0">
                        <a:buNone/>
                      </a:pPr>
                      <a:r>
                        <a:rPr lang="en-US" sz="1050" b="0" dirty="0">
                          <a:solidFill>
                            <a:srgbClr val="1A2433"/>
                          </a:solidFill>
                          <a:latin typeface="Calibri" pitchFamily="34" charset="0"/>
                          <a:ea typeface="Calibri" pitchFamily="34" charset="-122"/>
                          <a:cs typeface="Calibri" pitchFamily="34" charset="-120"/>
                        </a:rPr>
                        <a:t>82k dwt, Japan-built 2019 and 2015. One on a 12-month TC at $22,000/day, one spot for the Q4 grain season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200" b="1" dirty="0">
                          <a:solidFill>
                            <a:srgbClr val="C8102E"/>
                          </a:solidFill>
                          <a:latin typeface="Cambria" pitchFamily="34" charset="0"/>
                          <a:ea typeface="Cambria" pitchFamily="34" charset="-122"/>
                          <a:cs typeface="Cambria" pitchFamily="34" charset="-120"/>
                        </a:rPr>
                        <a:t>70 (28%)</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100" dirty="0">
                          <a:solidFill>
                            <a:srgbClr val="1A2433"/>
                          </a:solidFill>
                          <a:latin typeface="Calibri" pitchFamily="34" charset="0"/>
                          <a:ea typeface="Calibri" pitchFamily="34" charset="-122"/>
                          <a:cs typeface="Calibri" pitchFamily="34" charset="-120"/>
                        </a:rPr>
                        <a:t>Strong but off the high: BDI </a:t>
                      </a:r>
                      <a:r>
                        <a:rPr lang="en-US" sz="1100" dirty="0" b="1">
                          <a:solidFill>
                            <a:srgbClr val="1A2433"/>
                          </a:solidFill>
                          <a:latin typeface="Calibri" pitchFamily="34" charset="0"/>
                          <a:ea typeface="Calibri" pitchFamily="34" charset="-122"/>
                          <a:cs typeface="Calibri" pitchFamily="34" charset="-120"/>
                        </a:rPr>
                        <a:t>2,801</a:t>
                      </a:r>
                      <a:r>
                        <a:rPr lang="en-US" sz="1100" dirty="0">
                          <a:solidFill>
                            <a:srgbClr val="1A2433"/>
                          </a:solidFill>
                          <a:latin typeface="Calibri" pitchFamily="34" charset="0"/>
                          <a:ea typeface="Calibri" pitchFamily="34" charset="-122"/>
                          <a:cs typeface="Calibri" pitchFamily="34" charset="-120"/>
                        </a:rPr>
                        <a:t> on 13 Oct, </a:t>
                      </a:r>
                      <a:r>
                        <a:rPr lang="en-US" sz="1100" dirty="0" b="1">
                          <a:solidFill>
                            <a:srgbClr val="1A2433"/>
                          </a:solidFill>
                          <a:latin typeface="Calibri" pitchFamily="34" charset="0"/>
                          <a:ea typeface="Calibri" pitchFamily="34" charset="-122"/>
                          <a:cs typeface="Calibri" pitchFamily="34" charset="-120"/>
                        </a:rPr>
                        <a:t>20%</a:t>
                      </a:r>
                      <a:r>
                        <a:rPr lang="en-US" sz="1100" dirty="0">
                          <a:solidFill>
                            <a:srgbClr val="1A2433"/>
                          </a:solidFill>
                          <a:latin typeface="Calibri" pitchFamily="34" charset="0"/>
                          <a:ea typeface="Calibri" pitchFamily="34" charset="-122"/>
                          <a:cs typeface="Calibri" pitchFamily="34" charset="-120"/>
                        </a:rPr>
                        <a:t> below 10 Sep; 5-yr-old </a:t>
                      </a:r>
                      <a:r>
                        <a:rPr lang="en-US" sz="1100" dirty="0" b="1">
                          <a:solidFill>
                            <a:srgbClr val="1A2433"/>
                          </a:solidFill>
                          <a:latin typeface="Calibri" pitchFamily="34" charset="0"/>
                          <a:ea typeface="Calibri" pitchFamily="34" charset="-122"/>
                          <a:cs typeface="Calibri" pitchFamily="34" charset="-120"/>
                        </a:rPr>
                        <a:t>9%</a:t>
                      </a:r>
                      <a:r>
                        <a:rPr lang="en-US" sz="1100" dirty="0">
                          <a:solidFill>
                            <a:srgbClr val="1A2433"/>
                          </a:solidFill>
                          <a:latin typeface="Calibri" pitchFamily="34" charset="0"/>
                          <a:ea typeface="Calibri" pitchFamily="34" charset="-122"/>
                          <a:cs typeface="Calibri" pitchFamily="34" charset="-120"/>
                        </a:rPr>
                        <a:t> above newbuild vs </a:t>
                      </a:r>
                      <a:r>
                        <a:rPr lang="en-US" sz="1100" dirty="0" b="1">
                          <a:solidFill>
                            <a:srgbClr val="1A2433"/>
                          </a:solidFill>
                          <a:latin typeface="Calibri" pitchFamily="34" charset="0"/>
                          <a:ea typeface="Calibri" pitchFamily="34" charset="-122"/>
                          <a:cs typeface="Calibri" pitchFamily="34" charset="-120"/>
                        </a:rPr>
                        <a:t>44%</a:t>
                      </a:r>
                      <a:r>
                        <a:rPr lang="en-US" sz="1100" dirty="0">
                          <a:solidFill>
                            <a:srgbClr val="1A2433"/>
                          </a:solidFill>
                          <a:latin typeface="Calibri" pitchFamily="34" charset="0"/>
                          <a:ea typeface="Calibri" pitchFamily="34" charset="-122"/>
                          <a:cs typeface="Calibri" pitchFamily="34" charset="-120"/>
                        </a:rPr>
                        <a:t> for Suezmax. Orderbook </a:t>
                      </a:r>
                      <a:r>
                        <a:rPr lang="en-US" sz="1100" dirty="0" b="1">
                          <a:solidFill>
                            <a:srgbClr val="1A2433"/>
                          </a:solidFill>
                          <a:latin typeface="Calibri" pitchFamily="34" charset="0"/>
                          <a:ea typeface="Calibri" pitchFamily="34" charset="-122"/>
                          <a:cs typeface="Calibri" pitchFamily="34" charset="-120"/>
                        </a:rPr>
                        <a:t>13.5%</a:t>
                      </a:r>
                      <a:r>
                        <a:rPr lang="en-US" sz="1100" dirty="0">
                          <a:solidFill>
                            <a:srgbClr val="1A2433"/>
                          </a:solidFill>
                          <a:latin typeface="Calibri" pitchFamily="34" charset="0"/>
                          <a:ea typeface="Calibri" pitchFamily="34" charset="-122"/>
                          <a:cs typeface="Calibri" pitchFamily="34" charset="-120"/>
                        </a:rPr>
                        <a:t> of ships; 2027 deliveries </a:t>
                      </a:r>
                      <a:r>
                        <a:rPr lang="en-US" sz="1100" dirty="0" b="1">
                          <a:solidFill>
                            <a:srgbClr val="1A2433"/>
                          </a:solidFill>
                          <a:latin typeface="Calibri" pitchFamily="34" charset="0"/>
                          <a:ea typeface="Calibri" pitchFamily="34" charset="-122"/>
                          <a:cs typeface="Calibri" pitchFamily="34" charset="-120"/>
                        </a:rPr>
                        <a:t>171</a:t>
                      </a:r>
                      <a:r>
                        <a:rPr lang="en-US" sz="1100" dirty="0">
                          <a:solidFill>
                            <a:srgbClr val="1A2433"/>
                          </a:solidFill>
                          <a:latin typeface="Calibri" pitchFamily="34" charset="0"/>
                          <a:ea typeface="Calibri" pitchFamily="34" charset="-122"/>
                          <a:cs typeface="Calibri" pitchFamily="34" charset="-120"/>
                        </a:rPr>
                        <a:t> vs </a:t>
                      </a:r>
                      <a:r>
                        <a:rPr lang="en-US" sz="1100" dirty="0" b="1">
                          <a:solidFill>
                            <a:srgbClr val="1A2433"/>
                          </a:solidFill>
                          <a:latin typeface="Calibri" pitchFamily="34" charset="0"/>
                          <a:ea typeface="Calibri" pitchFamily="34" charset="-122"/>
                          <a:cs typeface="Calibri" pitchFamily="34" charset="-120"/>
                        </a:rPr>
                        <a:t>618</a:t>
                      </a:r>
                      <a:r>
                        <a:rPr lang="en-US" sz="1100" dirty="0">
                          <a:solidFill>
                            <a:srgbClr val="1A2433"/>
                          </a:solidFill>
                          <a:latin typeface="Calibri" pitchFamily="34" charset="0"/>
                          <a:ea typeface="Calibri" pitchFamily="34" charset="-122"/>
                          <a:cs typeface="Calibri" pitchFamily="34" charset="-120"/>
                        </a:rPr>
                        <a:t> over 20 years old. Guinea bauxite </a:t>
                      </a:r>
                      <a:r>
                        <a:rPr lang="en-US" sz="1100" dirty="0" b="1">
                          <a:solidFill>
                            <a:srgbClr val="1A2433"/>
                          </a:solidFill>
                          <a:latin typeface="Calibri" pitchFamily="34" charset="0"/>
                          <a:ea typeface="Calibri" pitchFamily="34" charset="-122"/>
                          <a:cs typeface="Calibri" pitchFamily="34" charset="-120"/>
                        </a:rPr>
                        <a:t>+29%</a:t>
                      </a:r>
                      <a:r>
                        <a:rPr lang="en-US" sz="1100" dirty="0">
                          <a:solidFill>
                            <a:srgbClr val="1A2433"/>
                          </a:solidFill>
                          <a:latin typeface="Calibri" pitchFamily="34" charset="0"/>
                          <a:ea typeface="Calibri" pitchFamily="34" charset="-122"/>
                          <a:cs typeface="Calibri" pitchFamily="34" charset="-120"/>
                        </a:rPr>
                        <a:t> y/y (Jan to Apr).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Series 17259 (BDI), 540721 / 70747 (prices), 557125, 534400 / 547349, 533288; datasets L15, L16; news #224049. Sales Aquavita Aim $38.0m and Medi Positano $32.0m. Fixtures Intensity $22,000 (charterer not reported), XH Hope to Cargill $23,000.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Cash reserve</a:t>
                      </a:r>
                      <a:endParaRPr lang="en-US" sz="1050" dirty="0">
                        <a:latin typeface="Calibri" charset="0"/>
                        <a:ea typeface="Calibri" charset="0"/>
                        <a:cs typeface="Calibri" charset="0"/>
                      </a:endParaRPr>
                    </a:p>
                    <a:p>
                      <a:pPr marL="0" indent="0">
                        <a:buNone/>
                      </a:pPr>
                      <a:r>
                        <a:rPr lang="en-US" sz="1050" b="0" dirty="0">
                          <a:solidFill>
                            <a:srgbClr val="1A2433"/>
                          </a:solidFill>
                          <a:latin typeface="Calibri" pitchFamily="34" charset="0"/>
                          <a:ea typeface="Calibri" pitchFamily="34" charset="-122"/>
                          <a:cs typeface="Calibri" pitchFamily="34" charset="-120"/>
                        </a:rPr>
                        <a:t>Working capital and counter-cyclical fund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200" b="1" dirty="0">
                          <a:solidFill>
                            <a:srgbClr val="C8102E"/>
                          </a:solidFill>
                          <a:latin typeface="Cambria" pitchFamily="34" charset="0"/>
                          <a:ea typeface="Cambria" pitchFamily="34" charset="-122"/>
                          <a:cs typeface="Cambria" pitchFamily="34" charset="-120"/>
                        </a:rPr>
                        <a:t>5 (2%)</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100" dirty="0">
                          <a:solidFill>
                            <a:srgbClr val="1A2433"/>
                          </a:solidFill>
                          <a:latin typeface="Calibri" pitchFamily="34" charset="0"/>
                          <a:ea typeface="Calibri" pitchFamily="34" charset="-122"/>
                          <a:cs typeface="Calibri" pitchFamily="34" charset="-120"/>
                        </a:rPr>
                        <a:t>Working capital first: nearly five months of fleet OPEX (</a:t>
                      </a:r>
                      <a:r>
                        <a:rPr lang="en-US" sz="1100" dirty="0" b="1">
                          <a:solidFill>
                            <a:srgbClr val="1A2433"/>
                          </a:solidFill>
                          <a:latin typeface="Calibri" pitchFamily="34" charset="0"/>
                          <a:ea typeface="Calibri" pitchFamily="34" charset="-122"/>
                          <a:cs typeface="Calibri" pitchFamily="34" charset="-120"/>
                        </a:rPr>
                        <a:t>$36,560/day</a:t>
                      </a:r>
                      <a:r>
                        <a:rPr lang="en-US" sz="1100" dirty="0">
                          <a:solidFill>
                            <a:srgbClr val="1A2433"/>
                          </a:solidFill>
                          <a:latin typeface="Calibri" pitchFamily="34" charset="0"/>
                          <a:ea typeface="Calibri" pitchFamily="34" charset="-122"/>
                          <a:cs typeface="Calibri" pitchFamily="34" charset="-120"/>
                        </a:rPr>
                        <a:t>). Fixed hire adds about </a:t>
                      </a:r>
                      <a:r>
                        <a:rPr lang="en-US" sz="1100" dirty="0" b="1">
                          <a:solidFill>
                            <a:srgbClr val="1A2433"/>
                          </a:solidFill>
                          <a:latin typeface="Calibri" pitchFamily="34" charset="0"/>
                          <a:ea typeface="Calibri" pitchFamily="34" charset="-122"/>
                          <a:cs typeface="Calibri" pitchFamily="34" charset="-120"/>
                        </a:rPr>
                        <a:t>$2.7m</a:t>
                      </a:r>
                      <a:r>
                        <a:rPr lang="en-US" sz="1100" dirty="0">
                          <a:solidFill>
                            <a:srgbClr val="1A2433"/>
                          </a:solidFill>
                          <a:latin typeface="Calibri" pitchFamily="34" charset="0"/>
                          <a:ea typeface="Calibri" pitchFamily="34" charset="-122"/>
                          <a:cs typeface="Calibri" pitchFamily="34" charset="-120"/>
                        </a:rPr>
                        <a:t> a month, which builds a fund to buy tankers once secondhand prices fall below newbuild.</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OPEX series 540687 / 540689 / 540683; fixed hire from the Part 2 fixtures.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200" b="1" dirty="0">
                          <a:solidFill>
                            <a:srgbClr val="C8102E"/>
                          </a:solidFill>
                          <a:latin typeface="Cambria" pitchFamily="34" charset="0"/>
                          <a:ea typeface="Cambria" pitchFamily="34" charset="-122"/>
                          <a:cs typeface="Cambria" pitchFamily="34" charset="-120"/>
                        </a:rPr>
                        <a:t>250 (100%)</a:t>
                      </a:r>
                      <a:endParaRPr lang="en-US" sz="1200" dirty="0">
                        <a:latin typeface="Cambria" charset="0"/>
                        <a:ea typeface="Cambria" charset="0"/>
                        <a:cs typeface="Cambria"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100" dirty="0">
                          <a:solidFill>
                            <a:srgbClr val="1A2433"/>
                          </a:solidFill>
                          <a:latin typeface="Calibri" pitchFamily="34" charset="0"/>
                          <a:ea typeface="Calibri" pitchFamily="34" charset="-122"/>
                          <a:cs typeface="Calibri" pitchFamily="34" charset="-120"/>
                        </a:rPr>
                        <a:t>Tankers </a:t>
                      </a:r>
                      <a:r>
                        <a:rPr lang="en-US" sz="1100" dirty="0" b="1">
                          <a:solidFill>
                            <a:srgbClr val="1A2433"/>
                          </a:solidFill>
                          <a:latin typeface="Calibri" pitchFamily="34" charset="0"/>
                          <a:ea typeface="Calibri" pitchFamily="34" charset="-122"/>
                          <a:cs typeface="Calibri" pitchFamily="34" charset="-120"/>
                        </a:rPr>
                        <a:t>70%</a:t>
                      </a:r>
                      <a:r>
                        <a:rPr lang="en-US" sz="1100" dirty="0">
                          <a:solidFill>
                            <a:srgbClr val="1A2433"/>
                          </a:solidFill>
                          <a:latin typeface="Calibri" pitchFamily="34" charset="0"/>
                          <a:ea typeface="Calibri" pitchFamily="34" charset="-122"/>
                          <a:cs typeface="Calibri" pitchFamily="34" charset="-120"/>
                        </a:rPr>
                        <a:t>, dry bulk </a:t>
                      </a:r>
                      <a:r>
                        <a:rPr lang="en-US" sz="1100" dirty="0" b="1">
                          <a:solidFill>
                            <a:srgbClr val="1A2433"/>
                          </a:solidFill>
                          <a:latin typeface="Calibri" pitchFamily="34" charset="0"/>
                          <a:ea typeface="Calibri" pitchFamily="34" charset="-122"/>
                          <a:cs typeface="Calibri" pitchFamily="34" charset="-120"/>
                        </a:rPr>
                        <a:t>28%</a:t>
                      </a:r>
                      <a:r>
                        <a:rPr lang="en-US" sz="1100" dirty="0">
                          <a:solidFill>
                            <a:srgbClr val="1A2433"/>
                          </a:solidFill>
                          <a:latin typeface="Calibri" pitchFamily="34" charset="0"/>
                          <a:ea typeface="Calibri" pitchFamily="34" charset="-122"/>
                          <a:cs typeface="Calibri" pitchFamily="34" charset="-120"/>
                        </a:rPr>
                        <a:t>, cash </a:t>
                      </a:r>
                      <a:r>
                        <a:rPr lang="en-US" sz="1100" dirty="0" b="1">
                          <a:solidFill>
                            <a:srgbClr val="1A2433"/>
                          </a:solidFill>
                          <a:latin typeface="Calibri" pitchFamily="34" charset="0"/>
                          <a:ea typeface="Calibri" pitchFamily="34" charset="-122"/>
                          <a:cs typeface="Calibri" pitchFamily="34" charset="-120"/>
                        </a:rPr>
                        <a:t>2%</a:t>
                      </a:r>
                      <a:r>
                        <a:rPr lang="en-US" sz="1100" dirty="0">
                          <a:solidFill>
                            <a:srgbClr val="1A2433"/>
                          </a:solidFill>
                          <a:latin typeface="Calibri" pitchFamily="34" charset="0"/>
                          <a:ea typeface="Calibri" pitchFamily="34" charset="-122"/>
                          <a:cs typeface="Calibri" pitchFamily="34" charset="-120"/>
                        </a:rPr>
                        <a:t>. Three of five ships fixed (</a:t>
                      </a:r>
                      <a:r>
                        <a:rPr lang="en-US" sz="1100" dirty="0" b="1">
                          <a:solidFill>
                            <a:srgbClr val="1A2433"/>
                          </a:solidFill>
                          <a:latin typeface="Calibri" pitchFamily="34" charset="0"/>
                          <a:ea typeface="Calibri" pitchFamily="34" charset="-122"/>
                          <a:cs typeface="Calibri" pitchFamily="34" charset="-120"/>
                        </a:rPr>
                        <a:t>60%</a:t>
                      </a:r>
                      <a:r>
                        <a:rPr lang="en-US" sz="1100" dirty="0">
                          <a:solidFill>
                            <a:srgbClr val="1A2433"/>
                          </a:solidFill>
                          <a:latin typeface="Calibri" pitchFamily="34" charset="0"/>
                          <a:ea typeface="Calibri" pitchFamily="34" charset="-122"/>
                          <a:cs typeface="Calibri" pitchFamily="34" charset="-120"/>
                        </a:rPr>
                        <a:t> of ship-days): the fewest that keep returns above </a:t>
                      </a:r>
                      <a:r>
                        <a:rPr lang="en-US" sz="1100" dirty="0" b="1">
                          <a:solidFill>
                            <a:srgbClr val="1A2433"/>
                          </a:solidFill>
                          <a:latin typeface="Calibri" pitchFamily="34" charset="0"/>
                          <a:ea typeface="Calibri" pitchFamily="34" charset="-122"/>
                          <a:cs typeface="Calibri" pitchFamily="34" charset="-120"/>
                        </a:rPr>
                        <a:t>15%</a:t>
                      </a:r>
                      <a:r>
                        <a:rPr lang="en-US" sz="1100" dirty="0">
                          <a:solidFill>
                            <a:srgbClr val="1A2433"/>
                          </a:solidFill>
                          <a:latin typeface="Calibri" pitchFamily="34" charset="0"/>
                          <a:ea typeface="Calibri" pitchFamily="34" charset="-122"/>
                          <a:cs typeface="Calibri" pitchFamily="34" charset="-120"/>
                        </a:rPr>
                        <a:t> before OPEX in a stress test on spot data since 2010. Bear </a:t>
                      </a:r>
                      <a:r>
                        <a:rPr lang="en-US" sz="1100" dirty="0" b="1">
                          <a:solidFill>
                            <a:srgbClr val="1A2433"/>
                          </a:solidFill>
                          <a:latin typeface="Calibri" pitchFamily="34" charset="0"/>
                          <a:ea typeface="Calibri" pitchFamily="34" charset="-122"/>
                          <a:cs typeface="Calibri" pitchFamily="34" charset="-120"/>
                        </a:rPr>
                        <a:t>17.9%</a:t>
                      </a:r>
                      <a:r>
                        <a:rPr lang="en-US" sz="1100" dirty="0">
                          <a:solidFill>
                            <a:srgbClr val="1A2433"/>
                          </a:solidFill>
                          <a:latin typeface="Calibri" pitchFamily="34" charset="0"/>
                          <a:ea typeface="Calibri" pitchFamily="34" charset="-122"/>
                          <a:cs typeface="Calibri" pitchFamily="34" charset="-120"/>
                        </a:rPr>
                        <a:t>, base </a:t>
                      </a:r>
                      <a:r>
                        <a:rPr lang="en-US" sz="1100" dirty="0" b="1">
                          <a:solidFill>
                            <a:srgbClr val="1A2433"/>
                          </a:solidFill>
                          <a:latin typeface="Calibri" pitchFamily="34" charset="0"/>
                          <a:ea typeface="Calibri" pitchFamily="34" charset="-122"/>
                          <a:cs typeface="Calibri" pitchFamily="34" charset="-120"/>
                        </a:rPr>
                        <a:t>19.9%</a:t>
                      </a:r>
                      <a:r>
                        <a:rPr lang="en-US" sz="1100" dirty="0">
                          <a:solidFill>
                            <a:srgbClr val="1A2433"/>
                          </a:solidFill>
                          <a:latin typeface="Calibri" pitchFamily="34" charset="0"/>
                          <a:ea typeface="Calibri" pitchFamily="34" charset="-122"/>
                          <a:cs typeface="Calibri" pitchFamily="34" charset="-120"/>
                        </a:rPr>
                        <a:t>, bull </a:t>
                      </a:r>
                      <a:r>
                        <a:rPr lang="en-US" sz="1100" dirty="0" b="1">
                          <a:solidFill>
                            <a:srgbClr val="1A2433"/>
                          </a:solidFill>
                          <a:latin typeface="Calibri" pitchFamily="34" charset="0"/>
                          <a:ea typeface="Calibri" pitchFamily="34" charset="-122"/>
                          <a:cs typeface="Calibri" pitchFamily="34" charset="-120"/>
                        </a:rPr>
                        <a:t>23.7%</a:t>
                      </a:r>
                      <a:r>
                        <a:rPr lang="en-US" sz="1100" dirty="0">
                          <a:solidFill>
                            <a:srgbClr val="1A2433"/>
                          </a:solidFill>
                          <a:latin typeface="Calibri" pitchFamily="34" charset="0"/>
                          <a:ea typeface="Calibri" pitchFamily="34" charset="-122"/>
                          <a:cs typeface="Calibri" pitchFamily="34" charset="-120"/>
                        </a:rPr>
                        <a:t>, expected </a:t>
                      </a:r>
                      <a:r>
                        <a:rPr lang="en-US" sz="1100" dirty="0" b="1">
                          <a:solidFill>
                            <a:srgbClr val="1A2433"/>
                          </a:solidFill>
                          <a:latin typeface="Calibri" pitchFamily="34" charset="0"/>
                          <a:ea typeface="Calibri" pitchFamily="34" charset="-122"/>
                          <a:cs typeface="Calibri" pitchFamily="34" charset="-120"/>
                        </a:rPr>
                        <a:t>20.0%</a:t>
                      </a:r>
                      <a:r>
                        <a:rPr lang="en-US" sz="1100" dirty="0">
                          <a:solidFill>
                            <a:srgbClr val="1A24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MT6102_Earnings_Model.xlsx; stress test on SIN weekly spot earnings 545055 / 533288, 2010 to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Capital allocation: USD 245m in five ships, USD 5m in cash</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S&amp;P Register and 5-year-old valuation series 47130, extracted 12 Sep 2026 (October assessment $52m). Screenshots of every record are on file.</a:t>
            </a:r>
            <a:endParaRPr lang="en-US" sz="85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02920" y="1417320"/>
          <a:ext cx="11155680" cy="3063240"/>
        </p:xfrm>
        <a:graphic>
          <a:graphicData uri="http://schemas.openxmlformats.org/drawingml/2006/table">
            <a:tbl>
              <a:tblPr/>
              <a:tblGrid>
                <a:gridCol w="13716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32918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Asset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Specification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Price USD 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Basis: last transacted sale or assessment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Employment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29184">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MR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50k dwt, 5-yr-old Eco, Korea or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b="1">
                          <a:solidFill>
                            <a:srgbClr val="C8102E"/>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SIN 5-year-old MR assessment, series 47130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1-year TC at </a:t>
                      </a:r>
                      <a:r>
                        <a:rPr lang="en-US" sz="1050" dirty="0" b="1">
                          <a:solidFill>
                            <a:srgbClr val="1A2433"/>
                          </a:solidFill>
                          <a:latin typeface="Calibri" pitchFamily="34" charset="0"/>
                          <a:ea typeface="Calibri" pitchFamily="34" charset="-122"/>
                          <a:cs typeface="Calibri" pitchFamily="34" charset="-120"/>
                        </a:rPr>
                        <a:t>$30,000/day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MR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50k dwt, 5-yr-old Eco, Korea or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b="1">
                          <a:solidFill>
                            <a:srgbClr val="C8102E"/>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Same basis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Spot, clean products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Aframax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110k dwt, 2018 Japan-built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b="1">
                          <a:solidFill>
                            <a:srgbClr val="C8102E"/>
                          </a:solidFill>
                          <a:latin typeface="Calibri" pitchFamily="34" charset="0"/>
                          <a:ea typeface="Calibri" pitchFamily="34" charset="-122"/>
                          <a:cs typeface="Calibri" pitchFamily="34" charset="-120"/>
                        </a:rPr>
                        <a:t>75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Southern Reverence, Pusaka Borneo: $75.0m each (May, Apr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3-year TC at </a:t>
                      </a:r>
                      <a:r>
                        <a:rPr lang="en-US" sz="1050" dirty="0" b="1">
                          <a:solidFill>
                            <a:srgbClr val="1A2433"/>
                          </a:solidFill>
                          <a:latin typeface="Calibri" pitchFamily="34" charset="0"/>
                          <a:ea typeface="Calibri" pitchFamily="34" charset="-122"/>
                          <a:cs typeface="Calibri" pitchFamily="34" charset="-120"/>
                        </a:rPr>
                        <a:t>$40,000/day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Kamsarmax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82k dwt, 2019 Oshima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b="1">
                          <a:solidFill>
                            <a:srgbClr val="C8102E"/>
                          </a:solidFill>
                          <a:latin typeface="Calibri" pitchFamily="34" charset="0"/>
                          <a:ea typeface="Calibri" pitchFamily="34" charset="-122"/>
                          <a:cs typeface="Calibri" pitchFamily="34" charset="-120"/>
                        </a:rPr>
                        <a:t>38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Aquavita Aim, $38.0m (10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12-month TC at </a:t>
                      </a:r>
                      <a:r>
                        <a:rPr lang="en-US" sz="1050" dirty="0" b="1">
                          <a:solidFill>
                            <a:srgbClr val="1A2433"/>
                          </a:solidFill>
                          <a:latin typeface="Calibri" pitchFamily="34" charset="0"/>
                          <a:ea typeface="Calibri" pitchFamily="34" charset="-122"/>
                          <a:cs typeface="Calibri" pitchFamily="34" charset="-120"/>
                        </a:rPr>
                        <a:t>$22,000/day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Kamsarmax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82k dwt, 2015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b="1">
                          <a:solidFill>
                            <a:srgbClr val="C8102E"/>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Medi Positano, $32.0m (10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2433"/>
                          </a:solidFill>
                          <a:latin typeface="Calibri" pitchFamily="34" charset="0"/>
                          <a:ea typeface="Calibri" pitchFamily="34" charset="-122"/>
                          <a:cs typeface="Calibri" pitchFamily="34" charset="-120"/>
                        </a:rPr>
                        <a:t>Spot, Q4 grain season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1050" b="1" dirty="0">
                          <a:solidFill>
                            <a:srgbClr val="142B4F"/>
                          </a:solidFill>
                          <a:latin typeface="Calibri" pitchFamily="34" charset="0"/>
                          <a:ea typeface="Calibri" pitchFamily="34" charset="-122"/>
                          <a:cs typeface="Calibri" pitchFamily="34" charset="-120"/>
                        </a:rPr>
                        <a:t>Vessels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50" b="1" dirty="0">
                          <a:solidFill>
                            <a:srgbClr val="C8102E"/>
                          </a:solidFill>
                          <a:latin typeface="Calibri" pitchFamily="34" charset="0"/>
                          <a:ea typeface="Calibri" pitchFamily="34" charset="-122"/>
                          <a:cs typeface="Calibri" pitchFamily="34" charset="-120"/>
                        </a:rPr>
                        <a:t>245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extLst>
                  <a:ext uri="{0D108BD9-81ED-4DB2-BD59-A6C34878D82A}">
                    <a16:rowId xmlns:a16="http://schemas.microsoft.com/office/drawing/2014/main" val="10006"/>
                  </a:ext>
                </a:extLst>
              </a:tr>
              <a:tr h="329184">
                <a:tc>
                  <a:txBody>
                    <a:bodyPr/>
                    <a:lstStyle/>
                    <a:p>
                      <a:pPr marL="0" indent="0" algn="l">
                        <a:buNone/>
                      </a:pPr>
                      <a:r>
                        <a:rPr lang="en-US" sz="1050" b="0" dirty="0">
                          <a:solidFill>
                            <a:srgbClr val="1A2433"/>
                          </a:solidFill>
                          <a:latin typeface="Calibri" pitchFamily="34" charset="0"/>
                          <a:ea typeface="Calibri" pitchFamily="34" charset="-122"/>
                          <a:cs typeface="Calibri" pitchFamily="34" charset="-120"/>
                        </a:rPr>
                        <a:t>Cash reserve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b="0" dirty="0">
                          <a:solidFill>
                            <a:srgbClr val="1A2433"/>
                          </a:solidFill>
                          <a:latin typeface="Calibri" pitchFamily="34" charset="0"/>
                          <a:ea typeface="Calibri" pitchFamily="34" charset="-122"/>
                          <a:cs typeface="Calibri" pitchFamily="34" charset="-120"/>
                        </a:rPr>
                        <a:t>Working capital and reserve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C8102E"/>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050" b="0" dirty="0">
                          <a:solidFill>
                            <a:srgbClr val="1A2433"/>
                          </a:solidFill>
                          <a:latin typeface="Calibri" pitchFamily="34" charset="0"/>
                          <a:ea typeface="Calibri" pitchFamily="34" charset="-122"/>
                          <a:cs typeface="Calibri" pitchFamily="34" charset="-120"/>
                        </a:rPr>
                        <a:t>Reserve for tankers below newbuild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lgn="l">
                        <a:buNone/>
                      </a:pPr>
                      <a:r>
                        <a:rPr lang="en-US" sz="1050" b="1" dirty="0">
                          <a:solidFill>
                            <a:srgbClr val="142B4F"/>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50" b="1" dirty="0">
                          <a:solidFill>
                            <a:srgbClr val="C8102E"/>
                          </a:solidFill>
                          <a:latin typeface="Calibri" pitchFamily="34" charset="0"/>
                          <a:ea typeface="Calibri" pitchFamily="34" charset="-122"/>
                          <a:cs typeface="Calibri" pitchFamily="34" charset="-120"/>
                        </a:rPr>
                        <a:t>250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l">
                        <a:buNone/>
                      </a:pP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extLst>
                  <a:ext uri="{0D108BD9-81ED-4DB2-BD59-A6C34878D82A}">
                    <a16:rowId xmlns:a16="http://schemas.microsoft.com/office/drawing/2014/main" val="10008"/>
                  </a:ext>
                </a:extLst>
              </a:tr>
            </a:tbl>
          </a:graphicData>
        </a:graphic>
      </p:graphicFrame>
      <p:sp>
        <p:nvSpPr>
          <p:cNvPr id="6" name="Panel"/>
          <p:cNvSpPr/>
          <p:nvPr/>
        </p:nvSpPr>
        <p:spPr>
          <a:xfrm>
            <a:off x="502920" y="4617720"/>
            <a:ext cx="548640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7" name="Panel title"/>
          <p:cNvSpPr txBox="1"/>
          <p:nvPr/>
        </p:nvSpPr>
        <p:spPr>
          <a:xfrm>
            <a:off x="685800" y="4745736"/>
            <a:ext cx="512064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All equity: no debt to service</a:t>
            </a:r>
            <a:endParaRPr lang="en-US" sz="1800" dirty="0"/>
          </a:p>
        </p:txBody>
      </p:sp>
      <p:sp>
        <p:nvSpPr>
          <p:cNvPr id="8" name="Panel body"/>
          <p:cNvSpPr txBox="1"/>
          <p:nvPr/>
        </p:nvSpPr>
        <p:spPr>
          <a:xfrm>
            <a:off x="685800" y="5093208"/>
            <a:ext cx="5120640" cy="78638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No interest and no repayment schedule in a weak year. Banks lend </a:t>
            </a:r>
            <a:r>
              <a:rPr lang="en-US" sz="1200" dirty="0" b="1">
                <a:solidFill>
                  <a:srgbClr val="1A2433"/>
                </a:solidFill>
                <a:latin typeface="Calibri" pitchFamily="34" charset="0"/>
                <a:ea typeface="Calibri" pitchFamily="34" charset="-122"/>
                <a:cs typeface="Calibri" pitchFamily="34" charset="-120"/>
              </a:rPr>
              <a:t>60 to 80%</a:t>
            </a:r>
            <a:r>
              <a:rPr lang="en-US" sz="1200" dirty="0">
                <a:solidFill>
                  <a:srgbClr val="1A2433"/>
                </a:solidFill>
                <a:latin typeface="Calibri" pitchFamily="34" charset="0"/>
                <a:ea typeface="Calibri" pitchFamily="34" charset="-122"/>
                <a:cs typeface="Calibri" pitchFamily="34" charset="-120"/>
              </a:rPr>
              <a:t> against 5-yr-old tonnage if the board later wants leverage; the Aframax on its </a:t>
            </a:r>
            <a:r>
              <a:rPr lang="en-US" sz="1200" dirty="0" b="1">
                <a:solidFill>
                  <a:srgbClr val="1A2433"/>
                </a:solidFill>
                <a:latin typeface="Calibri" pitchFamily="34" charset="0"/>
                <a:ea typeface="Calibri" pitchFamily="34" charset="-122"/>
                <a:cs typeface="Calibri" pitchFamily="34" charset="-120"/>
              </a:rPr>
              <a:t>3-year</a:t>
            </a:r>
            <a:r>
              <a:rPr lang="en-US" sz="1200" dirty="0">
                <a:solidFill>
                  <a:srgbClr val="1A2433"/>
                </a:solidFill>
                <a:latin typeface="Calibri" pitchFamily="34" charset="0"/>
                <a:ea typeface="Calibri" pitchFamily="34" charset="-122"/>
                <a:cs typeface="Calibri" pitchFamily="34" charset="-120"/>
              </a:rPr>
              <a:t> charter is the first asset to mortgage or to sell and lease back.</a:t>
            </a:r>
            <a:endParaRPr lang="en-US" sz="1200" dirty="0"/>
          </a:p>
        </p:txBody>
      </p:sp>
      <p:sp>
        <p:nvSpPr>
          <p:cNvPr id="9" name="Panel"/>
          <p:cNvSpPr/>
          <p:nvPr/>
        </p:nvSpPr>
        <p:spPr>
          <a:xfrm>
            <a:off x="6172200" y="4617720"/>
            <a:ext cx="548640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10" name="Panel title"/>
          <p:cNvSpPr txBox="1"/>
          <p:nvPr/>
        </p:nvSpPr>
        <p:spPr>
          <a:xfrm>
            <a:off x="6355080" y="4745736"/>
            <a:ext cx="512064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Japan or Korea built: no Section 301 fees</a:t>
            </a:r>
            <a:endParaRPr lang="en-US" sz="1800" dirty="0"/>
          </a:p>
        </p:txBody>
      </p:sp>
      <p:sp>
        <p:nvSpPr>
          <p:cNvPr id="11" name="Panel body"/>
          <p:cNvSpPr txBox="1"/>
          <p:nvPr/>
        </p:nvSpPr>
        <p:spPr>
          <a:xfrm>
            <a:off x="6355080" y="5093208"/>
            <a:ext cx="5120640" cy="78638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With a non-Chinese owner they fall outside the US Section 301 port fees, whose suspension ends around </a:t>
            </a:r>
            <a:r>
              <a:rPr lang="en-US" sz="1200" dirty="0" b="1">
                <a:solidFill>
                  <a:srgbClr val="1A2433"/>
                </a:solidFill>
                <a:latin typeface="Calibri" pitchFamily="34" charset="0"/>
                <a:ea typeface="Calibri" pitchFamily="34" charset="-122"/>
                <a:cs typeface="Calibri" pitchFamily="34" charset="-120"/>
              </a:rPr>
              <a:t>10 Nov 2026</a:t>
            </a:r>
            <a:r>
              <a:rPr lang="en-US" sz="1200" dirty="0">
                <a:solidFill>
                  <a:srgbClr val="1A2433"/>
                </a:solidFill>
                <a:latin typeface="Calibri" pitchFamily="34" charset="0"/>
                <a:ea typeface="Calibri" pitchFamily="34" charset="-122"/>
                <a:cs typeface="Calibri" pitchFamily="34" charset="-120"/>
              </a:rPr>
              <a:t>; this matters for Kamsarmax #2 in US Gulf grain. A Japan-built Kamsarmax sold </a:t>
            </a:r>
            <a:r>
              <a:rPr lang="en-US" sz="1200" dirty="0" b="1">
                <a:solidFill>
                  <a:srgbClr val="1A2433"/>
                </a:solidFill>
                <a:latin typeface="Calibri" pitchFamily="34" charset="0"/>
                <a:ea typeface="Calibri" pitchFamily="34" charset="-122"/>
                <a:cs typeface="Calibri" pitchFamily="34" charset="-120"/>
              </a:rPr>
              <a:t>$2.75m</a:t>
            </a:r>
            <a:r>
              <a:rPr lang="en-US" sz="1200" dirty="0">
                <a:solidFill>
                  <a:srgbClr val="1A2433"/>
                </a:solidFill>
                <a:latin typeface="Calibri" pitchFamily="34" charset="0"/>
                <a:ea typeface="Calibri" pitchFamily="34" charset="-122"/>
                <a:cs typeface="Calibri" pitchFamily="34" charset="-120"/>
              </a:rPr>
              <a:t> above its China-built sister, a gap that includes port-fee risk.</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Buy secondhand: charter-in earns little, newbuild arrives too late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series 47130 / 542021 / 540721 / 38981 / 87302 (5-year-old prices) and 71267 / 23357 / 70747 / 35905 / 53070 (newbuild prices), September 2026, October re-pull 15 Oct 2026; 10-year-old prices dataset L3.</a:t>
            </a:r>
            <a:endParaRPr lang="en-US" sz="850" dirty="0"/>
          </a:p>
        </p:txBody>
      </p:sp>
      <p:sp>
        <p:nvSpPr>
          <p:cNvPr id="5" name="Panel"/>
          <p:cNvSpPr/>
          <p:nvPr/>
        </p:nvSpPr>
        <p:spPr>
          <a:xfrm>
            <a:off x="502920" y="1463040"/>
            <a:ext cx="539496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6" name="Panel title"/>
          <p:cNvSpPr txBox="1"/>
          <p:nvPr/>
        </p:nvSpPr>
        <p:spPr>
          <a:xfrm>
            <a:off x="685800" y="1591056"/>
            <a:ext cx="502920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Charter-in: a thin spread, no asset</a:t>
            </a:r>
            <a:endParaRPr lang="en-US" sz="1800" dirty="0"/>
          </a:p>
        </p:txBody>
      </p:sp>
      <p:sp>
        <p:nvSpPr>
          <p:cNvPr id="7" name="Panel body"/>
          <p:cNvSpPr txBox="1"/>
          <p:nvPr/>
        </p:nvSpPr>
        <p:spPr>
          <a:xfrm>
            <a:off x="685800" y="1938528"/>
            <a:ext cx="5029200" cy="78638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A charterer keeps only the spread over hire. Kamsarmax: hire </a:t>
            </a:r>
            <a:r>
              <a:rPr lang="en-US" sz="1200" dirty="0" b="1">
                <a:solidFill>
                  <a:srgbClr val="1A2433"/>
                </a:solidFill>
                <a:latin typeface="Calibri" pitchFamily="34" charset="0"/>
                <a:ea typeface="Calibri" pitchFamily="34" charset="-122"/>
                <a:cs typeface="Calibri" pitchFamily="34" charset="-120"/>
              </a:rPr>
              <a:t>$22,000</a:t>
            </a:r>
            <a:r>
              <a:rPr lang="en-US" sz="1200" dirty="0">
                <a:solidFill>
                  <a:srgbClr val="1A2433"/>
                </a:solidFill>
                <a:latin typeface="Calibri" pitchFamily="34" charset="0"/>
                <a:ea typeface="Calibri" pitchFamily="34" charset="-122"/>
                <a:cs typeface="Calibri" pitchFamily="34" charset="-120"/>
              </a:rPr>
              <a:t> vs </a:t>
            </a:r>
            <a:r>
              <a:rPr lang="en-US" sz="1200" dirty="0" b="1">
                <a:solidFill>
                  <a:srgbClr val="1A2433"/>
                </a:solidFill>
                <a:latin typeface="Calibri" pitchFamily="34" charset="0"/>
                <a:ea typeface="Calibri" pitchFamily="34" charset="-122"/>
                <a:cs typeface="Calibri" pitchFamily="34" charset="-120"/>
              </a:rPr>
              <a:t>$23,000</a:t>
            </a:r>
            <a:r>
              <a:rPr lang="en-US" sz="1200" dirty="0">
                <a:solidFill>
                  <a:srgbClr val="1A2433"/>
                </a:solidFill>
                <a:latin typeface="Calibri" pitchFamily="34" charset="0"/>
                <a:ea typeface="Calibri" pitchFamily="34" charset="-122"/>
                <a:cs typeface="Calibri" pitchFamily="34" charset="-120"/>
              </a:rPr>
              <a:t> base, </a:t>
            </a:r>
            <a:r>
              <a:rPr lang="en-US" sz="1200" dirty="0" b="1">
                <a:solidFill>
                  <a:srgbClr val="1A2433"/>
                </a:solidFill>
                <a:latin typeface="Calibri" pitchFamily="34" charset="0"/>
                <a:ea typeface="Calibri" pitchFamily="34" charset="-122"/>
                <a:cs typeface="Calibri" pitchFamily="34" charset="-120"/>
              </a:rPr>
              <a:t>+$0.35m</a:t>
            </a:r>
            <a:r>
              <a:rPr lang="en-US" sz="1200" dirty="0">
                <a:solidFill>
                  <a:srgbClr val="1A2433"/>
                </a:solidFill>
                <a:latin typeface="Calibri" pitchFamily="34" charset="0"/>
                <a:ea typeface="Calibri" pitchFamily="34" charset="-122"/>
                <a:cs typeface="Calibri" pitchFamily="34" charset="-120"/>
              </a:rPr>
              <a:t> a year, or a </a:t>
            </a:r>
            <a:r>
              <a:rPr lang="en-US" sz="1200" dirty="0" b="1">
                <a:solidFill>
                  <a:srgbClr val="1A2433"/>
                </a:solidFill>
                <a:latin typeface="Calibri" pitchFamily="34" charset="0"/>
                <a:ea typeface="Calibri" pitchFamily="34" charset="-122"/>
                <a:cs typeface="Calibri" pitchFamily="34" charset="-120"/>
              </a:rPr>
              <a:t>$3.2m</a:t>
            </a:r>
            <a:r>
              <a:rPr lang="en-US" sz="1200" dirty="0">
                <a:solidFill>
                  <a:srgbClr val="1A2433"/>
                </a:solidFill>
                <a:latin typeface="Calibri" pitchFamily="34" charset="0"/>
                <a:ea typeface="Calibri" pitchFamily="34" charset="-122"/>
                <a:cs typeface="Calibri" pitchFamily="34" charset="-120"/>
              </a:rPr>
              <a:t> loss at 2025 earnings ($12,880). MR: hire </a:t>
            </a:r>
            <a:r>
              <a:rPr lang="en-US" sz="1200" dirty="0" b="1">
                <a:solidFill>
                  <a:srgbClr val="1A2433"/>
                </a:solidFill>
                <a:latin typeface="Calibri" pitchFamily="34" charset="0"/>
                <a:ea typeface="Calibri" pitchFamily="34" charset="-122"/>
                <a:cs typeface="Calibri" pitchFamily="34" charset="-120"/>
              </a:rPr>
              <a:t>$30,000</a:t>
            </a:r>
            <a:r>
              <a:rPr lang="en-US" sz="1200" dirty="0">
                <a:solidFill>
                  <a:srgbClr val="1A2433"/>
                </a:solidFill>
                <a:latin typeface="Calibri" pitchFamily="34" charset="0"/>
                <a:ea typeface="Calibri" pitchFamily="34" charset="-122"/>
                <a:cs typeface="Calibri" pitchFamily="34" charset="-120"/>
              </a:rPr>
              <a:t> vs </a:t>
            </a:r>
            <a:r>
              <a:rPr lang="en-US" sz="1200" dirty="0" b="1">
                <a:solidFill>
                  <a:srgbClr val="1A2433"/>
                </a:solidFill>
                <a:latin typeface="Calibri" pitchFamily="34" charset="0"/>
                <a:ea typeface="Calibri" pitchFamily="34" charset="-122"/>
                <a:cs typeface="Calibri" pitchFamily="34" charset="-120"/>
              </a:rPr>
              <a:t>$27,000</a:t>
            </a:r>
            <a:r>
              <a:rPr lang="en-US" sz="1200" dirty="0">
                <a:solidFill>
                  <a:srgbClr val="1A2433"/>
                </a:solidFill>
                <a:latin typeface="Calibri" pitchFamily="34" charset="0"/>
                <a:ea typeface="Calibri" pitchFamily="34" charset="-122"/>
                <a:cs typeface="Calibri" pitchFamily="34" charset="-120"/>
              </a:rPr>
              <a:t> base, a </a:t>
            </a:r>
            <a:r>
              <a:rPr lang="en-US" sz="1200" dirty="0" b="1">
                <a:solidFill>
                  <a:srgbClr val="1A2433"/>
                </a:solidFill>
                <a:latin typeface="Calibri" pitchFamily="34" charset="0"/>
                <a:ea typeface="Calibri" pitchFamily="34" charset="-122"/>
                <a:cs typeface="Calibri" pitchFamily="34" charset="-120"/>
              </a:rPr>
              <a:t>$1.05m</a:t>
            </a:r>
            <a:r>
              <a:rPr lang="en-US" sz="1200" dirty="0">
                <a:solidFill>
                  <a:srgbClr val="1A2433"/>
                </a:solidFill>
                <a:latin typeface="Calibri" pitchFamily="34" charset="0"/>
                <a:ea typeface="Calibri" pitchFamily="34" charset="-122"/>
                <a:cs typeface="Calibri" pitchFamily="34" charset="-120"/>
              </a:rPr>
              <a:t> loss. Chartering in also leaves most of the $250m idle and no asset at the end.</a:t>
            </a:r>
            <a:endParaRPr lang="en-US" sz="1200" dirty="0"/>
          </a:p>
        </p:txBody>
      </p:sp>
      <p:sp>
        <p:nvSpPr>
          <p:cNvPr id="8" name="Panel"/>
          <p:cNvSpPr/>
          <p:nvPr/>
        </p:nvSpPr>
        <p:spPr>
          <a:xfrm>
            <a:off x="502920" y="2971800"/>
            <a:ext cx="539496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9" name="Panel title"/>
          <p:cNvSpPr txBox="1"/>
          <p:nvPr/>
        </p:nvSpPr>
        <p:spPr>
          <a:xfrm>
            <a:off x="685800" y="3099816"/>
            <a:ext cx="502920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Newbuild: nothing earned in our window</a:t>
            </a:r>
            <a:endParaRPr lang="en-US" sz="1800" dirty="0"/>
          </a:p>
        </p:txBody>
      </p:sp>
      <p:sp>
        <p:nvSpPr>
          <p:cNvPr id="10" name="Panel body"/>
          <p:cNvSpPr txBox="1"/>
          <p:nvPr/>
        </p:nvSpPr>
        <p:spPr>
          <a:xfrm>
            <a:off x="685800" y="3447288"/>
            <a:ext cx="5029200" cy="78638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Delivery takes </a:t>
            </a:r>
            <a:r>
              <a:rPr lang="en-US" sz="1200" dirty="0" b="1">
                <a:solidFill>
                  <a:srgbClr val="1A2433"/>
                </a:solidFill>
                <a:latin typeface="Calibri" pitchFamily="34" charset="0"/>
                <a:ea typeface="Calibri" pitchFamily="34" charset="-122"/>
                <a:cs typeface="Calibri" pitchFamily="34" charset="-120"/>
              </a:rPr>
              <a:t>1.5 to 3 years</a:t>
            </a:r>
            <a:r>
              <a:rPr lang="en-US" sz="1200" dirty="0">
                <a:solidFill>
                  <a:srgbClr val="1A2433"/>
                </a:solidFill>
                <a:latin typeface="Calibri" pitchFamily="34" charset="0"/>
                <a:ea typeface="Calibri" pitchFamily="34" charset="-122"/>
                <a:cs typeface="Calibri" pitchFamily="34" charset="-120"/>
              </a:rPr>
              <a:t> from contract, so a newbuild earns nothing in our 12 months while stage payments fall due. A 5-yr-old Eco MR costs about the same and earns from delivery.</a:t>
            </a:r>
            <a:endParaRPr lang="en-US" sz="1200" dirty="0"/>
          </a:p>
        </p:txBody>
      </p:sp>
      <p:sp>
        <p:nvSpPr>
          <p:cNvPr id="11" name="Panel"/>
          <p:cNvSpPr/>
          <p:nvPr/>
        </p:nvSpPr>
        <p:spPr>
          <a:xfrm>
            <a:off x="502920" y="4480560"/>
            <a:ext cx="5394960" cy="1508760"/>
          </a:xfrm>
          <a:prstGeom prst="roundRect">
            <a:avLst>
              <a:gd name="adj" fmla="val 3636"/>
            </a:avLst>
          </a:prstGeom>
          <a:solidFill>
            <a:srgbClr val="EEF3FA"/>
          </a:solidFill>
          <a:ln w="9525">
            <a:solidFill>
              <a:srgbClr val="D7DEE8"/>
            </a:solidFill>
            <a:prstDash val="solid"/>
          </a:ln>
        </p:spPr>
        <p:txBody>
          <a:bodyPr/>
          <a:lstStyle/>
          <a:p>
            <a:endParaRPr lang="zh-CN" altLang="en-US"/>
          </a:p>
        </p:txBody>
      </p:sp>
      <p:sp>
        <p:nvSpPr>
          <p:cNvPr id="12" name="Panel title"/>
          <p:cNvSpPr txBox="1"/>
          <p:nvPr/>
        </p:nvSpPr>
        <p:spPr>
          <a:xfrm>
            <a:off x="685800" y="4608576"/>
            <a:ext cx="502920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Secondhand at or near replacement cost</a:t>
            </a:r>
            <a:endParaRPr lang="en-US" sz="1800" dirty="0"/>
          </a:p>
        </p:txBody>
      </p:sp>
      <p:sp>
        <p:nvSpPr>
          <p:cNvPr id="13" name="Panel body"/>
          <p:cNvSpPr txBox="1"/>
          <p:nvPr/>
        </p:nvSpPr>
        <p:spPr>
          <a:xfrm>
            <a:off x="685800" y="4956048"/>
            <a:ext cx="5029200" cy="92354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In September, 5-yr-old prices ran </a:t>
            </a:r>
            <a:r>
              <a:rPr lang="en-US" sz="1200" dirty="0" b="1">
                <a:solidFill>
                  <a:srgbClr val="1A2433"/>
                </a:solidFill>
                <a:latin typeface="Calibri" pitchFamily="34" charset="0"/>
                <a:ea typeface="Calibri" pitchFamily="34" charset="-122"/>
                <a:cs typeface="Calibri" pitchFamily="34" charset="-120"/>
              </a:rPr>
              <a:t>0.96x</a:t>
            </a:r>
            <a:r>
              <a:rPr lang="en-US" sz="1200" dirty="0">
                <a:solidFill>
                  <a:srgbClr val="1A2433"/>
                </a:solidFill>
                <a:latin typeface="Calibri" pitchFamily="34" charset="0"/>
                <a:ea typeface="Calibri" pitchFamily="34" charset="-122"/>
                <a:cs typeface="Calibri" pitchFamily="34" charset="-120"/>
              </a:rPr>
              <a:t> to </a:t>
            </a:r>
            <a:r>
              <a:rPr lang="en-US" sz="1200" dirty="0" b="1">
                <a:solidFill>
                  <a:srgbClr val="1A2433"/>
                </a:solidFill>
                <a:latin typeface="Calibri" pitchFamily="34" charset="0"/>
                <a:ea typeface="Calibri" pitchFamily="34" charset="-122"/>
                <a:cs typeface="Calibri" pitchFamily="34" charset="-120"/>
              </a:rPr>
              <a:t>1.13x</a:t>
            </a:r>
            <a:r>
              <a:rPr lang="en-US" sz="1200" dirty="0">
                <a:solidFill>
                  <a:srgbClr val="1A2433"/>
                </a:solidFill>
                <a:latin typeface="Calibri" pitchFamily="34" charset="0"/>
                <a:ea typeface="Calibri" pitchFamily="34" charset="-122"/>
                <a:cs typeface="Calibri" pitchFamily="34" charset="-120"/>
              </a:rPr>
              <a:t> newbuild in our segments (chart) against </a:t>
            </a:r>
            <a:r>
              <a:rPr lang="en-US" sz="1200" dirty="0" b="1">
                <a:solidFill>
                  <a:srgbClr val="1A2433"/>
                </a:solidFill>
                <a:latin typeface="Calibri" pitchFamily="34" charset="0"/>
                <a:ea typeface="Calibri" pitchFamily="34" charset="-122"/>
                <a:cs typeface="Calibri" pitchFamily="34" charset="-120"/>
              </a:rPr>
              <a:t>1.23x</a:t>
            </a:r>
            <a:r>
              <a:rPr lang="en-US" sz="1200" dirty="0">
                <a:solidFill>
                  <a:srgbClr val="1A2433"/>
                </a:solidFill>
                <a:latin typeface="Calibri" pitchFamily="34" charset="0"/>
                <a:ea typeface="Calibri" pitchFamily="34" charset="-122"/>
                <a:cs typeface="Calibri" pitchFamily="34" charset="-120"/>
              </a:rPr>
              <a:t> for Suezmax, </a:t>
            </a:r>
            <a:r>
              <a:rPr lang="en-US" sz="1200" dirty="0" b="1">
                <a:solidFill>
                  <a:srgbClr val="1A2433"/>
                </a:solidFill>
                <a:latin typeface="Calibri" pitchFamily="34" charset="0"/>
                <a:ea typeface="Calibri" pitchFamily="34" charset="-122"/>
                <a:cs typeface="Calibri" pitchFamily="34" charset="-120"/>
              </a:rPr>
              <a:t>1.44x</a:t>
            </a:r>
            <a:r>
              <a:rPr lang="en-US" sz="1200" dirty="0">
                <a:solidFill>
                  <a:srgbClr val="1A2433"/>
                </a:solidFill>
                <a:latin typeface="Calibri" pitchFamily="34" charset="0"/>
                <a:ea typeface="Calibri" pitchFamily="34" charset="-122"/>
                <a:cs typeface="Calibri" pitchFamily="34" charset="-120"/>
              </a:rPr>
              <a:t> by October. A 5-yr-old MR costs </a:t>
            </a:r>
            <a:r>
              <a:rPr lang="en-US" sz="1200" dirty="0" b="1">
                <a:solidFill>
                  <a:srgbClr val="1A2433"/>
                </a:solidFill>
                <a:latin typeface="Calibri" pitchFamily="34" charset="0"/>
                <a:ea typeface="Calibri" pitchFamily="34" charset="-122"/>
                <a:cs typeface="Calibri" pitchFamily="34" charset="-120"/>
              </a:rPr>
              <a:t>$2.50m</a:t>
            </a:r>
            <a:r>
              <a:rPr lang="en-US" sz="1200" dirty="0">
                <a:solidFill>
                  <a:srgbClr val="1A2433"/>
                </a:solidFill>
                <a:latin typeface="Calibri" pitchFamily="34" charset="0"/>
                <a:ea typeface="Calibri" pitchFamily="34" charset="-122"/>
                <a:cs typeface="Calibri" pitchFamily="34" charset="-120"/>
              </a:rPr>
              <a:t> per remaining year vs </a:t>
            </a:r>
            <a:r>
              <a:rPr lang="en-US" sz="1200" dirty="0" b="1">
                <a:solidFill>
                  <a:srgbClr val="1A2433"/>
                </a:solidFill>
                <a:latin typeface="Calibri" pitchFamily="34" charset="0"/>
                <a:ea typeface="Calibri" pitchFamily="34" charset="-122"/>
                <a:cs typeface="Calibri" pitchFamily="34" charset="-120"/>
              </a:rPr>
              <a:t>$2.67m</a:t>
            </a:r>
            <a:r>
              <a:rPr lang="en-US" sz="1200" dirty="0">
                <a:solidFill>
                  <a:srgbClr val="1A2433"/>
                </a:solidFill>
                <a:latin typeface="Calibri" pitchFamily="34" charset="0"/>
                <a:ea typeface="Calibri" pitchFamily="34" charset="-122"/>
                <a:cs typeface="Calibri" pitchFamily="34" charset="-120"/>
              </a:rPr>
              <a:t> at 10 years. All five ships are Eco for EU ETS and FuelEU.</a:t>
            </a:r>
            <a:endParaRPr lang="en-US" sz="1200" dirty="0"/>
          </a:p>
        </p:txBody>
      </p:sp>
      <p:pic>
        <p:nvPicPr>
          <p:cNvPr id="14" name="07_replacement_cost.png" descr="/home/user/MT6102/charts_deck/07_replacement_cost.png"/>
          <p:cNvPicPr>
            <a:picLocks noChangeAspect="1"/>
          </p:cNvPicPr>
          <p:nvPr/>
        </p:nvPicPr>
        <p:blipFill>
          <a:blip r:embed="rId3"/>
          <a:srcRect/>
          <a:stretch/>
        </p:blipFill>
        <p:spPr>
          <a:xfrm>
            <a:off x="6126480" y="1463040"/>
            <a:ext cx="5577840" cy="452628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1 · THE DECISION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Four trades, each backed by demand growth or a fixed charter</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series 98802 / 534403 (products trade), 534456 (crude Aframax orderbook), dataset L4 (incl. LR2), 557125 (Guinea bauxite), 534400 / 547349 (grain); SIN news #224049, #227870, #191021; voyage fixtures dataset L8.</a:t>
            </a:r>
            <a:endParaRPr lang="en-US" sz="850" dirty="0"/>
          </a:p>
        </p:txBody>
      </p:sp>
      <p:sp>
        <p:nvSpPr>
          <p:cNvPr id="5" name="Trade card"/>
          <p:cNvSpPr/>
          <p:nvPr/>
        </p:nvSpPr>
        <p:spPr>
          <a:xfrm>
            <a:off x="502920" y="1463040"/>
            <a:ext cx="548640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6" name="Text 4"/>
          <p:cNvSpPr txBox="1"/>
          <p:nvPr/>
        </p:nvSpPr>
        <p:spPr>
          <a:xfrm>
            <a:off x="685800" y="1591056"/>
            <a:ext cx="5120640" cy="310896"/>
          </a:xfrm>
          <a:prstGeom prst="rect">
            <a:avLst/>
          </a:prstGeom>
          <a:noFill/>
          <a:ln/>
        </p:spPr>
        <p:txBody>
          <a:bodyPr wrap="square" lIns="0" tIns="0" rIns="0" bIns="0" rtlCol="0" anchor="ctr"/>
          <a:lstStyle/>
          <a:p>
            <a:pPr marL="0" indent="0">
              <a:buNone/>
            </a:pPr>
            <a:r>
              <a:rPr lang="en-US" sz="1800" b="1" dirty="0">
                <a:solidFill>
                  <a:srgbClr val="C8102E"/>
                </a:solidFill>
                <a:latin typeface="Cambria" pitchFamily="34" charset="0"/>
                <a:ea typeface="Cambria" pitchFamily="34" charset="-122"/>
                <a:cs typeface="Cambria" pitchFamily="34" charset="-120"/>
              </a:rPr>
              <a:t>2× MR: product trade grows in 2027</a:t>
            </a:r>
            <a:endParaRPr lang="en-US" sz="1800" dirty="0"/>
          </a:p>
        </p:txBody>
      </p:sp>
      <p:sp>
        <p:nvSpPr>
          <p:cNvPr id="7" name="Text 5"/>
          <p:cNvSpPr txBox="1"/>
          <p:nvPr/>
        </p:nvSpPr>
        <p:spPr>
          <a:xfrm>
            <a:off x="685800" y="1920240"/>
            <a:ext cx="5120640" cy="457200"/>
          </a:xfrm>
          <a:prstGeom prst="rect">
            <a:avLst/>
          </a:prstGeom>
          <a:noFill/>
          <a:ln/>
        </p:spPr>
        <p:txBody>
          <a:bodyPr wrap="square" lIns="0" tIns="0" rIns="0" bIns="0" rtlCol="0" anchor="t"/>
          <a:lstStyle/>
          <a:p>
            <a:pPr marL="0" indent="0">
              <a:buNone/>
            </a:pPr>
            <a:r>
              <a:rPr lang="en-US" sz="1150" i="1" dirty="0">
                <a:solidFill>
                  <a:srgbClr val="5A6472"/>
                </a:solidFill>
                <a:latin typeface="Calibri" pitchFamily="34" charset="0"/>
                <a:ea typeface="Calibri" pitchFamily="34" charset="-122"/>
                <a:cs typeface="Calibri" pitchFamily="34" charset="-120"/>
              </a:rPr>
              <a:t>Clean products: Indian and Middle East refineries to Africa and Asia, plus Atlantic voyages</a:t>
            </a:r>
            <a:endParaRPr lang="en-US" sz="1150" dirty="0"/>
          </a:p>
        </p:txBody>
      </p:sp>
      <p:sp>
        <p:nvSpPr>
          <p:cNvPr id="8" name="Text 6"/>
          <p:cNvSpPr txBox="1"/>
          <p:nvPr/>
        </p:nvSpPr>
        <p:spPr>
          <a:xfrm>
            <a:off x="685800" y="2395728"/>
            <a:ext cx="5120640" cy="1188720"/>
          </a:xfrm>
          <a:prstGeom prst="rect">
            <a:avLst/>
          </a:prstGeom>
          <a:noFill/>
          <a:ln/>
        </p:spPr>
        <p:txBody>
          <a:bodyPr wrap="square" lIns="0" tIns="0" rIns="0" bIns="0" rtlCol="0" anchor="t"/>
          <a:lstStyle/>
          <a:p>
            <a:pPr marL="0" indent="0">
              <a:buNone/>
            </a:pPr>
            <a:r>
              <a:rPr lang="en-US" sz="1400" dirty="0">
                <a:solidFill>
                  <a:srgbClr val="1A2433"/>
                </a:solidFill>
                <a:latin typeface="Calibri" pitchFamily="34" charset="0"/>
                <a:ea typeface="Calibri" pitchFamily="34" charset="-122"/>
                <a:cs typeface="Calibri" pitchFamily="34" charset="-120"/>
              </a:rPr>
              <a:t>Products trade </a:t>
            </a:r>
            <a:r>
              <a:rPr lang="en-US" sz="1400" dirty="0" b="1">
                <a:solidFill>
                  <a:srgbClr val="1A2433"/>
                </a:solidFill>
                <a:latin typeface="Calibri" pitchFamily="34" charset="0"/>
                <a:ea typeface="Calibri" pitchFamily="34" charset="-122"/>
                <a:cs typeface="Calibri" pitchFamily="34" charset="-120"/>
              </a:rPr>
              <a:t>+6.3%</a:t>
            </a:r>
            <a:r>
              <a:rPr lang="en-US" sz="1400" dirty="0">
                <a:solidFill>
                  <a:srgbClr val="1A2433"/>
                </a:solidFill>
                <a:latin typeface="Calibri" pitchFamily="34" charset="0"/>
                <a:ea typeface="Calibri" pitchFamily="34" charset="-122"/>
                <a:cs typeface="Calibri" pitchFamily="34" charset="-120"/>
              </a:rPr>
              <a:t> in 2027F after a dip in 2026; tonne-miles </a:t>
            </a:r>
            <a:r>
              <a:rPr lang="en-US" sz="1400" dirty="0" b="1">
                <a:solidFill>
                  <a:srgbClr val="1A2433"/>
                </a:solidFill>
                <a:latin typeface="Calibri" pitchFamily="34" charset="0"/>
                <a:ea typeface="Calibri" pitchFamily="34" charset="-122"/>
                <a:cs typeface="Calibri" pitchFamily="34" charset="-120"/>
              </a:rPr>
              <a:t>+6.5%</a:t>
            </a:r>
            <a:r>
              <a:rPr lang="en-US" sz="1400" dirty="0">
                <a:solidFill>
                  <a:srgbClr val="1A2433"/>
                </a:solidFill>
                <a:latin typeface="Calibri" pitchFamily="34" charset="0"/>
                <a:ea typeface="Calibri" pitchFamily="34" charset="-122"/>
                <a:cs typeface="Calibri" pitchFamily="34" charset="-120"/>
              </a:rPr>
              <a:t>. The average haul rose </a:t>
            </a:r>
            <a:r>
              <a:rPr lang="en-US" sz="1400" dirty="0" b="1">
                <a:solidFill>
                  <a:srgbClr val="1A2433"/>
                </a:solidFill>
                <a:latin typeface="Calibri" pitchFamily="34" charset="0"/>
                <a:ea typeface="Calibri" pitchFamily="34" charset="-122"/>
                <a:cs typeface="Calibri" pitchFamily="34" charset="-120"/>
              </a:rPr>
              <a:t>19%</a:t>
            </a:r>
            <a:r>
              <a:rPr lang="en-US" sz="1400" dirty="0">
                <a:solidFill>
                  <a:srgbClr val="1A2433"/>
                </a:solidFill>
                <a:latin typeface="Calibri" pitchFamily="34" charset="0"/>
                <a:ea typeface="Calibri" pitchFamily="34" charset="-122"/>
                <a:cs typeface="Calibri" pitchFamily="34" charset="-120"/>
              </a:rPr>
              <a:t> from 2019 to 2024 as refining moved east. MR #1 on a 1-yr TC at </a:t>
            </a:r>
            <a:r>
              <a:rPr lang="en-US" sz="1400" dirty="0" b="1">
                <a:solidFill>
                  <a:srgbClr val="1A2433"/>
                </a:solidFill>
                <a:latin typeface="Calibri" pitchFamily="34" charset="0"/>
                <a:ea typeface="Calibri" pitchFamily="34" charset="-122"/>
                <a:cs typeface="Calibri" pitchFamily="34" charset="-120"/>
              </a:rPr>
              <a:t>$30,000</a:t>
            </a:r>
            <a:r>
              <a:rPr lang="en-US" sz="1400" dirty="0">
                <a:solidFill>
                  <a:srgbClr val="1A2433"/>
                </a:solidFill>
                <a:latin typeface="Calibri" pitchFamily="34" charset="0"/>
                <a:ea typeface="Calibri" pitchFamily="34" charset="-122"/>
                <a:cs typeface="Calibri" pitchFamily="34" charset="-120"/>
              </a:rPr>
              <a:t>; MR #2 spot, fixed for a year if spot stays below </a:t>
            </a:r>
            <a:r>
              <a:rPr lang="en-US" sz="1400" dirty="0" b="1">
                <a:solidFill>
                  <a:srgbClr val="1A2433"/>
                </a:solidFill>
                <a:latin typeface="Calibri" pitchFamily="34" charset="0"/>
                <a:ea typeface="Calibri" pitchFamily="34" charset="-122"/>
                <a:cs typeface="Calibri" pitchFamily="34" charset="-120"/>
              </a:rPr>
              <a:t>$20,000</a:t>
            </a:r>
            <a:r>
              <a:rPr lang="en-US" sz="1400" dirty="0">
                <a:solidFill>
                  <a:srgbClr val="1A2433"/>
                </a:solidFill>
                <a:latin typeface="Calibri" pitchFamily="34" charset="0"/>
                <a:ea typeface="Calibri" pitchFamily="34" charset="-122"/>
                <a:cs typeface="Calibri" pitchFamily="34" charset="-120"/>
              </a:rPr>
              <a:t> for 8 weeks.</a:t>
            </a:r>
            <a:endParaRPr lang="en-US" sz="1400" dirty="0"/>
          </a:p>
        </p:txBody>
      </p:sp>
      <p:sp>
        <p:nvSpPr>
          <p:cNvPr id="9" name="Trade card"/>
          <p:cNvSpPr/>
          <p:nvPr/>
        </p:nvSpPr>
        <p:spPr>
          <a:xfrm>
            <a:off x="6172200" y="1463040"/>
            <a:ext cx="548640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10" name="Text 8"/>
          <p:cNvSpPr txBox="1"/>
          <p:nvPr/>
        </p:nvSpPr>
        <p:spPr>
          <a:xfrm>
            <a:off x="6355080" y="1591056"/>
            <a:ext cx="5120640" cy="310896"/>
          </a:xfrm>
          <a:prstGeom prst="rect">
            <a:avLst/>
          </a:prstGeom>
          <a:noFill/>
          <a:ln/>
        </p:spPr>
        <p:txBody>
          <a:bodyPr wrap="square" lIns="0" tIns="0" rIns="0" bIns="0" rtlCol="0" anchor="ctr"/>
          <a:lstStyle/>
          <a:p>
            <a:pPr marL="0" indent="0">
              <a:buNone/>
            </a:pPr>
            <a:r>
              <a:rPr lang="en-US" sz="1800" b="1" dirty="0">
                <a:solidFill>
                  <a:srgbClr val="C8102E"/>
                </a:solidFill>
                <a:latin typeface="Cambria" pitchFamily="34" charset="0"/>
                <a:ea typeface="Cambria" pitchFamily="34" charset="-122"/>
                <a:cs typeface="Cambria" pitchFamily="34" charset="-120"/>
              </a:rPr>
              <a:t>1× Aframax: 3 years fixed through the wave</a:t>
            </a:r>
            <a:endParaRPr lang="en-US" sz="1800" dirty="0"/>
          </a:p>
        </p:txBody>
      </p:sp>
      <p:sp>
        <p:nvSpPr>
          <p:cNvPr id="11" name="Text 9"/>
          <p:cNvSpPr txBox="1"/>
          <p:nvPr/>
        </p:nvSpPr>
        <p:spPr>
          <a:xfrm>
            <a:off x="6355080" y="1920240"/>
            <a:ext cx="5120640" cy="457200"/>
          </a:xfrm>
          <a:prstGeom prst="rect">
            <a:avLst/>
          </a:prstGeom>
          <a:noFill/>
          <a:ln/>
        </p:spPr>
        <p:txBody>
          <a:bodyPr wrap="square" lIns="0" tIns="0" rIns="0" bIns="0" rtlCol="0" anchor="t"/>
          <a:lstStyle/>
          <a:p>
            <a:pPr marL="0" indent="0">
              <a:buNone/>
            </a:pPr>
            <a:r>
              <a:rPr lang="en-US" sz="1150" i="1" dirty="0">
                <a:solidFill>
                  <a:srgbClr val="5A6472"/>
                </a:solidFill>
                <a:latin typeface="Calibri" pitchFamily="34" charset="0"/>
                <a:ea typeface="Calibri" pitchFamily="34" charset="-122"/>
                <a:cs typeface="Calibri" pitchFamily="34" charset="-120"/>
              </a:rPr>
              <a:t>Crude oil worldwide, trades set by the charterer under a 3-year TC</a:t>
            </a:r>
            <a:endParaRPr lang="en-US" sz="1150" dirty="0"/>
          </a:p>
        </p:txBody>
      </p:sp>
      <p:sp>
        <p:nvSpPr>
          <p:cNvPr id="12" name="Text 10"/>
          <p:cNvSpPr txBox="1"/>
          <p:nvPr/>
        </p:nvSpPr>
        <p:spPr>
          <a:xfrm>
            <a:off x="6355080" y="2395728"/>
            <a:ext cx="5120640" cy="1188720"/>
          </a:xfrm>
          <a:prstGeom prst="rect">
            <a:avLst/>
          </a:prstGeom>
          <a:noFill/>
          <a:ln/>
        </p:spPr>
        <p:txBody>
          <a:bodyPr wrap="square" lIns="0" tIns="0" rIns="0" bIns="0" rtlCol="0" anchor="t"/>
          <a:lstStyle/>
          <a:p>
            <a:pPr marL="0" indent="0">
              <a:buNone/>
            </a:pPr>
            <a:r>
              <a:rPr lang="en-US" sz="1400" dirty="0">
                <a:solidFill>
                  <a:srgbClr val="1A2433"/>
                </a:solidFill>
                <a:latin typeface="Calibri" pitchFamily="34" charset="0"/>
                <a:ea typeface="Calibri" pitchFamily="34" charset="-122"/>
                <a:cs typeface="Calibri" pitchFamily="34" charset="-120"/>
              </a:rPr>
              <a:t>Lowest orderbook of our five segments: </a:t>
            </a:r>
            <a:r>
              <a:rPr lang="en-US" sz="1400" dirty="0" b="1">
                <a:solidFill>
                  <a:srgbClr val="1A2433"/>
                </a:solidFill>
                <a:latin typeface="Calibri" pitchFamily="34" charset="0"/>
                <a:ea typeface="Calibri" pitchFamily="34" charset="-122"/>
                <a:cs typeface="Calibri" pitchFamily="34" charset="-120"/>
              </a:rPr>
              <a:t>8.4%</a:t>
            </a:r>
            <a:r>
              <a:rPr lang="en-US" sz="1400" dirty="0">
                <a:solidFill>
                  <a:srgbClr val="1A2433"/>
                </a:solidFill>
                <a:latin typeface="Calibri" pitchFamily="34" charset="0"/>
                <a:ea typeface="Calibri" pitchFamily="34" charset="-122"/>
                <a:cs typeface="Calibri" pitchFamily="34" charset="-120"/>
              </a:rPr>
              <a:t> of dwt for crude Aframax (</a:t>
            </a:r>
            <a:r>
              <a:rPr lang="en-US" sz="1400" dirty="0" b="1">
                <a:solidFill>
                  <a:srgbClr val="1A2433"/>
                </a:solidFill>
                <a:latin typeface="Calibri" pitchFamily="34" charset="0"/>
                <a:ea typeface="Calibri" pitchFamily="34" charset="-122"/>
                <a:cs typeface="Calibri" pitchFamily="34" charset="-120"/>
              </a:rPr>
              <a:t>20.8%</a:t>
            </a:r>
            <a:r>
              <a:rPr lang="en-US" sz="1400" dirty="0">
                <a:solidFill>
                  <a:srgbClr val="1A2433"/>
                </a:solidFill>
                <a:latin typeface="Calibri" pitchFamily="34" charset="0"/>
                <a:ea typeface="Calibri" pitchFamily="34" charset="-122"/>
                <a:cs typeface="Calibri" pitchFamily="34" charset="-120"/>
              </a:rPr>
              <a:t> with LR2s, which can switch to crude). We give up spot upside for </a:t>
            </a:r>
            <a:r>
              <a:rPr lang="en-US" sz="1400" dirty="0" b="1">
                <a:solidFill>
                  <a:srgbClr val="1A2433"/>
                </a:solidFill>
                <a:latin typeface="Calibri" pitchFamily="34" charset="0"/>
                <a:ea typeface="Calibri" pitchFamily="34" charset="-122"/>
                <a:cs typeface="Calibri" pitchFamily="34" charset="-120"/>
              </a:rPr>
              <a:t>$40,000/day</a:t>
            </a:r>
            <a:r>
              <a:rPr lang="en-US" sz="1400" dirty="0">
                <a:solidFill>
                  <a:srgbClr val="1A2433"/>
                </a:solidFill>
                <a:latin typeface="Calibri" pitchFamily="34" charset="0"/>
                <a:ea typeface="Calibri" pitchFamily="34" charset="-122"/>
                <a:cs typeface="Calibri" pitchFamily="34" charset="-120"/>
              </a:rPr>
              <a:t> over </a:t>
            </a:r>
            <a:r>
              <a:rPr lang="en-US" sz="1400" dirty="0" b="1">
                <a:solidFill>
                  <a:srgbClr val="1A2433"/>
                </a:solidFill>
                <a:latin typeface="Calibri" pitchFamily="34" charset="0"/>
                <a:ea typeface="Calibri" pitchFamily="34" charset="-122"/>
                <a:cs typeface="Calibri" pitchFamily="34" charset="-120"/>
              </a:rPr>
              <a:t>3 years</a:t>
            </a:r>
            <a:r>
              <a:rPr lang="en-US" sz="1400" dirty="0">
                <a:solidFill>
                  <a:srgbClr val="1A2433"/>
                </a:solidFill>
                <a:latin typeface="Calibri" pitchFamily="34" charset="0"/>
                <a:ea typeface="Calibri" pitchFamily="34" charset="-122"/>
                <a:cs typeface="Calibri" pitchFamily="34" charset="-120"/>
              </a:rPr>
              <a:t>, through the 2027 to 2028 delivery wave, whether or not a ceasefire comes.</a:t>
            </a:r>
            <a:endParaRPr lang="en-US" sz="1400" dirty="0"/>
          </a:p>
        </p:txBody>
      </p:sp>
      <p:sp>
        <p:nvSpPr>
          <p:cNvPr id="13" name="Trade card"/>
          <p:cNvSpPr/>
          <p:nvPr/>
        </p:nvSpPr>
        <p:spPr>
          <a:xfrm>
            <a:off x="502920" y="3794760"/>
            <a:ext cx="548640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14" name="Text 12"/>
          <p:cNvSpPr txBox="1"/>
          <p:nvPr/>
        </p:nvSpPr>
        <p:spPr>
          <a:xfrm>
            <a:off x="685800" y="3922776"/>
            <a:ext cx="5120640" cy="310896"/>
          </a:xfrm>
          <a:prstGeom prst="rect">
            <a:avLst/>
          </a:prstGeom>
          <a:noFill/>
          <a:ln/>
        </p:spPr>
        <p:txBody>
          <a:bodyPr wrap="square" lIns="0" tIns="0" rIns="0" bIns="0" rtlCol="0" anchor="ctr"/>
          <a:lstStyle/>
          <a:p>
            <a:pPr marL="0" indent="0">
              <a:buNone/>
            </a:pPr>
            <a:r>
              <a:rPr lang="en-US" sz="1800" b="1" dirty="0">
                <a:solidFill>
                  <a:srgbClr val="C8102E"/>
                </a:solidFill>
                <a:latin typeface="Cambria" pitchFamily="34" charset="0"/>
                <a:ea typeface="Cambria" pitchFamily="34" charset="-122"/>
                <a:cs typeface="Cambria" pitchFamily="34" charset="-120"/>
              </a:rPr>
              <a:t>Kamsarmax #1: 12 months fixed at $22,000</a:t>
            </a:r>
            <a:endParaRPr lang="en-US" sz="1800" dirty="0"/>
          </a:p>
        </p:txBody>
      </p:sp>
      <p:sp>
        <p:nvSpPr>
          <p:cNvPr id="15" name="Text 13"/>
          <p:cNvSpPr txBox="1"/>
          <p:nvPr/>
        </p:nvSpPr>
        <p:spPr>
          <a:xfrm>
            <a:off x="685800" y="4251960"/>
            <a:ext cx="5120640" cy="457200"/>
          </a:xfrm>
          <a:prstGeom prst="rect">
            <a:avLst/>
          </a:prstGeom>
          <a:noFill/>
          <a:ln/>
        </p:spPr>
        <p:txBody>
          <a:bodyPr wrap="square" lIns="0" tIns="0" rIns="0" bIns="0" rtlCol="0" anchor="t"/>
          <a:lstStyle/>
          <a:p>
            <a:pPr marL="0" indent="0">
              <a:buNone/>
            </a:pPr>
            <a:r>
              <a:rPr lang="en-US" sz="1150" i="1" dirty="0">
                <a:solidFill>
                  <a:srgbClr val="5A6472"/>
                </a:solidFill>
                <a:latin typeface="Calibri" pitchFamily="34" charset="0"/>
                <a:ea typeface="Calibri" pitchFamily="34" charset="-122"/>
                <a:cs typeface="Calibri" pitchFamily="34" charset="-120"/>
              </a:rPr>
              <a:t>Guinea bauxite or Pacific coal, as the charterer directs</a:t>
            </a:r>
            <a:endParaRPr lang="en-US" sz="1150" dirty="0"/>
          </a:p>
        </p:txBody>
      </p:sp>
      <p:sp>
        <p:nvSpPr>
          <p:cNvPr id="16" name="Text 14"/>
          <p:cNvSpPr txBox="1"/>
          <p:nvPr/>
        </p:nvSpPr>
        <p:spPr>
          <a:xfrm>
            <a:off x="685800" y="4727448"/>
            <a:ext cx="5120640" cy="1188720"/>
          </a:xfrm>
          <a:prstGeom prst="rect">
            <a:avLst/>
          </a:prstGeom>
          <a:noFill/>
          <a:ln/>
        </p:spPr>
        <p:txBody>
          <a:bodyPr wrap="square" lIns="0" tIns="0" rIns="0" bIns="0" rtlCol="0" anchor="t"/>
          <a:lstStyle/>
          <a:p>
            <a:pPr marL="0" indent="0">
              <a:buNone/>
            </a:pPr>
            <a:r>
              <a:rPr lang="en-US" sz="1400" dirty="0">
                <a:solidFill>
                  <a:srgbClr val="1A2433"/>
                </a:solidFill>
                <a:latin typeface="Calibri" pitchFamily="34" charset="0"/>
                <a:ea typeface="Calibri" pitchFamily="34" charset="-122"/>
                <a:cs typeface="Calibri" pitchFamily="34" charset="-120"/>
              </a:rPr>
              <a:t>Guinea bauxite exports </a:t>
            </a:r>
            <a:r>
              <a:rPr lang="en-US" sz="1400" dirty="0" b="1">
                <a:solidFill>
                  <a:srgbClr val="1A2433"/>
                </a:solidFill>
                <a:latin typeface="Calibri" pitchFamily="34" charset="0"/>
                <a:ea typeface="Calibri" pitchFamily="34" charset="-122"/>
                <a:cs typeface="Calibri" pitchFamily="34" charset="-120"/>
              </a:rPr>
              <a:t>+29%</a:t>
            </a:r>
            <a:r>
              <a:rPr lang="en-US" sz="1400" dirty="0">
                <a:solidFill>
                  <a:srgbClr val="1A2433"/>
                </a:solidFill>
                <a:latin typeface="Calibri" pitchFamily="34" charset="0"/>
                <a:ea typeface="Calibri" pitchFamily="34" charset="-122"/>
                <a:cs typeface="Calibri" pitchFamily="34" charset="-120"/>
              </a:rPr>
              <a:t> y/y (Jan to Apr) on one of the longest hauls in dry bulk, which ties up more ships per tonne. Kamsarmax is the largest ship Port Kamsar can take.</a:t>
            </a:r>
            <a:endParaRPr lang="en-US" sz="1400" dirty="0"/>
          </a:p>
        </p:txBody>
      </p:sp>
      <p:sp>
        <p:nvSpPr>
          <p:cNvPr id="17" name="Trade card"/>
          <p:cNvSpPr/>
          <p:nvPr/>
        </p:nvSpPr>
        <p:spPr>
          <a:xfrm>
            <a:off x="6172200" y="3794760"/>
            <a:ext cx="548640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18" name="Text 16"/>
          <p:cNvSpPr txBox="1"/>
          <p:nvPr/>
        </p:nvSpPr>
        <p:spPr>
          <a:xfrm>
            <a:off x="6355080" y="3922776"/>
            <a:ext cx="5120640" cy="310896"/>
          </a:xfrm>
          <a:prstGeom prst="rect">
            <a:avLst/>
          </a:prstGeom>
          <a:noFill/>
          <a:ln/>
        </p:spPr>
        <p:txBody>
          <a:bodyPr wrap="square" lIns="0" tIns="0" rIns="0" bIns="0" rtlCol="0" anchor="ctr"/>
          <a:lstStyle/>
          <a:p>
            <a:pPr marL="0" indent="0">
              <a:buNone/>
            </a:pPr>
            <a:r>
              <a:rPr lang="en-US" sz="1800" b="1" dirty="0">
                <a:solidFill>
                  <a:srgbClr val="C8102E"/>
                </a:solidFill>
                <a:latin typeface="Cambria" pitchFamily="34" charset="0"/>
                <a:ea typeface="Cambria" pitchFamily="34" charset="-122"/>
                <a:cs typeface="Cambria" pitchFamily="34" charset="-120"/>
              </a:rPr>
              <a:t>Kamsarmax #2: Q4 grain season on spot</a:t>
            </a:r>
            <a:endParaRPr lang="en-US" sz="1800" dirty="0"/>
          </a:p>
        </p:txBody>
      </p:sp>
      <p:sp>
        <p:nvSpPr>
          <p:cNvPr id="19" name="Text 17"/>
          <p:cNvSpPr txBox="1"/>
          <p:nvPr/>
        </p:nvSpPr>
        <p:spPr>
          <a:xfrm>
            <a:off x="6355080" y="4251960"/>
            <a:ext cx="5120640" cy="457200"/>
          </a:xfrm>
          <a:prstGeom prst="rect">
            <a:avLst/>
          </a:prstGeom>
          <a:noFill/>
          <a:ln/>
        </p:spPr>
        <p:txBody>
          <a:bodyPr wrap="square" lIns="0" tIns="0" rIns="0" bIns="0" rtlCol="0" anchor="t"/>
          <a:lstStyle/>
          <a:p>
            <a:pPr marL="0" indent="0">
              <a:buNone/>
            </a:pPr>
            <a:r>
              <a:rPr lang="en-US" sz="1150" i="1" dirty="0">
                <a:solidFill>
                  <a:srgbClr val="5A6472"/>
                </a:solidFill>
                <a:latin typeface="Calibri" pitchFamily="34" charset="0"/>
                <a:ea typeface="Calibri" pitchFamily="34" charset="-122"/>
                <a:cs typeface="Calibri" pitchFamily="34" charset="-120"/>
              </a:rPr>
              <a:t>Grain US Gulf and Black Sea to Asia in the Q4 season, then bauxite and coal</a:t>
            </a:r>
            <a:endParaRPr lang="en-US" sz="1150" dirty="0"/>
          </a:p>
        </p:txBody>
      </p:sp>
      <p:sp>
        <p:nvSpPr>
          <p:cNvPr id="20" name="Text 18"/>
          <p:cNvSpPr txBox="1"/>
          <p:nvPr/>
        </p:nvSpPr>
        <p:spPr>
          <a:xfrm>
            <a:off x="6355080" y="4727448"/>
            <a:ext cx="5120640" cy="1188720"/>
          </a:xfrm>
          <a:prstGeom prst="rect">
            <a:avLst/>
          </a:prstGeom>
          <a:noFill/>
          <a:ln/>
        </p:spPr>
        <p:txBody>
          <a:bodyPr wrap="square" lIns="0" tIns="0" rIns="0" bIns="0" rtlCol="0" anchor="t"/>
          <a:lstStyle/>
          <a:p>
            <a:pPr marL="0" indent="0">
              <a:buNone/>
            </a:pPr>
            <a:r>
              <a:rPr lang="en-US" sz="1400" dirty="0">
                <a:solidFill>
                  <a:srgbClr val="1A2433"/>
                </a:solidFill>
                <a:latin typeface="Calibri" pitchFamily="34" charset="0"/>
                <a:ea typeface="Calibri" pitchFamily="34" charset="-122"/>
                <a:cs typeface="Calibri" pitchFamily="34" charset="-120"/>
              </a:rPr>
              <a:t>Harvest lifts US Gulf grain exports from September; 2026 is a bumper grain year. If Black Sea attacks cut grain cargoes, the ship moves to bauxite and coal, where two September coal fixtures confirm the cargo. Fixed for 12 months if BDI stays below </a:t>
            </a:r>
            <a:r>
              <a:rPr lang="en-US" sz="1400" dirty="0" b="1">
                <a:solidFill>
                  <a:srgbClr val="1A2433"/>
                </a:solidFill>
                <a:latin typeface="Calibri" pitchFamily="34" charset="0"/>
                <a:ea typeface="Calibri" pitchFamily="34" charset="-122"/>
                <a:cs typeface="Calibri" pitchFamily="34" charset="-120"/>
              </a:rPr>
              <a:t>2,000</a:t>
            </a:r>
            <a:r>
              <a:rPr lang="en-US" sz="1400" dirty="0">
                <a:solidFill>
                  <a:srgbClr val="1A2433"/>
                </a:solidFill>
                <a:latin typeface="Calibri" pitchFamily="34" charset="0"/>
                <a:ea typeface="Calibri" pitchFamily="34" charset="-122"/>
                <a:cs typeface="Calibri" pitchFamily="34" charset="-120"/>
              </a:rPr>
              <a:t> for 8 weeks.</a:t>
            </a:r>
            <a:endParaRPr lang="en-US" sz="14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Pricing basis I: last transacted sales, plus one SIN assessment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S&amp;P Register (Sales by vessel type), extracted 12 Sep 2026; all 18 records in the appendix with screenshots on file.</a:t>
            </a:r>
            <a:endParaRPr lang="en-US" sz="85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3328416"/>
        </p:xfrm>
        <a:graphic>
          <a:graphicData uri="http://schemas.openxmlformats.org/drawingml/2006/table">
            <a:tbl>
              <a:tblPr/>
              <a:tblGrid>
                <a:gridCol w="1234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3337560">
                  <a:extLst>
                    <a:ext uri="{9D8B030D-6E8A-4147-A177-3AD203B41FA5}">
                      <a16:colId xmlns:a16="http://schemas.microsoft.com/office/drawing/2014/main" val="20004"/>
                    </a:ext>
                  </a:extLst>
                </a:gridCol>
              </a:tblGrid>
              <a:tr h="475488">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Type, dwt, built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Used for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01 May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Southern Reverence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Aframax, 108,534 dwt, 2018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Our Aframax at $75m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24 Apr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Pusaka Borneo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Aframax, 108,667 dwt, 2018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$75.0m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Second comparable at the same price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Aquavita Aim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 82,192 dwt, 2019 Oshima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$38.0m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Our Kamsarmax #1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10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Medi Positano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 81,661 dwt, 2015 Tsuneishi (Japan)</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$32.0m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Our Kamsarmax #2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475488">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11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Presinge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Kamsarmax, 81,886 dwt, 2015 Tsuneishi Zhoushan (China)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$29.25m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Comparison: China-built sister, $2.75m lower; the gap includes port-fee risk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 5-year-old benchmark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SIN assessment, series 47130 (October: $52m)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$50.0m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Our two MRs; no recent 5-yr-old MR sale with a disclosed price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sp>
        <p:nvSpPr>
          <p:cNvPr id="6" name="Panel"/>
          <p:cNvSpPr/>
          <p:nvPr/>
        </p:nvSpPr>
        <p:spPr>
          <a:xfrm>
            <a:off x="502920" y="4983480"/>
            <a:ext cx="11155680" cy="1005840"/>
          </a:xfrm>
          <a:prstGeom prst="roundRect">
            <a:avLst>
              <a:gd name="adj" fmla="val 5455"/>
            </a:avLst>
          </a:prstGeom>
          <a:solidFill>
            <a:srgbClr val="EEF3FA"/>
          </a:solidFill>
          <a:ln w="9525">
            <a:solidFill>
              <a:srgbClr val="D7DEE8"/>
            </a:solidFill>
            <a:prstDash val="solid"/>
          </a:ln>
        </p:spPr>
        <p:txBody>
          <a:bodyPr/>
          <a:lstStyle/>
          <a:p>
            <a:endParaRPr lang="zh-CN" altLang="en-US"/>
          </a:p>
        </p:txBody>
      </p:sp>
      <p:sp>
        <p:nvSpPr>
          <p:cNvPr id="7" name="Panel body"/>
          <p:cNvSpPr txBox="1"/>
          <p:nvPr/>
        </p:nvSpPr>
        <p:spPr>
          <a:xfrm>
            <a:off x="685800" y="5394960"/>
            <a:ext cx="10789920" cy="502920"/>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Two 2018 Tsuneishi Aframaxes sold at about </a:t>
            </a:r>
            <a:r>
              <a:rPr lang="en-US" sz="1200" dirty="0" b="1">
                <a:solidFill>
                  <a:srgbClr val="1A2433"/>
                </a:solidFill>
                <a:latin typeface="Calibri" pitchFamily="34" charset="0"/>
                <a:ea typeface="Calibri" pitchFamily="34" charset="-122"/>
                <a:cs typeface="Calibri" pitchFamily="34" charset="-120"/>
              </a:rPr>
              <a:t>$75m</a:t>
            </a:r>
            <a:r>
              <a:rPr lang="en-US" sz="1200" dirty="0">
                <a:solidFill>
                  <a:srgbClr val="1A2433"/>
                </a:solidFill>
                <a:latin typeface="Calibri" pitchFamily="34" charset="0"/>
                <a:ea typeface="Calibri" pitchFamily="34" charset="-122"/>
                <a:cs typeface="Calibri" pitchFamily="34" charset="-120"/>
              </a:rPr>
              <a:t> in Apr and May. Medi Positano sold </a:t>
            </a:r>
            <a:r>
              <a:rPr lang="en-US" sz="1200" dirty="0" b="1">
                <a:solidFill>
                  <a:srgbClr val="1A2433"/>
                </a:solidFill>
                <a:latin typeface="Calibri" pitchFamily="34" charset="0"/>
                <a:ea typeface="Calibri" pitchFamily="34" charset="-122"/>
                <a:cs typeface="Calibri" pitchFamily="34" charset="-120"/>
              </a:rPr>
              <a:t>$2.75m</a:t>
            </a:r>
            <a:r>
              <a:rPr lang="en-US" sz="1200" dirty="0">
                <a:solidFill>
                  <a:srgbClr val="1A2433"/>
                </a:solidFill>
                <a:latin typeface="Calibri" pitchFamily="34" charset="0"/>
                <a:ea typeface="Calibri" pitchFamily="34" charset="-122"/>
                <a:cs typeface="Calibri" pitchFamily="34" charset="-120"/>
              </a:rPr>
              <a:t> above its China-built sister, a gap that also reflects its scrubber. No recent 5-yr-old MR sale had a disclosed price, so the MRs use the SIN assessment (</a:t>
            </a:r>
            <a:r>
              <a:rPr lang="en-US" sz="1200" dirty="0" b="1">
                <a:solidFill>
                  <a:srgbClr val="1A2433"/>
                </a:solidFill>
                <a:latin typeface="Calibri" pitchFamily="34" charset="0"/>
                <a:ea typeface="Calibri" pitchFamily="34" charset="-122"/>
                <a:cs typeface="Calibri" pitchFamily="34" charset="-120"/>
              </a:rPr>
              <a:t>$50m</a:t>
            </a:r>
            <a:r>
              <a:rPr lang="en-US" sz="1200" dirty="0">
                <a:solidFill>
                  <a:srgbClr val="1A2433"/>
                </a:solidFill>
                <a:latin typeface="Calibri" pitchFamily="34" charset="0"/>
                <a:ea typeface="Calibri" pitchFamily="34" charset="-122"/>
                <a:cs typeface="Calibri" pitchFamily="34" charset="-120"/>
              </a:rPr>
              <a:t> Sep, </a:t>
            </a:r>
            <a:r>
              <a:rPr lang="en-US" sz="1200" dirty="0" b="1">
                <a:solidFill>
                  <a:srgbClr val="1A2433"/>
                </a:solidFill>
                <a:latin typeface="Calibri" pitchFamily="34" charset="0"/>
                <a:ea typeface="Calibri" pitchFamily="34" charset="-122"/>
                <a:cs typeface="Calibri" pitchFamily="34" charset="-120"/>
              </a:rPr>
              <a:t>$52m</a:t>
            </a:r>
            <a:r>
              <a:rPr lang="en-US" sz="1200" dirty="0">
                <a:solidFill>
                  <a:srgbClr val="1A2433"/>
                </a:solidFill>
                <a:latin typeface="Calibri" pitchFamily="34" charset="0"/>
                <a:ea typeface="Calibri" pitchFamily="34" charset="-122"/>
                <a:cs typeface="Calibri" pitchFamily="34" charset="-120"/>
              </a:rPr>
              <a:t> Oct).</a:t>
            </a:r>
            <a:endParaRPr lang="en-US" sz="1200" dirty="0"/>
          </a:p>
        </p:txBody>
      </p:sp>
      <p:sp>
        <p:nvSpPr>
          <p:cNvPr id="26" name="Panel title"/>
          <p:cNvSpPr txBox="1"/>
          <p:nvPr/>
        </p:nvSpPr>
        <p:spPr>
          <a:xfrm>
            <a:off x="685800" y="5074920"/>
            <a:ext cx="10789920" cy="292608"/>
          </a:xfrm>
          <a:prstGeom prst="rect">
            <a:avLst/>
          </a:prstGeom>
          <a:noFill/>
          <a:ln/>
        </p:spPr>
        <p:txBody>
          <a:bodyPr wrap="square" lIns="0" tIns="0" rIns="0" bIns="0" rtlCol="0" anchor="t"/>
          <a:lstStyle/>
          <a:p>
            <a:pPr marL="0" indent="0">
              <a:spcAft>
                <a:spcPts val="400"/>
              </a:spcAft>
              <a:buNone/>
            </a:pPr>
            <a:r>
              <a:rPr lang="en-US" sz="1600" dirty="0" b="1">
                <a:solidFill>
                  <a:srgbClr val="C8102E"/>
                </a:solidFill>
                <a:latin typeface="Cambria" pitchFamily="34" charset="0"/>
                <a:ea typeface="Cambria" pitchFamily="34" charset="-122"/>
                <a:cs typeface="Cambria" pitchFamily="34" charset="-120"/>
              </a:rPr>
              <a:t>Sales price three ships; the SIN assessment prices the two MRs</a:t>
            </a:r>
            <a:endParaRPr lang="en-US" sz="16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Pricing basis II: time-charter rates from last transacted fixtures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Fixtures Register (Timecharter), extracted 12 Sep 2026; SIN 1-year MR Eco TC assessment series 541552, October 2026 value $43,000/day; Kamsarmax 1-year TC 540614 ($19,750) and Aframax 3-year TC 49138 ($37,500), October 2026.</a:t>
            </a:r>
            <a:endParaRPr lang="en-US" sz="85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2852928"/>
        </p:xfrm>
        <a:graphic>
          <a:graphicData uri="http://schemas.openxmlformats.org/drawingml/2006/table">
            <a:tbl>
              <a:tblPr/>
              <a:tblGrid>
                <a:gridCol w="12344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834640">
                  <a:extLst>
                    <a:ext uri="{9D8B030D-6E8A-4147-A177-3AD203B41FA5}">
                      <a16:colId xmlns:a16="http://schemas.microsoft.com/office/drawing/2014/main" val="20004"/>
                    </a:ext>
                  </a:extLst>
                </a:gridCol>
              </a:tblGrid>
              <a:tr h="475488">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Charterer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Period and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Used for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PS Imabari (MR, 52,838 dwt, 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SUNCOR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1 year at $30,000/day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 #1 rate benchmark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17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Challenge Pollux (MR, 50,068 dwt, 2017)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EXXONMOBIL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1 year at $27,000/day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 #2 base-case spot proxy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475488">
                <a:tc>
                  <a:txBody>
                    <a:bodyPr/>
                    <a:lstStyle/>
                    <a:p>
                      <a:pPr marL="0" indent="0">
                        <a:buNone/>
                      </a:pPr>
                      <a:r>
                        <a:rPr lang="en-US" sz="1050" b="1" dirty="0">
                          <a:solidFill>
                            <a:srgbClr val="1A2433"/>
                          </a:solidFill>
                          <a:latin typeface="Calibri" pitchFamily="34" charset="0"/>
                          <a:ea typeface="Calibri" pitchFamily="34" charset="-122"/>
                          <a:cs typeface="Calibri" pitchFamily="34" charset="-120"/>
                        </a:rPr>
                        <a:t>31 Aug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050" b="1" dirty="0">
                          <a:solidFill>
                            <a:srgbClr val="1A2433"/>
                          </a:solidFill>
                          <a:latin typeface="Calibri" pitchFamily="34" charset="0"/>
                          <a:ea typeface="Calibri" pitchFamily="34" charset="-122"/>
                          <a:cs typeface="Calibri" pitchFamily="34" charset="-120"/>
                        </a:rPr>
                        <a:t>Torm Genesis (Aframax, 119,456 dwt, 2011)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050" b="1" dirty="0">
                          <a:solidFill>
                            <a:srgbClr val="1A2433"/>
                          </a:solidFill>
                          <a:latin typeface="Calibri" pitchFamily="34" charset="0"/>
                          <a:ea typeface="Calibri" pitchFamily="34" charset="-122"/>
                          <a:cs typeface="Calibri" pitchFamily="34" charset="-120"/>
                        </a:rPr>
                        <a:t>AET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3 years at $40,000/day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1050" b="1" dirty="0">
                          <a:solidFill>
                            <a:srgbClr val="1A2433"/>
                          </a:solidFill>
                          <a:latin typeface="Calibri" pitchFamily="34" charset="0"/>
                          <a:ea typeface="Calibri" pitchFamily="34" charset="-122"/>
                          <a:cs typeface="Calibri" pitchFamily="34" charset="-120"/>
                        </a:rPr>
                        <a:t>Benchmark for our Aframax 3-year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3"/>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07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Intensity (Kamsarmax, 82,000 dwt,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Not reported (CNR)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12 months at $22,000/day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 #1 rate benchmark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47548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03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XH Hope (Kamsarmax, 84,998 dwt, 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CARGILL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10 to 12 months at $23,000/day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 #2 base-case spot proxy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nel"/>
          <p:cNvSpPr/>
          <p:nvPr/>
        </p:nvSpPr>
        <p:spPr>
          <a:xfrm>
            <a:off x="502920" y="4434840"/>
            <a:ext cx="5486400" cy="1554480"/>
          </a:xfrm>
          <a:prstGeom prst="roundRect">
            <a:avLst>
              <a:gd name="adj" fmla="val 3529"/>
            </a:avLst>
          </a:prstGeom>
          <a:solidFill>
            <a:srgbClr val="EEF3FA"/>
          </a:solidFill>
          <a:ln w="9525">
            <a:solidFill>
              <a:srgbClr val="D7DEE8"/>
            </a:solidFill>
            <a:prstDash val="solid"/>
          </a:ln>
        </p:spPr>
        <p:txBody>
          <a:bodyPr/>
          <a:lstStyle/>
          <a:p>
            <a:endParaRPr lang="zh-CN" altLang="en-US"/>
          </a:p>
        </p:txBody>
      </p:sp>
      <p:sp>
        <p:nvSpPr>
          <p:cNvPr id="7" name="Panel title"/>
          <p:cNvSpPr txBox="1"/>
          <p:nvPr/>
        </p:nvSpPr>
        <p:spPr>
          <a:xfrm>
            <a:off x="685800" y="4562856"/>
            <a:ext cx="512064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Benchmark rates, first-class charterers</a:t>
            </a:r>
            <a:endParaRPr lang="en-US" sz="1800" dirty="0"/>
          </a:p>
        </p:txBody>
      </p:sp>
      <p:sp>
        <p:nvSpPr>
          <p:cNvPr id="8" name="Panel body"/>
          <p:cNvSpPr txBox="1"/>
          <p:nvPr/>
        </p:nvSpPr>
        <p:spPr>
          <a:xfrm>
            <a:off x="685800" y="4910328"/>
            <a:ext cx="5120640" cy="96926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Base-case rates are benchmarks from other owners' fixtures: </a:t>
            </a:r>
            <a:r>
              <a:rPr lang="en-US" sz="1200" dirty="0" b="1">
                <a:solidFill>
                  <a:srgbClr val="1A2433"/>
                </a:solidFill>
                <a:latin typeface="Calibri" pitchFamily="34" charset="0"/>
                <a:ea typeface="Calibri" pitchFamily="34" charset="-122"/>
                <a:cs typeface="Calibri" pitchFamily="34" charset="-120"/>
              </a:rPr>
              <a:t>SUNCOR</a:t>
            </a:r>
            <a:r>
              <a:rPr lang="en-US" sz="1200" dirty="0">
                <a:solidFill>
                  <a:srgbClr val="1A2433"/>
                </a:solidFill>
                <a:latin typeface="Calibri" pitchFamily="34" charset="0"/>
                <a:ea typeface="Calibri" pitchFamily="34" charset="-122"/>
                <a:cs typeface="Calibri" pitchFamily="34" charset="-120"/>
              </a:rPr>
              <a:t> (Canadian integrated oil), </a:t>
            </a:r>
            <a:r>
              <a:rPr lang="en-US" sz="1200" dirty="0" b="1">
                <a:solidFill>
                  <a:srgbClr val="1A2433"/>
                </a:solidFill>
                <a:latin typeface="Calibri" pitchFamily="34" charset="0"/>
                <a:ea typeface="Calibri" pitchFamily="34" charset="-122"/>
                <a:cs typeface="Calibri" pitchFamily="34" charset="-120"/>
              </a:rPr>
              <a:t>AET</a:t>
            </a:r>
            <a:r>
              <a:rPr lang="en-US" sz="1200" dirty="0">
                <a:solidFill>
                  <a:srgbClr val="1A2433"/>
                </a:solidFill>
                <a:latin typeface="Calibri" pitchFamily="34" charset="0"/>
                <a:ea typeface="Calibri" pitchFamily="34" charset="-122"/>
                <a:cs typeface="Calibri" pitchFamily="34" charset="-120"/>
              </a:rPr>
              <a:t> (MISC, Petronas group) and a Kamsarmax charterer SIN does not name (</a:t>
            </a:r>
            <a:r>
              <a:rPr lang="en-US" sz="1200" dirty="0" b="1">
                <a:solidFill>
                  <a:srgbClr val="1A2433"/>
                </a:solidFill>
                <a:latin typeface="Calibri" pitchFamily="34" charset="0"/>
                <a:ea typeface="Calibri" pitchFamily="34" charset="-122"/>
                <a:cs typeface="Calibri" pitchFamily="34" charset="-120"/>
              </a:rPr>
              <a:t>CNR</a:t>
            </a:r>
            <a:r>
              <a:rPr lang="en-US" sz="1200" dirty="0">
                <a:solidFill>
                  <a:srgbClr val="1A2433"/>
                </a:solidFill>
                <a:latin typeface="Calibri" pitchFamily="34" charset="0"/>
                <a:ea typeface="Calibri" pitchFamily="34" charset="-122"/>
                <a:cs typeface="Calibri" pitchFamily="34" charset="-120"/>
              </a:rPr>
              <a:t>). We will fix only with first-class names; a long charter is itself bankable security.</a:t>
            </a:r>
            <a:endParaRPr lang="en-US" sz="1200" dirty="0"/>
          </a:p>
        </p:txBody>
      </p:sp>
      <p:sp>
        <p:nvSpPr>
          <p:cNvPr id="5" name="Panel"/>
          <p:cNvSpPr/>
          <p:nvPr/>
        </p:nvSpPr>
        <p:spPr>
          <a:xfrm>
            <a:off x="6172200" y="4434840"/>
            <a:ext cx="5486400" cy="1554480"/>
          </a:xfrm>
          <a:prstGeom prst="roundRect">
            <a:avLst>
              <a:gd name="adj" fmla="val 3529"/>
            </a:avLst>
          </a:prstGeom>
          <a:solidFill>
            <a:srgbClr val="EEF3FA"/>
          </a:solidFill>
          <a:ln w="9525">
            <a:solidFill>
              <a:srgbClr val="D7DEE8"/>
            </a:solidFill>
            <a:prstDash val="solid"/>
          </a:ln>
        </p:spPr>
        <p:txBody>
          <a:bodyPr/>
          <a:lstStyle/>
          <a:p>
            <a:endParaRPr lang="zh-CN" altLang="en-US"/>
          </a:p>
        </p:txBody>
      </p:sp>
      <p:sp>
        <p:nvSpPr>
          <p:cNvPr id="10" name="Panel title"/>
          <p:cNvSpPr txBox="1"/>
          <p:nvPr/>
        </p:nvSpPr>
        <p:spPr>
          <a:xfrm>
            <a:off x="6355080" y="4562856"/>
            <a:ext cx="5120640" cy="310896"/>
          </a:xfrm>
          <a:prstGeom prst="rect">
            <a:avLst/>
          </a:prstGeom>
          <a:noFill/>
          <a:ln/>
        </p:spPr>
        <p:txBody>
          <a:bodyPr wrap="square" lIns="0" tIns="0" rIns="0" bIns="0" rtlCol="0" anchor="t"/>
          <a:lstStyle/>
          <a:p>
            <a:pPr marL="0" indent="0">
              <a:buNone/>
            </a:pPr>
            <a:r>
              <a:rPr lang="en-US" sz="1800" b="1" dirty="0">
                <a:solidFill>
                  <a:srgbClr val="C8102E"/>
                </a:solidFill>
                <a:latin typeface="Cambria" pitchFamily="34" charset="0"/>
                <a:ea typeface="Cambria" pitchFamily="34" charset="-122"/>
                <a:cs typeface="Cambria" pitchFamily="34" charset="-120"/>
              </a:rPr>
              <a:t>October: our MR rates look conservative</a:t>
            </a:r>
            <a:endParaRPr lang="en-US" sz="1800" dirty="0"/>
          </a:p>
        </p:txBody>
      </p:sp>
      <p:sp>
        <p:nvSpPr>
          <p:cNvPr id="11" name="Panel body"/>
          <p:cNvSpPr txBox="1"/>
          <p:nvPr/>
        </p:nvSpPr>
        <p:spPr>
          <a:xfrm>
            <a:off x="6355080" y="4910328"/>
            <a:ext cx="5120640" cy="96926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SIN 1-yr MR Eco rose from </a:t>
            </a:r>
            <a:r>
              <a:rPr lang="en-US" sz="1200" dirty="0" b="1">
                <a:solidFill>
                  <a:srgbClr val="1A2433"/>
                </a:solidFill>
                <a:latin typeface="Calibri" pitchFamily="34" charset="0"/>
                <a:ea typeface="Calibri" pitchFamily="34" charset="-122"/>
                <a:cs typeface="Calibri" pitchFamily="34" charset="-120"/>
              </a:rPr>
              <a:t>$29,000</a:t>
            </a:r>
            <a:r>
              <a:rPr lang="en-US" sz="1200" dirty="0">
                <a:solidFill>
                  <a:srgbClr val="1A2433"/>
                </a:solidFill>
                <a:latin typeface="Calibri" pitchFamily="34" charset="0"/>
                <a:ea typeface="Calibri" pitchFamily="34" charset="-122"/>
                <a:cs typeface="Calibri" pitchFamily="34" charset="-120"/>
              </a:rPr>
              <a:t> (Sep) to </a:t>
            </a:r>
            <a:r>
              <a:rPr lang="en-US" sz="1200" dirty="0" b="1">
                <a:solidFill>
                  <a:srgbClr val="1A2433"/>
                </a:solidFill>
                <a:latin typeface="Calibri" pitchFamily="34" charset="0"/>
                <a:ea typeface="Calibri" pitchFamily="34" charset="-122"/>
                <a:cs typeface="Calibri" pitchFamily="34" charset="-120"/>
              </a:rPr>
              <a:t>$43,000</a:t>
            </a:r>
            <a:r>
              <a:rPr lang="en-US" sz="1200" dirty="0">
                <a:solidFill>
                  <a:srgbClr val="1A2433"/>
                </a:solidFill>
                <a:latin typeface="Calibri" pitchFamily="34" charset="0"/>
                <a:ea typeface="Calibri" pitchFamily="34" charset="-122"/>
                <a:cs typeface="Calibri" pitchFamily="34" charset="-120"/>
              </a:rPr>
              <a:t> (Oct); MR spot </a:t>
            </a:r>
            <a:r>
              <a:rPr lang="en-US" sz="1200" dirty="0" b="1">
                <a:solidFill>
                  <a:srgbClr val="1A2433"/>
                </a:solidFill>
                <a:latin typeface="Calibri" pitchFamily="34" charset="0"/>
                <a:ea typeface="Calibri" pitchFamily="34" charset="-122"/>
                <a:cs typeface="Calibri" pitchFamily="34" charset="-120"/>
              </a:rPr>
              <a:t>$53,741/day</a:t>
            </a:r>
            <a:r>
              <a:rPr lang="en-US" sz="1200" dirty="0">
                <a:solidFill>
                  <a:srgbClr val="1A2433"/>
                </a:solidFill>
                <a:latin typeface="Calibri" pitchFamily="34" charset="0"/>
                <a:ea typeface="Calibri" pitchFamily="34" charset="-122"/>
                <a:cs typeface="Calibri" pitchFamily="34" charset="-120"/>
              </a:rPr>
              <a:t>. Our base keeps the last-done </a:t>
            </a:r>
            <a:r>
              <a:rPr lang="en-US" sz="1200" dirty="0" b="1">
                <a:solidFill>
                  <a:srgbClr val="1A2433"/>
                </a:solidFill>
                <a:latin typeface="Calibri" pitchFamily="34" charset="0"/>
                <a:ea typeface="Calibri" pitchFamily="34" charset="-122"/>
                <a:cs typeface="Calibri" pitchFamily="34" charset="-120"/>
              </a:rPr>
              <a:t>$30,000</a:t>
            </a:r>
            <a:r>
              <a:rPr lang="en-US" sz="1200" dirty="0">
                <a:solidFill>
                  <a:srgbClr val="1A2433"/>
                </a:solidFill>
                <a:latin typeface="Calibri" pitchFamily="34" charset="0"/>
                <a:ea typeface="Calibri" pitchFamily="34" charset="-122"/>
                <a:cs typeface="Calibri" pitchFamily="34" charset="-120"/>
              </a:rPr>
              <a:t> for MR #1, as the brief asks, so the MR base case is conservative. Kamsarmax 1-yr (</a:t>
            </a:r>
            <a:r>
              <a:rPr lang="en-US" sz="1200" dirty="0" b="1">
                <a:solidFill>
                  <a:srgbClr val="1A2433"/>
                </a:solidFill>
                <a:latin typeface="Calibri" pitchFamily="34" charset="0"/>
                <a:ea typeface="Calibri" pitchFamily="34" charset="-122"/>
                <a:cs typeface="Calibri" pitchFamily="34" charset="-120"/>
              </a:rPr>
              <a:t>$19,750</a:t>
            </a:r>
            <a:r>
              <a:rPr lang="en-US" sz="1200" dirty="0">
                <a:solidFill>
                  <a:srgbClr val="1A2433"/>
                </a:solidFill>
                <a:latin typeface="Calibri" pitchFamily="34" charset="0"/>
                <a:ea typeface="Calibri" pitchFamily="34" charset="-122"/>
                <a:cs typeface="Calibri" pitchFamily="34" charset="-120"/>
              </a:rPr>
              <a:t>) and Aframax 3-yr (</a:t>
            </a:r>
            <a:r>
              <a:rPr lang="en-US" sz="1200" dirty="0" b="1">
                <a:solidFill>
                  <a:srgbClr val="1A2433"/>
                </a:solidFill>
                <a:latin typeface="Calibri" pitchFamily="34" charset="0"/>
                <a:ea typeface="Calibri" pitchFamily="34" charset="-122"/>
                <a:cs typeface="Calibri" pitchFamily="34" charset="-120"/>
              </a:rPr>
              <a:t>$37,500</a:t>
            </a:r>
            <a:r>
              <a:rPr lang="en-US" sz="1200" dirty="0">
                <a:solidFill>
                  <a:srgbClr val="1A2433"/>
                </a:solidFill>
                <a:latin typeface="Calibri" pitchFamily="34" charset="0"/>
                <a:ea typeface="Calibri" pitchFamily="34" charset="-122"/>
                <a:cs typeface="Calibri" pitchFamily="34" charset="-120"/>
              </a:rPr>
              <a:t>) sit below our benchmarks.</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2 · PRICING BASIS</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Pricing basis III: spot freight rates from last transacted voyage fixtures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Fixtures Register (Voyage and spot), extracted 12 Sep 2026; voyage TCE calculation in MT6102_Earnings_Model.xlsx, sheet Voyage_TCE.</a:t>
            </a:r>
            <a:endParaRPr lang="en-US" sz="8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2344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3657600">
                  <a:extLst>
                    <a:ext uri="{9D8B030D-6E8A-4147-A177-3AD203B41FA5}">
                      <a16:colId xmlns:a16="http://schemas.microsoft.com/office/drawing/2014/main" val="20004"/>
                    </a:ext>
                  </a:extLst>
                </a:gridCol>
              </a:tblGrid>
              <a:tr h="51206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Route and cargo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Charterer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Role in the proposal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512064">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Coal 80,000 t, DBCT (Australia) to Vizag (India)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$25.60/t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SAIL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 spot leg: about </a:t>
                      </a:r>
                      <a:r>
                        <a:rPr lang="en-US" sz="1050" dirty="0" b="1">
                          <a:solidFill>
                            <a:srgbClr val="1A2433"/>
                          </a:solidFill>
                          <a:latin typeface="Calibri" pitchFamily="34" charset="0"/>
                          <a:ea typeface="Calibri" pitchFamily="34" charset="-122"/>
                          <a:cs typeface="Calibri" pitchFamily="34" charset="-120"/>
                        </a:rPr>
                        <a:t>$27,400/day</a:t>
                      </a:r>
                      <a:r>
                        <a:rPr lang="en-US" sz="1050" dirty="0">
                          <a:solidFill>
                            <a:srgbClr val="1A2433"/>
                          </a:solidFill>
                          <a:latin typeface="Calibri" pitchFamily="34" charset="0"/>
                          <a:ea typeface="Calibri" pitchFamily="34" charset="-122"/>
                          <a:cs typeface="Calibri" pitchFamily="34" charset="-120"/>
                        </a:rPr>
                        <a:t> TCE at $875/t VLSFO (Sep), above our </a:t>
                      </a:r>
                      <a:r>
                        <a:rPr lang="en-US" sz="1050" dirty="0" b="1">
                          <a:solidFill>
                            <a:srgbClr val="1A2433"/>
                          </a:solidFill>
                          <a:latin typeface="Calibri" pitchFamily="34" charset="0"/>
                          <a:ea typeface="Calibri" pitchFamily="34" charset="-122"/>
                          <a:cs typeface="Calibri" pitchFamily="34" charset="-120"/>
                        </a:rPr>
                        <a:t>$23,000</a:t>
                      </a:r>
                      <a:r>
                        <a:rPr lang="en-US" sz="1050" dirty="0">
                          <a:solidFill>
                            <a:srgbClr val="1A2433"/>
                          </a:solidFill>
                          <a:latin typeface="Calibri" pitchFamily="34" charset="0"/>
                          <a:ea typeface="Calibri" pitchFamily="34" charset="-122"/>
                          <a:cs typeface="Calibri" pitchFamily="34" charset="-120"/>
                        </a:rPr>
                        <a:t> base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09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Coal, Newcastle (Australia) to Hadong (Korea)</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$23.21/t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KEPCO</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Second coal fixture, same week</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Gasoline 37,000 t, Baltic to US Gulf (Dee4 Juniper)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WS105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VITOL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 spot leg, Atlantic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Gasoil 35,000 t, Singapore to Balikpapan (Pacific Cobalt)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$1.2m lump sum</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SEARIVER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 intra-Asia evidence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03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Crude 130,000 t, West Africa to Mediterranean (Sea Amethyst)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WS210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SHELL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Context: Suezmax spot at two to three times normal</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5"/>
                  </a:ext>
                </a:extLst>
              </a:tr>
              <a:tr h="512064">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10 Sep 2026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Crude, Brazil to Chile (Barcelona Spirit)</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WS388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PETROBRAS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5A6472"/>
                          </a:solidFill>
                          <a:latin typeface="Calibri" pitchFamily="34" charset="0"/>
                          <a:ea typeface="Calibri" pitchFamily="34" charset="-122"/>
                          <a:cs typeface="Calibri" pitchFamily="34" charset="-120"/>
                        </a:rPr>
                        <a:t>Context: extreme rates we deliberately avoid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sp>
        <p:nvSpPr>
          <p:cNvPr id="6" name="Panel"/>
          <p:cNvSpPr/>
          <p:nvPr/>
        </p:nvSpPr>
        <p:spPr>
          <a:xfrm>
            <a:off x="502920" y="5120640"/>
            <a:ext cx="11155680" cy="868680"/>
          </a:xfrm>
          <a:prstGeom prst="roundRect">
            <a:avLst>
              <a:gd name="adj" fmla="val 6316"/>
            </a:avLst>
          </a:prstGeom>
          <a:solidFill>
            <a:srgbClr val="EEF3FA"/>
          </a:solidFill>
          <a:ln w="9525">
            <a:solidFill>
              <a:srgbClr val="D7DEE8"/>
            </a:solidFill>
            <a:prstDash val="solid"/>
          </a:ln>
        </p:spPr>
        <p:txBody>
          <a:bodyPr/>
          <a:lstStyle/>
          <a:p>
            <a:endParaRPr lang="zh-CN" altLang="en-US"/>
          </a:p>
        </p:txBody>
      </p:sp>
      <p:sp>
        <p:nvSpPr>
          <p:cNvPr id="7" name="Panel body"/>
          <p:cNvSpPr txBox="1"/>
          <p:nvPr/>
        </p:nvSpPr>
        <p:spPr>
          <a:xfrm>
            <a:off x="685800" y="5486400"/>
            <a:ext cx="10789920" cy="438912"/>
          </a:xfrm>
          <a:prstGeom prst="rect">
            <a:avLst/>
          </a:prstGeom>
          <a:noFill/>
          <a:ln/>
        </p:spPr>
        <p:txBody>
          <a:bodyPr wrap="square" lIns="0" tIns="0" rIns="0" bIns="0" rtlCol="0" anchor="t"/>
          <a:lstStyle/>
          <a:p>
            <a:pPr marL="0" indent="0">
              <a:spcAft>
                <a:spcPts val="400"/>
              </a:spcAft>
              <a:buNone/>
            </a:pPr>
            <a:r>
              <a:rPr lang="en-US" sz="1200" dirty="0" b="1">
                <a:solidFill>
                  <a:srgbClr val="1A2433"/>
                </a:solidFill>
                <a:latin typeface="Calibri" pitchFamily="34" charset="0"/>
                <a:ea typeface="Calibri" pitchFamily="34" charset="-122"/>
                <a:cs typeface="Calibri" pitchFamily="34" charset="-120"/>
              </a:rPr>
              <a:t>16</a:t>
            </a:r>
            <a:r>
              <a:rPr lang="en-US" sz="1200" dirty="0">
                <a:solidFill>
                  <a:srgbClr val="1A2433"/>
                </a:solidFill>
                <a:latin typeface="Calibri" pitchFamily="34" charset="0"/>
                <a:ea typeface="Calibri" pitchFamily="34" charset="-122"/>
                <a:cs typeface="Calibri" pitchFamily="34" charset="-120"/>
              </a:rPr>
              <a:t> last-done transactions plus </a:t>
            </a:r>
            <a:r>
              <a:rPr lang="en-US" sz="1200" dirty="0" b="1">
                <a:solidFill>
                  <a:srgbClr val="1A2433"/>
                </a:solidFill>
                <a:latin typeface="Calibri" pitchFamily="34" charset="0"/>
                <a:ea typeface="Calibri" pitchFamily="34" charset="-122"/>
                <a:cs typeface="Calibri" pitchFamily="34" charset="-120"/>
              </a:rPr>
              <a:t>1</a:t>
            </a:r>
            <a:r>
              <a:rPr lang="en-US" sz="1200" dirty="0">
                <a:solidFill>
                  <a:srgbClr val="1A2433"/>
                </a:solidFill>
                <a:latin typeface="Calibri" pitchFamily="34" charset="0"/>
                <a:ea typeface="Calibri" pitchFamily="34" charset="-122"/>
                <a:cs typeface="Calibri" pitchFamily="34" charset="-120"/>
              </a:rPr>
              <a:t> SIN assessment (MR price). Spot ships carry grain, coal and clean products; MR spot holds some war premium, so the bear case uses 2025 averages and MR #2 fixes if spot stays below </a:t>
            </a:r>
            <a:r>
              <a:rPr lang="en-US" sz="1200" dirty="0" b="1">
                <a:solidFill>
                  <a:srgbClr val="1A2433"/>
                </a:solidFill>
                <a:latin typeface="Calibri" pitchFamily="34" charset="0"/>
                <a:ea typeface="Calibri" pitchFamily="34" charset="-122"/>
                <a:cs typeface="Calibri" pitchFamily="34" charset="-120"/>
              </a:rPr>
              <a:t>$20,000</a:t>
            </a:r>
            <a:r>
              <a:rPr lang="en-US" sz="1200" dirty="0">
                <a:solidFill>
                  <a:srgbClr val="1A2433"/>
                </a:solidFill>
                <a:latin typeface="Calibri" pitchFamily="34" charset="0"/>
                <a:ea typeface="Calibri" pitchFamily="34" charset="-122"/>
                <a:cs typeface="Calibri" pitchFamily="34" charset="-120"/>
              </a:rPr>
              <a:t> for 8 weeks.</a:t>
            </a:r>
            <a:endParaRPr lang="en-US" sz="1200" dirty="0"/>
          </a:p>
        </p:txBody>
      </p:sp>
      <p:sp>
        <p:nvSpPr>
          <p:cNvPr id="26" name="Panel title"/>
          <p:cNvSpPr txBox="1"/>
          <p:nvPr/>
        </p:nvSpPr>
        <p:spPr>
          <a:xfrm>
            <a:off x="685800" y="5193792"/>
            <a:ext cx="10789920" cy="274320"/>
          </a:xfrm>
          <a:prstGeom prst="rect">
            <a:avLst/>
          </a:prstGeom>
          <a:noFill/>
          <a:ln/>
        </p:spPr>
        <p:txBody>
          <a:bodyPr wrap="square" lIns="0" tIns="0" rIns="0" bIns="0" rtlCol="0" anchor="t"/>
          <a:lstStyle/>
          <a:p>
            <a:pPr marL="0" indent="0">
              <a:spcAft>
                <a:spcPts val="400"/>
              </a:spcAft>
              <a:buNone/>
            </a:pPr>
            <a:r>
              <a:rPr lang="en-US" sz="1600" dirty="0" b="1">
                <a:solidFill>
                  <a:srgbClr val="C8102E"/>
                </a:solidFill>
                <a:latin typeface="Cambria" pitchFamily="34" charset="0"/>
                <a:ea typeface="Cambria" pitchFamily="34" charset="-122"/>
                <a:cs typeface="Cambria" pitchFamily="34" charset="-120"/>
              </a:rPr>
              <a:t>Three price families, no crude on spot</a:t>
            </a:r>
            <a:endParaRPr lang="en-US" sz="16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Demand: three trades, three different engines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series 557125 (Guinea bauxite exports), 98802 / 534403 (products trade), 98801 / 534402 (crude trade and tonne-miles); SIN news #224049, #227870, #191021, #219145. Extracted 12 Sep 2026.</a:t>
            </a:r>
            <a:endParaRPr lang="en-US" sz="850" dirty="0"/>
          </a:p>
        </p:txBody>
      </p:sp>
      <p:sp>
        <p:nvSpPr>
          <p:cNvPr id="5" name="Stat"/>
          <p:cNvSpPr/>
          <p:nvPr/>
        </p:nvSpPr>
        <p:spPr>
          <a:xfrm>
            <a:off x="502920" y="1463040"/>
            <a:ext cx="356616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6" name="Stat value"/>
          <p:cNvSpPr txBox="1"/>
          <p:nvPr/>
        </p:nvSpPr>
        <p:spPr>
          <a:xfrm>
            <a:off x="640080" y="1572768"/>
            <a:ext cx="3291840" cy="502920"/>
          </a:xfrm>
          <a:prstGeom prst="rect">
            <a:avLst/>
          </a:prstGeom>
          <a:noFill/>
          <a:ln/>
        </p:spPr>
        <p:txBody>
          <a:bodyPr wrap="square" lIns="0" tIns="0" rIns="0" bIns="0" rtlCol="0" anchor="ctr"/>
          <a:lstStyle/>
          <a:p>
            <a:pPr marL="0" indent="0" algn="l">
              <a:buNone/>
            </a:pPr>
            <a:r>
              <a:rPr lang="en-US" sz="2600" b="1" dirty="0">
                <a:solidFill>
                  <a:srgbClr val="C8102E"/>
                </a:solidFill>
                <a:latin typeface="Cambria" pitchFamily="34" charset="0"/>
                <a:ea typeface="Cambria" pitchFamily="34" charset="-122"/>
                <a:cs typeface="Cambria" pitchFamily="34" charset="-120"/>
              </a:rPr>
              <a:t>+29%</a:t>
            </a:r>
            <a:endParaRPr lang="en-US" sz="2600" dirty="0"/>
          </a:p>
        </p:txBody>
      </p:sp>
      <p:sp>
        <p:nvSpPr>
          <p:cNvPr id="7" name="Stat label"/>
          <p:cNvSpPr txBox="1"/>
          <p:nvPr/>
        </p:nvSpPr>
        <p:spPr>
          <a:xfrm>
            <a:off x="640080" y="2084832"/>
            <a:ext cx="3291840" cy="67665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Guinea bauxite exports, Jan to Apr 2026 y/y. Simandou iron ore now shipping; the Guinea to China haul ties up more ships per tonne.</a:t>
            </a:r>
            <a:endParaRPr lang="en-US" sz="1050" dirty="0"/>
          </a:p>
        </p:txBody>
      </p:sp>
      <p:sp>
        <p:nvSpPr>
          <p:cNvPr id="8" name="Stat"/>
          <p:cNvSpPr/>
          <p:nvPr/>
        </p:nvSpPr>
        <p:spPr>
          <a:xfrm>
            <a:off x="4297680" y="1463040"/>
            <a:ext cx="356616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9" name="Stat value"/>
          <p:cNvSpPr txBox="1"/>
          <p:nvPr/>
        </p:nvSpPr>
        <p:spPr>
          <a:xfrm>
            <a:off x="4434840" y="1572768"/>
            <a:ext cx="3291840" cy="502920"/>
          </a:xfrm>
          <a:prstGeom prst="rect">
            <a:avLst/>
          </a:prstGeom>
          <a:noFill/>
          <a:ln/>
        </p:spPr>
        <p:txBody>
          <a:bodyPr wrap="square" lIns="0" tIns="0" rIns="0" bIns="0" rtlCol="0" anchor="ctr"/>
          <a:lstStyle/>
          <a:p>
            <a:pPr marL="0" indent="0" algn="l">
              <a:buNone/>
            </a:pPr>
            <a:r>
              <a:rPr lang="en-US" sz="2600" b="1" dirty="0">
                <a:solidFill>
                  <a:srgbClr val="C8102E"/>
                </a:solidFill>
                <a:latin typeface="Cambria" pitchFamily="34" charset="0"/>
                <a:ea typeface="Cambria" pitchFamily="34" charset="-122"/>
                <a:cs typeface="Cambria" pitchFamily="34" charset="-120"/>
              </a:rPr>
              <a:t>+6.3%</a:t>
            </a:r>
            <a:endParaRPr lang="en-US" sz="2600" dirty="0"/>
          </a:p>
        </p:txBody>
      </p:sp>
      <p:sp>
        <p:nvSpPr>
          <p:cNvPr id="10" name="Stat label"/>
          <p:cNvSpPr txBox="1"/>
          <p:nvPr/>
        </p:nvSpPr>
        <p:spPr>
          <a:xfrm>
            <a:off x="4434840" y="2084832"/>
            <a:ext cx="3291840" cy="67665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Seaborne products trade, 2027 forecast; tonne-miles +6.5%. Refining capacity shifting east lengthens product hauls.</a:t>
            </a:r>
            <a:endParaRPr lang="en-US" sz="1050" dirty="0"/>
          </a:p>
        </p:txBody>
      </p:sp>
      <p:sp>
        <p:nvSpPr>
          <p:cNvPr id="11" name="Stat"/>
          <p:cNvSpPr/>
          <p:nvPr/>
        </p:nvSpPr>
        <p:spPr>
          <a:xfrm>
            <a:off x="8092440" y="1463040"/>
            <a:ext cx="356616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12" name="Stat value"/>
          <p:cNvSpPr txBox="1"/>
          <p:nvPr/>
        </p:nvSpPr>
        <p:spPr>
          <a:xfrm>
            <a:off x="8229600" y="1572768"/>
            <a:ext cx="3291840" cy="502920"/>
          </a:xfrm>
          <a:prstGeom prst="rect">
            <a:avLst/>
          </a:prstGeom>
          <a:noFill/>
          <a:ln/>
        </p:spPr>
        <p:txBody>
          <a:bodyPr wrap="square" lIns="0" tIns="0" rIns="0" bIns="0" rtlCol="0" anchor="ctr"/>
          <a:lstStyle/>
          <a:p>
            <a:pPr marL="0" indent="0" algn="l">
              <a:buNone/>
            </a:pPr>
            <a:r>
              <a:rPr lang="en-US" sz="2600" b="1" dirty="0">
                <a:solidFill>
                  <a:srgbClr val="C8102E"/>
                </a:solidFill>
                <a:latin typeface="Cambria" pitchFamily="34" charset="0"/>
                <a:ea typeface="Cambria" pitchFamily="34" charset="-122"/>
                <a:cs typeface="Cambria" pitchFamily="34" charset="-120"/>
              </a:rPr>
              <a:t>−7.3%</a:t>
            </a:r>
            <a:endParaRPr lang="en-US" sz="2600" dirty="0"/>
          </a:p>
        </p:txBody>
      </p:sp>
      <p:sp>
        <p:nvSpPr>
          <p:cNvPr id="13" name="Stat label"/>
          <p:cNvSpPr txBox="1"/>
          <p:nvPr/>
        </p:nvSpPr>
        <p:spPr>
          <a:xfrm>
            <a:off x="8229600" y="2084832"/>
            <a:ext cx="3291840" cy="67665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Seaborne crude volumes 2026, yet average haul +3.3%. Hormuz and Red Sea rerouting prop up tonne-miles: lock income with a 3-year charter.</a:t>
            </a:r>
            <a:endParaRPr lang="en-US" sz="1050" dirty="0"/>
          </a:p>
        </p:txBody>
      </p:sp>
      <p:pic>
        <p:nvPicPr>
          <p:cNvPr id="14" name="06_bauxite_guinea.png" descr="/home/user/MT6102/charts_deck/06_bauxite_guinea.png"/>
          <p:cNvPicPr>
            <a:picLocks noChangeAspect="1"/>
          </p:cNvPicPr>
          <p:nvPr/>
        </p:nvPicPr>
        <p:blipFill>
          <a:blip r:embed="rId3"/>
          <a:srcRect/>
          <a:stretch/>
        </p:blipFill>
        <p:spPr>
          <a:xfrm>
            <a:off x="502920" y="3017520"/>
            <a:ext cx="5486400" cy="3017520"/>
          </a:xfrm>
          <a:prstGeom prst="rect">
            <a:avLst/>
          </a:prstGeom>
        </p:spPr>
      </p:pic>
      <p:pic>
        <p:nvPicPr>
          <p:cNvPr id="15" name="08_average_haul.png" descr="/home/user/MT6102/charts_deck/08_average_haul.png"/>
          <p:cNvPicPr>
            <a:picLocks noChangeAspect="1"/>
          </p:cNvPicPr>
          <p:nvPr/>
        </p:nvPicPr>
        <p:blipFill>
          <a:blip r:embed="rId4"/>
          <a:srcRect/>
          <a:stretch/>
        </p:blipFill>
        <p:spPr>
          <a:xfrm>
            <a:off x="6172200" y="3017520"/>
            <a:ext cx="5486400" cy="301752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Supply today: ships arrive, almost none leave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deliveries series 30301, 540953, 29984, 39696 and demolition series 30291, 540965, 29967, 39683, extracted 10 Oct 2026. Aframax crude = Aframax tanker series minus LR2. 2026 = year to date.</a:t>
            </a:r>
            <a:endParaRPr lang="en-US" sz="850" dirty="0"/>
          </a:p>
        </p:txBody>
      </p:sp>
      <p:pic>
        <p:nvPicPr>
          <p:cNvPr id="5" name="12_deliveries_vs_demolition.png" descr="/home/user/MT6102/charts_deck/12_deliveries_vs_demolition.png"/>
          <p:cNvPicPr>
            <a:picLocks noChangeAspect="1"/>
          </p:cNvPicPr>
          <p:nvPr/>
        </p:nvPicPr>
        <p:blipFill>
          <a:blip r:embed="rId3"/>
          <a:srcRect/>
          <a:stretch/>
        </p:blipFill>
        <p:spPr>
          <a:xfrm>
            <a:off x="502920" y="1463040"/>
            <a:ext cx="7315200" cy="4526280"/>
          </a:xfrm>
          <a:prstGeom prst="rect">
            <a:avLst/>
          </a:prstGeom>
        </p:spPr>
      </p:pic>
      <p:sp>
        <p:nvSpPr>
          <p:cNvPr id="6" name="Stat"/>
          <p:cNvSpPr/>
          <p:nvPr/>
        </p:nvSpPr>
        <p:spPr>
          <a:xfrm>
            <a:off x="8046720" y="1463040"/>
            <a:ext cx="361188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7" name="Stat value"/>
          <p:cNvSpPr txBox="1"/>
          <p:nvPr/>
        </p:nvSpPr>
        <p:spPr>
          <a:xfrm>
            <a:off x="8183880" y="1572768"/>
            <a:ext cx="3337560" cy="502920"/>
          </a:xfrm>
          <a:prstGeom prst="rect">
            <a:avLst/>
          </a:prstGeom>
          <a:noFill/>
          <a:ln/>
        </p:spPr>
        <p:txBody>
          <a:bodyPr wrap="square" lIns="0" tIns="0" rIns="0" bIns="0" rtlCol="0" anchor="ctr"/>
          <a:lstStyle/>
          <a:p>
            <a:pPr marL="0" indent="0" algn="l">
              <a:buNone/>
            </a:pPr>
            <a:r>
              <a:rPr lang="en-US" sz="2400" b="1" dirty="0">
                <a:solidFill>
                  <a:srgbClr val="C8102E"/>
                </a:solidFill>
                <a:latin typeface="Cambria" pitchFamily="34" charset="0"/>
                <a:ea typeface="Cambria" pitchFamily="34" charset="-122"/>
                <a:cs typeface="Cambria" pitchFamily="34" charset="-120"/>
              </a:rPr>
              <a:t>93 vs 609</a:t>
            </a:r>
            <a:endParaRPr lang="en-US" sz="2400" dirty="0"/>
          </a:p>
        </p:txBody>
      </p:sp>
      <p:sp>
        <p:nvSpPr>
          <p:cNvPr id="8" name="Stat label"/>
          <p:cNvSpPr txBox="1"/>
          <p:nvPr/>
        </p:nvSpPr>
        <p:spPr>
          <a:xfrm>
            <a:off x="8183880" y="2084832"/>
            <a:ext cx="3337560" cy="72237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Kamsarmax and Panamax scrapped against delivered, 2021 to 2025: only about 15% of new ships were offset.</a:t>
            </a:r>
            <a:endParaRPr lang="en-US" sz="1050" dirty="0"/>
          </a:p>
        </p:txBody>
      </p:sp>
      <p:sp>
        <p:nvSpPr>
          <p:cNvPr id="9" name="Stat"/>
          <p:cNvSpPr/>
          <p:nvPr/>
        </p:nvSpPr>
        <p:spPr>
          <a:xfrm>
            <a:off x="8046720" y="3017520"/>
            <a:ext cx="361188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0" name="Stat value"/>
          <p:cNvSpPr txBox="1"/>
          <p:nvPr/>
        </p:nvSpPr>
        <p:spPr>
          <a:xfrm>
            <a:off x="8183880" y="3127248"/>
            <a:ext cx="3337560" cy="502920"/>
          </a:xfrm>
          <a:prstGeom prst="rect">
            <a:avLst/>
          </a:prstGeom>
          <a:noFill/>
          <a:ln/>
        </p:spPr>
        <p:txBody>
          <a:bodyPr wrap="square" lIns="0" tIns="0" rIns="0" bIns="0" rtlCol="0" anchor="ctr"/>
          <a:lstStyle/>
          <a:p>
            <a:pPr marL="0" indent="0" algn="l">
              <a:buNone/>
            </a:pPr>
            <a:r>
              <a:rPr lang="en-US" sz="2400" b="1" dirty="0">
                <a:solidFill>
                  <a:srgbClr val="C8102E"/>
                </a:solidFill>
                <a:latin typeface="Cambria" pitchFamily="34" charset="0"/>
                <a:ea typeface="Cambria" pitchFamily="34" charset="-122"/>
                <a:cs typeface="Cambria" pitchFamily="34" charset="-120"/>
              </a:rPr>
              <a:t>3 in, 8 out</a:t>
            </a:r>
            <a:endParaRPr lang="en-US" sz="2400" dirty="0"/>
          </a:p>
        </p:txBody>
      </p:sp>
      <p:sp>
        <p:nvSpPr>
          <p:cNvPr id="11" name="Stat label"/>
          <p:cNvSpPr txBox="1"/>
          <p:nvPr/>
        </p:nvSpPr>
        <p:spPr>
          <a:xfrm>
            <a:off x="8183880" y="3639312"/>
            <a:ext cx="3337560" cy="72237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Crude Aframax in 2025: the fleet actually shrank.</a:t>
            </a:r>
            <a:endParaRPr lang="en-US" sz="1050" dirty="0"/>
          </a:p>
        </p:txBody>
      </p:sp>
      <p:sp>
        <p:nvSpPr>
          <p:cNvPr id="12" name="Stat"/>
          <p:cNvSpPr/>
          <p:nvPr/>
        </p:nvSpPr>
        <p:spPr>
          <a:xfrm>
            <a:off x="8046720" y="4572000"/>
            <a:ext cx="361188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3" name="Stat value"/>
          <p:cNvSpPr txBox="1"/>
          <p:nvPr/>
        </p:nvSpPr>
        <p:spPr>
          <a:xfrm>
            <a:off x="8183880" y="4681728"/>
            <a:ext cx="3337560" cy="502920"/>
          </a:xfrm>
          <a:prstGeom prst="rect">
            <a:avLst/>
          </a:prstGeom>
          <a:noFill/>
          <a:ln/>
        </p:spPr>
        <p:txBody>
          <a:bodyPr wrap="square" lIns="0" tIns="0" rIns="0" bIns="0" rtlCol="0" anchor="ctr"/>
          <a:lstStyle/>
          <a:p>
            <a:pPr marL="0" indent="0" algn="l">
              <a:buNone/>
            </a:pPr>
            <a:r>
              <a:rPr lang="en-US" sz="2400" b="1" dirty="0">
                <a:solidFill>
                  <a:srgbClr val="C8102E"/>
                </a:solidFill>
                <a:latin typeface="Cambria" pitchFamily="34" charset="0"/>
                <a:ea typeface="Cambria" pitchFamily="34" charset="-122"/>
                <a:cs typeface="Cambria" pitchFamily="34" charset="-120"/>
              </a:rPr>
              <a:t>153 vs 6</a:t>
            </a:r>
            <a:endParaRPr lang="en-US" sz="2400" dirty="0"/>
          </a:p>
        </p:txBody>
      </p:sp>
      <p:sp>
        <p:nvSpPr>
          <p:cNvPr id="14" name="Stat label"/>
          <p:cNvSpPr txBox="1"/>
          <p:nvPr/>
        </p:nvSpPr>
        <p:spPr>
          <a:xfrm>
            <a:off x="8183880" y="5193792"/>
            <a:ext cx="3337560" cy="72237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Kamsarmax and Panamax delivered against scrapped, 2026 year to date: scrapping has almost stopped.</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Supply ahead: a delivery wave peaks in 2027 to 2028</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Orderbook, Delivery Schedule and Fleet Register, extracted 10 Oct 2026. 2026 = deliveries still due Oct to Dec. MR = MR/Handy 25 to 55k dwt (incl. one ship due 2031). By number of ships.</a:t>
            </a:r>
            <a:endParaRPr lang="en-US" sz="850" dirty="0"/>
          </a:p>
        </p:txBody>
      </p:sp>
      <p:pic>
        <p:nvPicPr>
          <p:cNvPr id="5" name="13_delivery_schedule.png" descr="/home/user/MT6102/charts_deck/13_delivery_schedule.png"/>
          <p:cNvPicPr>
            <a:picLocks noChangeAspect="1"/>
          </p:cNvPicPr>
          <p:nvPr/>
        </p:nvPicPr>
        <p:blipFill>
          <a:blip r:embed="rId3"/>
          <a:srcRect/>
          <a:stretch/>
        </p:blipFill>
        <p:spPr>
          <a:xfrm>
            <a:off x="502920" y="1463040"/>
            <a:ext cx="7315200" cy="4526280"/>
          </a:xfrm>
          <a:prstGeom prst="rect">
            <a:avLst/>
          </a:prstGeom>
        </p:spPr>
      </p:pic>
      <p:sp>
        <p:nvSpPr>
          <p:cNvPr id="6" name="Text 3"/>
          <p:cNvSpPr txBox="1"/>
          <p:nvPr/>
        </p:nvSpPr>
        <p:spPr>
          <a:xfrm>
            <a:off x="8046720" y="1463040"/>
            <a:ext cx="3611880" cy="274320"/>
          </a:xfrm>
          <a:prstGeom prst="rect">
            <a:avLst/>
          </a:prstGeom>
          <a:noFill/>
          <a:ln/>
        </p:spPr>
        <p:txBody>
          <a:bodyPr wrap="square" lIns="0" tIns="0" rIns="0" bIns="0" rtlCol="0" anchor="ctr"/>
          <a:lstStyle/>
          <a:p>
            <a:pPr marL="0" indent="0">
              <a:buNone/>
            </a:pPr>
            <a:r>
              <a:rPr lang="en-US" sz="1200" b="1" dirty="0">
                <a:solidFill>
                  <a:srgbClr val="142B4F"/>
                </a:solidFill>
                <a:latin typeface="Calibri" pitchFamily="34" charset="0"/>
                <a:ea typeface="Calibri" pitchFamily="34" charset="-122"/>
                <a:cs typeface="Calibri" pitchFamily="34" charset="-120"/>
              </a:rPr>
              <a:t>Orderbook as % of current fleet (ships)</a:t>
            </a:r>
            <a:endParaRPr lang="en-US" sz="1200" dirty="0"/>
          </a:p>
        </p:txBody>
      </p:sp>
      <p:sp>
        <p:nvSpPr>
          <p:cNvPr id="7" name="OB card"/>
          <p:cNvSpPr/>
          <p:nvPr/>
        </p:nvSpPr>
        <p:spPr>
          <a:xfrm>
            <a:off x="8046720" y="1828800"/>
            <a:ext cx="3611880" cy="914400"/>
          </a:xfrm>
          <a:prstGeom prst="roundRect">
            <a:avLst>
              <a:gd name="adj" fmla="val 6000"/>
            </a:avLst>
          </a:prstGeom>
          <a:solidFill>
            <a:srgbClr val="EEF3FA"/>
          </a:solidFill>
          <a:ln w="9525">
            <a:solidFill>
              <a:srgbClr val="D7DEE8"/>
            </a:solidFill>
            <a:prstDash val="solid"/>
          </a:ln>
        </p:spPr>
        <p:txBody>
          <a:bodyPr/>
          <a:lstStyle/>
          <a:p>
            <a:endParaRPr lang="zh-CN" altLang="en-US"/>
          </a:p>
        </p:txBody>
      </p:sp>
      <p:sp>
        <p:nvSpPr>
          <p:cNvPr id="8" name="Text 5"/>
          <p:cNvSpPr txBox="1"/>
          <p:nvPr/>
        </p:nvSpPr>
        <p:spPr>
          <a:xfrm>
            <a:off x="8183880" y="1938528"/>
            <a:ext cx="2103120" cy="292608"/>
          </a:xfrm>
          <a:prstGeom prst="rect">
            <a:avLst/>
          </a:prstGeom>
          <a:noFill/>
          <a:ln/>
        </p:spPr>
        <p:txBody>
          <a:bodyPr wrap="square" lIns="0" tIns="0" rIns="0" bIns="0" rtlCol="0" anchor="ctr"/>
          <a:lstStyle/>
          <a:p>
            <a:pPr marL="0" indent="0">
              <a:buNone/>
            </a:pPr>
            <a:r>
              <a:rPr lang="en-US" sz="1300" b="1" dirty="0">
                <a:solidFill>
                  <a:srgbClr val="142B4F"/>
                </a:solidFill>
                <a:latin typeface="Calibri" pitchFamily="34" charset="0"/>
                <a:ea typeface="Calibri" pitchFamily="34" charset="-122"/>
                <a:cs typeface="Calibri" pitchFamily="34" charset="-120"/>
              </a:rPr>
              <a:t>Kamsarmax</a:t>
            </a:r>
            <a:endParaRPr lang="en-US" sz="1300" dirty="0"/>
          </a:p>
        </p:txBody>
      </p:sp>
      <p:sp>
        <p:nvSpPr>
          <p:cNvPr id="9" name="Text 6"/>
          <p:cNvSpPr txBox="1"/>
          <p:nvPr/>
        </p:nvSpPr>
        <p:spPr>
          <a:xfrm>
            <a:off x="8183880" y="2267712"/>
            <a:ext cx="2103120" cy="292608"/>
          </a:xfrm>
          <a:prstGeom prst="rect">
            <a:avLst/>
          </a:prstGeom>
          <a:noFill/>
          <a:ln/>
        </p:spPr>
        <p:txBody>
          <a:bodyPr wrap="square" lIns="0" tIns="0" rIns="0" bIns="0" rtlCol="0" anchor="ctr"/>
          <a:lstStyle/>
          <a:p>
            <a:pPr marL="0" indent="0">
              <a:buNone/>
            </a:pPr>
            <a:r>
              <a:rPr lang="en-US" sz="1050" dirty="0">
                <a:solidFill>
                  <a:srgbClr val="5A6472"/>
                </a:solidFill>
                <a:latin typeface="Calibri" pitchFamily="34" charset="0"/>
                <a:ea typeface="Calibri" pitchFamily="34" charset="-122"/>
                <a:cs typeface="Calibri" pitchFamily="34" charset="-120"/>
              </a:rPr>
              <a:t>472 / 3,487 ships</a:t>
            </a:r>
            <a:endParaRPr lang="en-US" sz="1050" dirty="0"/>
          </a:p>
        </p:txBody>
      </p:sp>
      <p:sp>
        <p:nvSpPr>
          <p:cNvPr id="10" name="Text 7"/>
          <p:cNvSpPr txBox="1"/>
          <p:nvPr/>
        </p:nvSpPr>
        <p:spPr>
          <a:xfrm>
            <a:off x="10241280" y="1993392"/>
            <a:ext cx="1325880" cy="548640"/>
          </a:xfrm>
          <a:prstGeom prst="rect">
            <a:avLst/>
          </a:prstGeom>
          <a:noFill/>
          <a:ln/>
        </p:spPr>
        <p:txBody>
          <a:bodyPr wrap="square" lIns="0" tIns="0" rIns="0" bIns="0" rtlCol="0" anchor="ctr"/>
          <a:lstStyle/>
          <a:p>
            <a:pPr marL="0" indent="0" algn="r">
              <a:buNone/>
            </a:pPr>
            <a:r>
              <a:rPr lang="en-US" sz="2400" b="1" dirty="0">
                <a:solidFill>
                  <a:srgbClr val="142B4F"/>
                </a:solidFill>
                <a:latin typeface="Cambria" pitchFamily="34" charset="0"/>
                <a:ea typeface="Cambria" pitchFamily="34" charset="-122"/>
                <a:cs typeface="Cambria" pitchFamily="34" charset="-120"/>
              </a:rPr>
              <a:t>13.5%</a:t>
            </a:r>
            <a:endParaRPr lang="en-US" sz="2400" dirty="0"/>
          </a:p>
        </p:txBody>
      </p:sp>
      <p:sp>
        <p:nvSpPr>
          <p:cNvPr id="11" name="OB card"/>
          <p:cNvSpPr/>
          <p:nvPr/>
        </p:nvSpPr>
        <p:spPr>
          <a:xfrm>
            <a:off x="8046720" y="2852928"/>
            <a:ext cx="3611880" cy="914400"/>
          </a:xfrm>
          <a:prstGeom prst="roundRect">
            <a:avLst>
              <a:gd name="adj" fmla="val 6000"/>
            </a:avLst>
          </a:prstGeom>
          <a:solidFill>
            <a:srgbClr val="EEF3FA"/>
          </a:solidFill>
          <a:ln w="9525">
            <a:solidFill>
              <a:srgbClr val="D7DEE8"/>
            </a:solidFill>
            <a:prstDash val="solid"/>
          </a:ln>
        </p:spPr>
        <p:txBody>
          <a:bodyPr/>
          <a:lstStyle/>
          <a:p>
            <a:endParaRPr lang="zh-CN" altLang="en-US"/>
          </a:p>
        </p:txBody>
      </p:sp>
      <p:sp>
        <p:nvSpPr>
          <p:cNvPr id="12" name="Text 9"/>
          <p:cNvSpPr txBox="1"/>
          <p:nvPr/>
        </p:nvSpPr>
        <p:spPr>
          <a:xfrm>
            <a:off x="8183880" y="2962656"/>
            <a:ext cx="2103120" cy="292608"/>
          </a:xfrm>
          <a:prstGeom prst="rect">
            <a:avLst/>
          </a:prstGeom>
          <a:noFill/>
          <a:ln/>
        </p:spPr>
        <p:txBody>
          <a:bodyPr wrap="square" lIns="0" tIns="0" rIns="0" bIns="0" rtlCol="0" anchor="ctr"/>
          <a:lstStyle/>
          <a:p>
            <a:pPr marL="0" indent="0">
              <a:buNone/>
            </a:pPr>
            <a:r>
              <a:rPr lang="en-US" sz="1300" b="1" dirty="0">
                <a:solidFill>
                  <a:srgbClr val="142B4F"/>
                </a:solidFill>
                <a:latin typeface="Calibri" pitchFamily="34" charset="0"/>
                <a:ea typeface="Calibri" pitchFamily="34" charset="-122"/>
                <a:cs typeface="Calibri" pitchFamily="34" charset="-120"/>
              </a:rPr>
              <a:t>MR</a:t>
            </a:r>
            <a:endParaRPr lang="en-US" sz="1300" dirty="0"/>
          </a:p>
        </p:txBody>
      </p:sp>
      <p:sp>
        <p:nvSpPr>
          <p:cNvPr id="13" name="Text 10"/>
          <p:cNvSpPr txBox="1"/>
          <p:nvPr/>
        </p:nvSpPr>
        <p:spPr>
          <a:xfrm>
            <a:off x="8183880" y="3291840"/>
            <a:ext cx="2103120" cy="292608"/>
          </a:xfrm>
          <a:prstGeom prst="rect">
            <a:avLst/>
          </a:prstGeom>
          <a:noFill/>
          <a:ln/>
        </p:spPr>
        <p:txBody>
          <a:bodyPr wrap="square" lIns="0" tIns="0" rIns="0" bIns="0" rtlCol="0" anchor="ctr"/>
          <a:lstStyle/>
          <a:p>
            <a:pPr marL="0" indent="0">
              <a:buNone/>
            </a:pPr>
            <a:r>
              <a:rPr lang="en-US" sz="1050" dirty="0">
                <a:solidFill>
                  <a:srgbClr val="5A6472"/>
                </a:solidFill>
                <a:latin typeface="Calibri" pitchFamily="34" charset="0"/>
                <a:ea typeface="Calibri" pitchFamily="34" charset="-122"/>
                <a:cs typeface="Calibri" pitchFamily="34" charset="-120"/>
              </a:rPr>
              <a:t>367 / 2,351 ships</a:t>
            </a:r>
            <a:endParaRPr lang="en-US" sz="1050" dirty="0"/>
          </a:p>
        </p:txBody>
      </p:sp>
      <p:sp>
        <p:nvSpPr>
          <p:cNvPr id="14" name="Text 11"/>
          <p:cNvSpPr txBox="1"/>
          <p:nvPr/>
        </p:nvSpPr>
        <p:spPr>
          <a:xfrm>
            <a:off x="10241280" y="3017520"/>
            <a:ext cx="1325880" cy="548640"/>
          </a:xfrm>
          <a:prstGeom prst="rect">
            <a:avLst/>
          </a:prstGeom>
          <a:noFill/>
          <a:ln/>
        </p:spPr>
        <p:txBody>
          <a:bodyPr wrap="square" lIns="0" tIns="0" rIns="0" bIns="0" rtlCol="0" anchor="ctr"/>
          <a:lstStyle/>
          <a:p>
            <a:pPr marL="0" indent="0" algn="r">
              <a:buNone/>
            </a:pPr>
            <a:r>
              <a:rPr lang="en-US" sz="2400" b="1" dirty="0">
                <a:solidFill>
                  <a:srgbClr val="142B4F"/>
                </a:solidFill>
                <a:latin typeface="Cambria" pitchFamily="34" charset="0"/>
                <a:ea typeface="Cambria" pitchFamily="34" charset="-122"/>
                <a:cs typeface="Cambria" pitchFamily="34" charset="-120"/>
              </a:rPr>
              <a:t>15.6%</a:t>
            </a:r>
            <a:endParaRPr lang="en-US" sz="2400" dirty="0"/>
          </a:p>
        </p:txBody>
      </p:sp>
      <p:sp>
        <p:nvSpPr>
          <p:cNvPr id="15" name="OB card"/>
          <p:cNvSpPr/>
          <p:nvPr/>
        </p:nvSpPr>
        <p:spPr>
          <a:xfrm>
            <a:off x="8046720" y="3877056"/>
            <a:ext cx="3611880" cy="914400"/>
          </a:xfrm>
          <a:prstGeom prst="roundRect">
            <a:avLst>
              <a:gd name="adj" fmla="val 6000"/>
            </a:avLst>
          </a:prstGeom>
          <a:solidFill>
            <a:srgbClr val="EEF3FA"/>
          </a:solidFill>
          <a:ln w="9525">
            <a:solidFill>
              <a:srgbClr val="D7DEE8"/>
            </a:solidFill>
            <a:prstDash val="solid"/>
          </a:ln>
        </p:spPr>
        <p:txBody>
          <a:bodyPr/>
          <a:lstStyle/>
          <a:p>
            <a:endParaRPr lang="zh-CN" altLang="en-US"/>
          </a:p>
        </p:txBody>
      </p:sp>
      <p:sp>
        <p:nvSpPr>
          <p:cNvPr id="16" name="Text 13"/>
          <p:cNvSpPr txBox="1"/>
          <p:nvPr/>
        </p:nvSpPr>
        <p:spPr>
          <a:xfrm>
            <a:off x="8183880" y="3986784"/>
            <a:ext cx="2103120" cy="292608"/>
          </a:xfrm>
          <a:prstGeom prst="rect">
            <a:avLst/>
          </a:prstGeom>
          <a:noFill/>
          <a:ln/>
        </p:spPr>
        <p:txBody>
          <a:bodyPr wrap="square" lIns="0" tIns="0" rIns="0" bIns="0" rtlCol="0" anchor="ctr"/>
          <a:lstStyle/>
          <a:p>
            <a:pPr marL="0" indent="0">
              <a:buNone/>
            </a:pPr>
            <a:r>
              <a:rPr lang="en-US" sz="1300" b="1" dirty="0">
                <a:solidFill>
                  <a:srgbClr val="142B4F"/>
                </a:solidFill>
                <a:latin typeface="Calibri" pitchFamily="34" charset="0"/>
                <a:ea typeface="Calibri" pitchFamily="34" charset="-122"/>
                <a:cs typeface="Calibri" pitchFamily="34" charset="-120"/>
              </a:rPr>
              <a:t>Aframax crude</a:t>
            </a:r>
            <a:endParaRPr lang="en-US" sz="1300" dirty="0"/>
          </a:p>
        </p:txBody>
      </p:sp>
      <p:sp>
        <p:nvSpPr>
          <p:cNvPr id="17" name="Text 14"/>
          <p:cNvSpPr txBox="1"/>
          <p:nvPr/>
        </p:nvSpPr>
        <p:spPr>
          <a:xfrm>
            <a:off x="8183880" y="4315968"/>
            <a:ext cx="2103120" cy="292608"/>
          </a:xfrm>
          <a:prstGeom prst="rect">
            <a:avLst/>
          </a:prstGeom>
          <a:noFill/>
          <a:ln/>
        </p:spPr>
        <p:txBody>
          <a:bodyPr wrap="square" lIns="0" tIns="0" rIns="0" bIns="0" rtlCol="0" anchor="ctr"/>
          <a:lstStyle/>
          <a:p>
            <a:pPr marL="0" indent="0">
              <a:buNone/>
            </a:pPr>
            <a:r>
              <a:rPr lang="en-US" sz="1050" dirty="0">
                <a:solidFill>
                  <a:srgbClr val="5A6472"/>
                </a:solidFill>
                <a:latin typeface="Calibri" pitchFamily="34" charset="0"/>
                <a:ea typeface="Calibri" pitchFamily="34" charset="-122"/>
                <a:cs typeface="Calibri" pitchFamily="34" charset="-120"/>
              </a:rPr>
              <a:t>62 / 696 ships</a:t>
            </a:r>
            <a:endParaRPr lang="en-US" sz="1050" dirty="0"/>
          </a:p>
        </p:txBody>
      </p:sp>
      <p:sp>
        <p:nvSpPr>
          <p:cNvPr id="18" name="Text 15"/>
          <p:cNvSpPr txBox="1"/>
          <p:nvPr/>
        </p:nvSpPr>
        <p:spPr>
          <a:xfrm>
            <a:off x="10241280" y="4041648"/>
            <a:ext cx="1325880" cy="548640"/>
          </a:xfrm>
          <a:prstGeom prst="rect">
            <a:avLst/>
          </a:prstGeom>
          <a:noFill/>
          <a:ln/>
        </p:spPr>
        <p:txBody>
          <a:bodyPr wrap="square" lIns="0" tIns="0" rIns="0" bIns="0" rtlCol="0" anchor="ctr"/>
          <a:lstStyle/>
          <a:p>
            <a:pPr marL="0" indent="0" algn="r">
              <a:buNone/>
            </a:pPr>
            <a:r>
              <a:rPr lang="en-US" sz="2400" b="1" dirty="0">
                <a:solidFill>
                  <a:srgbClr val="142B4F"/>
                </a:solidFill>
                <a:latin typeface="Cambria" pitchFamily="34" charset="0"/>
                <a:ea typeface="Cambria" pitchFamily="34" charset="-122"/>
                <a:cs typeface="Cambria" pitchFamily="34" charset="-120"/>
              </a:rPr>
              <a:t>8.9%</a:t>
            </a:r>
            <a:endParaRPr lang="en-US" sz="2400" dirty="0"/>
          </a:p>
        </p:txBody>
      </p:sp>
      <p:sp>
        <p:nvSpPr>
          <p:cNvPr id="19" name="OB card"/>
          <p:cNvSpPr/>
          <p:nvPr/>
        </p:nvSpPr>
        <p:spPr>
          <a:xfrm>
            <a:off x="8046720" y="4901184"/>
            <a:ext cx="3611880" cy="914400"/>
          </a:xfrm>
          <a:prstGeom prst="roundRect">
            <a:avLst>
              <a:gd name="adj" fmla="val 6000"/>
            </a:avLst>
          </a:prstGeom>
          <a:solidFill>
            <a:srgbClr val="FBECEC"/>
          </a:solidFill>
          <a:ln w="9525">
            <a:solidFill>
              <a:srgbClr val="D7DEE8"/>
            </a:solidFill>
            <a:prstDash val="solid"/>
          </a:ln>
        </p:spPr>
        <p:txBody>
          <a:bodyPr/>
          <a:lstStyle/>
          <a:p>
            <a:endParaRPr lang="zh-CN" altLang="en-US"/>
          </a:p>
        </p:txBody>
      </p:sp>
      <p:sp>
        <p:nvSpPr>
          <p:cNvPr id="20" name="Text 17"/>
          <p:cNvSpPr txBox="1"/>
          <p:nvPr/>
        </p:nvSpPr>
        <p:spPr>
          <a:xfrm>
            <a:off x="8183880" y="5010912"/>
            <a:ext cx="2103120" cy="292608"/>
          </a:xfrm>
          <a:prstGeom prst="rect">
            <a:avLst/>
          </a:prstGeom>
          <a:noFill/>
          <a:ln/>
        </p:spPr>
        <p:txBody>
          <a:bodyPr wrap="square" lIns="0" tIns="0" rIns="0" bIns="0" rtlCol="0" anchor="ctr"/>
          <a:lstStyle/>
          <a:p>
            <a:pPr marL="0" indent="0">
              <a:buNone/>
            </a:pPr>
            <a:r>
              <a:rPr lang="en-US" sz="1300" b="1" dirty="0">
                <a:solidFill>
                  <a:srgbClr val="142B4F"/>
                </a:solidFill>
                <a:latin typeface="Calibri" pitchFamily="34" charset="0"/>
                <a:ea typeface="Calibri" pitchFamily="34" charset="-122"/>
                <a:cs typeface="Calibri" pitchFamily="34" charset="-120"/>
              </a:rPr>
              <a:t>LR2</a:t>
            </a:r>
            <a:endParaRPr lang="en-US" sz="1300" dirty="0"/>
          </a:p>
        </p:txBody>
      </p:sp>
      <p:sp>
        <p:nvSpPr>
          <p:cNvPr id="21" name="Text 18"/>
          <p:cNvSpPr txBox="1"/>
          <p:nvPr/>
        </p:nvSpPr>
        <p:spPr>
          <a:xfrm>
            <a:off x="8183880" y="5340096"/>
            <a:ext cx="2103120" cy="292608"/>
          </a:xfrm>
          <a:prstGeom prst="rect">
            <a:avLst/>
          </a:prstGeom>
          <a:noFill/>
          <a:ln/>
        </p:spPr>
        <p:txBody>
          <a:bodyPr wrap="square" lIns="0" tIns="0" rIns="0" bIns="0" rtlCol="0" anchor="ctr"/>
          <a:lstStyle/>
          <a:p>
            <a:pPr marL="0" indent="0">
              <a:buNone/>
            </a:pPr>
            <a:r>
              <a:rPr lang="en-US" sz="1050" dirty="0">
                <a:solidFill>
                  <a:srgbClr val="5A6472"/>
                </a:solidFill>
                <a:latin typeface="Calibri" pitchFamily="34" charset="0"/>
                <a:ea typeface="Calibri" pitchFamily="34" charset="-122"/>
                <a:cs typeface="Calibri" pitchFamily="34" charset="-120"/>
              </a:rPr>
              <a:t>199 / 572 ships</a:t>
            </a:r>
            <a:endParaRPr lang="en-US" sz="1050" dirty="0"/>
          </a:p>
        </p:txBody>
      </p:sp>
      <p:sp>
        <p:nvSpPr>
          <p:cNvPr id="22" name="Text 19"/>
          <p:cNvSpPr txBox="1"/>
          <p:nvPr/>
        </p:nvSpPr>
        <p:spPr>
          <a:xfrm>
            <a:off x="10241280" y="5065776"/>
            <a:ext cx="1325880" cy="548640"/>
          </a:xfrm>
          <a:prstGeom prst="rect">
            <a:avLst/>
          </a:prstGeom>
          <a:noFill/>
          <a:ln/>
        </p:spPr>
        <p:txBody>
          <a:bodyPr wrap="square" lIns="0" tIns="0" rIns="0" bIns="0" rtlCol="0" anchor="ctr"/>
          <a:lstStyle/>
          <a:p>
            <a:pPr marL="0" indent="0" algn="r">
              <a:buNone/>
            </a:pPr>
            <a:r>
              <a:rPr lang="en-US" sz="2400" b="1" dirty="0">
                <a:solidFill>
                  <a:srgbClr val="C8102E"/>
                </a:solidFill>
                <a:latin typeface="Cambria" pitchFamily="34" charset="0"/>
                <a:ea typeface="Cambria" pitchFamily="34" charset="-122"/>
                <a:cs typeface="Cambria" pitchFamily="34" charset="-120"/>
              </a:rPr>
              <a:t>34.8%</a:t>
            </a:r>
            <a:endParaRPr lang="en-US" sz="24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3 · DEMAND AND SUPPLY</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Replacement test: new ships against the ageing fleet</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Orderbook Delivery Schedule and Fleet Register age profile, extracted 10 Oct 2026. Cover = orderbook divided by ships aged 20 years and over; below 1.0x the orderbook can largely replace scrapping once it resumes.</a:t>
            </a:r>
            <a:endParaRPr lang="en-US" sz="850" dirty="0"/>
          </a:p>
        </p:txBody>
      </p:sp>
      <p:pic>
        <p:nvPicPr>
          <p:cNvPr id="5" name="14_replacement_test.png" descr="/home/user/MT6102/charts_deck/14_replacement_test.png"/>
          <p:cNvPicPr>
            <a:picLocks noChangeAspect="1"/>
          </p:cNvPicPr>
          <p:nvPr/>
        </p:nvPicPr>
        <p:blipFill>
          <a:blip r:embed="rId3"/>
          <a:srcRect/>
          <a:stretch/>
        </p:blipFill>
        <p:spPr>
          <a:xfrm>
            <a:off x="502920" y="1463040"/>
            <a:ext cx="6675120" cy="3291840"/>
          </a:xfrm>
          <a:prstGeom prst="rect">
            <a:avLst/>
          </a:prstGeom>
        </p:spPr>
      </p:pic>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60920" y="1463040"/>
          <a:ext cx="4297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566928">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Segment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Cover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Verdict and our action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56692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Kamsarmax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0.76x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Balanced, 2027 wave: buy 2, fix 1 on a 1-year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MR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0.65x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Balanced, 2027 to 2028 wave: buy 2, fix 1 on a 1-year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56692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Aframax crude</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0.28x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Tightest supply: buy 1 on a 3-year TC</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LR2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marL="0" indent="0">
                        <a:buNone/>
                      </a:pPr>
                      <a:r>
                        <a:rPr lang="en-US" sz="1050" b="1" dirty="0">
                          <a:solidFill>
                            <a:srgbClr val="C8102E"/>
                          </a:solidFill>
                          <a:latin typeface="Calibri" pitchFamily="34" charset="0"/>
                          <a:ea typeface="Calibri" pitchFamily="34" charset="-122"/>
                          <a:cs typeface="Calibri" pitchFamily="34" charset="-120"/>
                        </a:rPr>
                        <a:t>3.37x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Oversupply, can switch to crude: avoid; the 3-year TC protects our Aframax</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extLst>
                  <a:ext uri="{0D108BD9-81ED-4DB2-BD59-A6C34878D82A}">
                    <a16:rowId xmlns:a16="http://schemas.microsoft.com/office/drawing/2014/main" val="10004"/>
                  </a:ext>
                </a:extLst>
              </a:tr>
            </a:tbl>
          </a:graphicData>
        </a:graphic>
      </p:graphicFrame>
      <p:sp>
        <p:nvSpPr>
          <p:cNvPr id="7" name="Panel"/>
          <p:cNvSpPr/>
          <p:nvPr/>
        </p:nvSpPr>
        <p:spPr>
          <a:xfrm>
            <a:off x="502920" y="4892040"/>
            <a:ext cx="11155680" cy="1051560"/>
          </a:xfrm>
          <a:prstGeom prst="roundRect">
            <a:avLst>
              <a:gd name="adj" fmla="val 5217"/>
            </a:avLst>
          </a:prstGeom>
          <a:solidFill>
            <a:srgbClr val="EEF3FA"/>
          </a:solidFill>
          <a:ln w="9525">
            <a:solidFill>
              <a:srgbClr val="D7DEE8"/>
            </a:solidFill>
            <a:prstDash val="solid"/>
          </a:ln>
        </p:spPr>
        <p:txBody>
          <a:bodyPr/>
          <a:lstStyle/>
          <a:p>
            <a:endParaRPr lang="zh-CN" altLang="en-US"/>
          </a:p>
        </p:txBody>
      </p:sp>
      <p:sp>
        <p:nvSpPr>
          <p:cNvPr id="8" name="Panel body"/>
          <p:cNvSpPr txBox="1"/>
          <p:nvPr/>
        </p:nvSpPr>
        <p:spPr>
          <a:xfrm>
            <a:off x="685800" y="5020056"/>
            <a:ext cx="10789920" cy="813816"/>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Ships live about 25 years, so the 20-year-plus cohort is the pool that scrapping draws from. Kamsarmax, MR and crude Aframax orderbooks are all smaller than that pool; LR2 orders are 3.4 times it. Clarksons' 9 October note on the recycling overhang confirms that the deferred scrapping will come.</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32579-59E8-B07E-057D-2E7BD7205D80}"/>
            </a:ext>
          </a:extLst>
        </p:cNvPr>
        <p:cNvGrpSpPr/>
        <p:nvPr/>
      </p:nvGrpSpPr>
      <p:grpSpPr>
        <a:xfrm>
          <a:off x="0" y="0"/>
          <a:ext cx="0" cy="0"/>
          <a:chOff x="0" y="0"/>
          <a:chExt cx="0" cy="0"/>
        </a:xfrm>
      </p:grpSpPr>
      <p:sp>
        <p:nvSpPr>
          <p:cNvPr id="2" name="Eyebrow">
            <a:extLst>
              <a:ext uri="{FF2B5EF4-FFF2-40B4-BE49-F238E27FC236}">
                <a16:creationId xmlns:a16="http://schemas.microsoft.com/office/drawing/2014/main" id="{530AC631-53B7-A939-A4E2-BBBEE88FF11D}"/>
              </a:ext>
            </a:extLst>
          </p:cNvPr>
          <p:cNvSpPr txBox="1"/>
          <p:nvPr/>
        </p:nvSpPr>
        <p:spPr>
          <a:xfrm>
            <a:off x="502920" y="329184"/>
            <a:ext cx="11155680" cy="274320"/>
          </a:xfrm>
          <a:prstGeom prst="rect">
            <a:avLst/>
          </a:prstGeom>
          <a:noFill/>
        </p:spPr>
        <p:txBody>
          <a:bodyPr wrap="square" lIns="0" tIns="0" rIns="0" bIns="0" rtlCol="0" anchor="ctr"/>
          <a:lstStyle/>
          <a:p>
            <a:pPr marL="0" indent="0">
              <a:buNone/>
            </a:pPr>
            <a:r>
              <a:rPr lang="en-US" sz="1100" b="1" kern="0" spc="200" dirty="0">
                <a:solidFill>
                  <a:srgbClr val="C8102E"/>
                </a:solidFill>
                <a:latin typeface="Calibri" panose="020F0502020204030204" charset="0"/>
                <a:ea typeface="Calibri" panose="020F0502020204030204" pitchFamily="34" charset="-122"/>
                <a:cs typeface="Calibri" panose="020F0502020204030204" pitchFamily="34" charset="-120"/>
              </a:rPr>
              <a:t>PART 4 · MARKET DATA AND NEWS</a:t>
            </a:r>
            <a:endParaRPr lang="en-US" sz="1100" dirty="0"/>
          </a:p>
        </p:txBody>
      </p:sp>
      <p:sp>
        <p:nvSpPr>
          <p:cNvPr id="3" name="Title">
            <a:extLst>
              <a:ext uri="{FF2B5EF4-FFF2-40B4-BE49-F238E27FC236}">
                <a16:creationId xmlns:a16="http://schemas.microsoft.com/office/drawing/2014/main" id="{1D9FB028-F894-2D85-40AC-EAD5851102D1}"/>
              </a:ext>
            </a:extLst>
          </p:cNvPr>
          <p:cNvSpPr txBox="1"/>
          <p:nvPr/>
        </p:nvSpPr>
        <p:spPr>
          <a:xfrm>
            <a:off x="502920" y="603504"/>
            <a:ext cx="11155680" cy="731520"/>
          </a:xfrm>
          <a:prstGeom prst="rect">
            <a:avLst/>
          </a:prstGeom>
          <a:noFill/>
        </p:spPr>
        <p:txBody>
          <a:bodyPr wrap="square" lIns="0" tIns="0" rIns="0" bIns="0" rtlCol="0" anchor="t"/>
          <a:lstStyle/>
          <a:p>
            <a:pPr marL="0" indent="0">
              <a:buNone/>
            </a:pPr>
            <a:r>
              <a:rPr lang="en-US" sz="2700" b="1" dirty="0">
                <a:solidFill>
                  <a:srgbClr val="142B4F"/>
                </a:solidFill>
                <a:latin typeface="Cambria" panose="02040503050406030204" pitchFamily="34" charset="0"/>
                <a:ea typeface="Cambria" panose="02040503050406030204" pitchFamily="34" charset="-122"/>
                <a:cs typeface="Cambria" panose="02040503050406030204" pitchFamily="34" charset="-120"/>
              </a:rPr>
              <a:t>Skip Suezmax: </a:t>
            </a:r>
          </a:p>
          <a:p>
            <a:pPr marL="0" indent="0">
              <a:buNone/>
            </a:pPr>
            <a:r>
              <a:rPr lang="en-US" altLang="zh-CN" sz="2400" b="1" dirty="0">
                <a:solidFill>
                  <a:srgbClr val="142B4F"/>
                </a:solidFill>
                <a:latin typeface="Cambria" panose="02040503050406030204" pitchFamily="34" charset="0"/>
                <a:ea typeface="Cambria" panose="02040503050406030204" pitchFamily="34" charset="-122"/>
                <a:cs typeface="Cambria" panose="02040503050406030204" pitchFamily="34" charset="-120"/>
              </a:rPr>
              <a:t>two peak signals and a supply shock that can reverse</a:t>
            </a:r>
          </a:p>
        </p:txBody>
      </p:sp>
      <p:sp>
        <p:nvSpPr>
          <p:cNvPr id="4" name="Source">
            <a:extLst>
              <a:ext uri="{FF2B5EF4-FFF2-40B4-BE49-F238E27FC236}">
                <a16:creationId xmlns:a16="http://schemas.microsoft.com/office/drawing/2014/main" id="{4BAA0D95-1220-89F0-E10A-3BC956E83A92}"/>
              </a:ext>
            </a:extLst>
          </p:cNvPr>
          <p:cNvSpPr txBox="1"/>
          <p:nvPr/>
        </p:nvSpPr>
        <p:spPr>
          <a:xfrm>
            <a:off x="502920" y="6126480"/>
            <a:ext cx="11155680" cy="292608"/>
          </a:xfrm>
          <a:prstGeom prst="rect">
            <a:avLst/>
          </a:prstGeom>
          <a:noFill/>
        </p:spPr>
        <p:txBody>
          <a:bodyPr wrap="square" lIns="0" tIns="0" rIns="0" bIns="0" rtlCol="0" anchor="ctr"/>
          <a:lstStyle/>
          <a:p>
            <a:pPr marL="0" indent="0">
              <a:buNone/>
            </a:pPr>
            <a:r>
              <a:rPr lang="en-US" sz="850" i="1" dirty="0">
                <a:solidFill>
                  <a:srgbClr val="5A6472"/>
                </a:solidFill>
                <a:latin typeface="Calibri" panose="020F0502020204030204" charset="0"/>
                <a:ea typeface="Calibri" panose="020F0502020204030204" pitchFamily="34" charset="-122"/>
                <a:cs typeface="Calibri" panose="020F0502020204030204" pitchFamily="34" charset="-120"/>
              </a:rPr>
              <a:t>Source: SIN series 87302 / 53070 (5-year-old and newbuild prices), 48989 / 49108 (1-year and 3-year TC), 531088 (earnings), dataset L6 (Hormuz transits), L11 (sanctioned fleet); news #221824, #227050, #228241. </a:t>
            </a:r>
            <a:endParaRPr lang="en-US" sz="850" dirty="0"/>
          </a:p>
        </p:txBody>
      </p:sp>
      <p:sp>
        <p:nvSpPr>
          <p:cNvPr id="6" name="Stat">
            <a:extLst>
              <a:ext uri="{FF2B5EF4-FFF2-40B4-BE49-F238E27FC236}">
                <a16:creationId xmlns:a16="http://schemas.microsoft.com/office/drawing/2014/main" id="{6E56F7B2-B54A-73B8-5567-2234E068DB6C}"/>
              </a:ext>
            </a:extLst>
          </p:cNvPr>
          <p:cNvSpPr/>
          <p:nvPr>
            <p:custDataLst>
              <p:tags r:id="rId1"/>
            </p:custDataLst>
          </p:nvPr>
        </p:nvSpPr>
        <p:spPr>
          <a:xfrm>
            <a:off x="7955280" y="146304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7" name="Stat value">
            <a:extLst>
              <a:ext uri="{FF2B5EF4-FFF2-40B4-BE49-F238E27FC236}">
                <a16:creationId xmlns:a16="http://schemas.microsoft.com/office/drawing/2014/main" id="{E9A86A96-F346-EA2A-E066-61E0AD96089D}"/>
              </a:ext>
            </a:extLst>
          </p:cNvPr>
          <p:cNvSpPr txBox="1"/>
          <p:nvPr>
            <p:custDataLst>
              <p:tags r:id="rId2"/>
            </p:custDataLst>
          </p:nvPr>
        </p:nvSpPr>
        <p:spPr>
          <a:xfrm>
            <a:off x="8092440" y="1572768"/>
            <a:ext cx="3429000" cy="502920"/>
          </a:xfrm>
          <a:prstGeom prst="rect">
            <a:avLst/>
          </a:prstGeom>
          <a:noFill/>
        </p:spPr>
        <p:txBody>
          <a:bodyPr wrap="square" lIns="0" tIns="0" rIns="0" bIns="0" rtlCol="0" anchor="ctr"/>
          <a:lstStyle/>
          <a:p>
            <a:pPr marL="0" indent="0" algn="l">
              <a:buNone/>
            </a:pPr>
            <a:r>
              <a:rPr lang="en-US" altLang="zh-CN" sz="2000" b="1" dirty="0">
                <a:solidFill>
                  <a:srgbClr val="C8102E"/>
                </a:solidFill>
                <a:latin typeface="Cambria" panose="02040503050406030204" pitchFamily="34" charset="0"/>
                <a:ea typeface="Cambria" panose="02040503050406030204" pitchFamily="34" charset="-122"/>
                <a:cs typeface="Cambria" panose="02040503050406030204" pitchFamily="34" charset="-120"/>
              </a:rPr>
              <a:t>Secondhand premium over newbuild</a:t>
            </a:r>
          </a:p>
        </p:txBody>
      </p:sp>
      <p:sp>
        <p:nvSpPr>
          <p:cNvPr id="8" name="Stat label">
            <a:extLst>
              <a:ext uri="{FF2B5EF4-FFF2-40B4-BE49-F238E27FC236}">
                <a16:creationId xmlns:a16="http://schemas.microsoft.com/office/drawing/2014/main" id="{3422FE73-C721-8AA6-0010-7A5F6DBD7BA7}"/>
              </a:ext>
            </a:extLst>
          </p:cNvPr>
          <p:cNvSpPr txBox="1"/>
          <p:nvPr>
            <p:custDataLst>
              <p:tags r:id="rId3"/>
            </p:custDataLst>
          </p:nvPr>
        </p:nvSpPr>
        <p:spPr>
          <a:xfrm>
            <a:off x="8092440" y="2240407"/>
            <a:ext cx="3429000" cy="722376"/>
          </a:xfrm>
          <a:prstGeom prst="rect">
            <a:avLst/>
          </a:prstGeom>
          <a:noFill/>
        </p:spPr>
        <p:txBody>
          <a:bodyPr wrap="square" lIns="0" tIns="0" rIns="0" bIns="0" rtlCol="0" anchor="t"/>
          <a:lstStyle/>
          <a:p>
            <a:pPr marL="0" indent="0" algn="l">
              <a:buNone/>
            </a:pPr>
            <a:r>
              <a:rPr lang="en-US" altLang="zh-CN" sz="1400" dirty="0"/>
              <a:t>5-yr Suezmax trades at </a:t>
            </a:r>
            <a:r>
              <a:rPr lang="en-US" altLang="zh-CN" sz="1400" b="1" dirty="0"/>
              <a:t>1.44x</a:t>
            </a:r>
            <a:r>
              <a:rPr lang="en-US" altLang="zh-CN" sz="1400" dirty="0"/>
              <a:t> newbuild in Oct (</a:t>
            </a:r>
            <a:r>
              <a:rPr lang="en-US" altLang="zh-CN" sz="1400" b="1" dirty="0"/>
              <a:t>1.23x</a:t>
            </a:r>
            <a:r>
              <a:rPr lang="en-US" altLang="zh-CN" sz="1400" dirty="0"/>
              <a:t> in Sep): </a:t>
            </a:r>
            <a:r>
              <a:rPr lang="en-US" altLang="zh-CN" sz="1400" b="1" dirty="0"/>
              <a:t>$130m vs $90m</a:t>
            </a:r>
            <a:r>
              <a:rPr lang="en-US" altLang="zh-CN" sz="1400" dirty="0"/>
              <a:t>.</a:t>
            </a:r>
          </a:p>
        </p:txBody>
      </p:sp>
      <p:sp>
        <p:nvSpPr>
          <p:cNvPr id="9" name="Stat">
            <a:extLst>
              <a:ext uri="{FF2B5EF4-FFF2-40B4-BE49-F238E27FC236}">
                <a16:creationId xmlns:a16="http://schemas.microsoft.com/office/drawing/2014/main" id="{3915CED4-F1AB-268A-EEB3-91683461C1B6}"/>
              </a:ext>
            </a:extLst>
          </p:cNvPr>
          <p:cNvSpPr/>
          <p:nvPr>
            <p:custDataLst>
              <p:tags r:id="rId4"/>
            </p:custDataLst>
          </p:nvPr>
        </p:nvSpPr>
        <p:spPr>
          <a:xfrm>
            <a:off x="7955280" y="301752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0" name="Stat value">
            <a:extLst>
              <a:ext uri="{FF2B5EF4-FFF2-40B4-BE49-F238E27FC236}">
                <a16:creationId xmlns:a16="http://schemas.microsoft.com/office/drawing/2014/main" id="{34D32DC8-954E-CB09-D19B-4E24DA6ECD7A}"/>
              </a:ext>
            </a:extLst>
          </p:cNvPr>
          <p:cNvSpPr txBox="1"/>
          <p:nvPr>
            <p:custDataLst>
              <p:tags r:id="rId5"/>
            </p:custDataLst>
          </p:nvPr>
        </p:nvSpPr>
        <p:spPr>
          <a:xfrm>
            <a:off x="8092440" y="3127248"/>
            <a:ext cx="3429000" cy="502920"/>
          </a:xfrm>
          <a:prstGeom prst="rect">
            <a:avLst/>
          </a:prstGeom>
          <a:noFill/>
        </p:spPr>
        <p:txBody>
          <a:bodyPr wrap="square" lIns="0" tIns="0" rIns="0" bIns="0" rtlCol="0" anchor="ctr"/>
          <a:lstStyle/>
          <a:p>
            <a:pPr marL="0" indent="0" algn="l">
              <a:buNone/>
            </a:pPr>
            <a:r>
              <a:rPr lang="en-US" altLang="zh-CN" sz="2000" b="1" dirty="0">
                <a:solidFill>
                  <a:srgbClr val="C8102E"/>
                </a:solidFill>
                <a:latin typeface="Cambria" panose="02040503050406030204" pitchFamily="34" charset="0"/>
                <a:ea typeface="Cambria" panose="02040503050406030204" pitchFamily="34" charset="-122"/>
                <a:cs typeface="Cambria" panose="02040503050406030204" pitchFamily="34" charset="-120"/>
              </a:rPr>
              <a:t>Steep backwardation</a:t>
            </a:r>
          </a:p>
        </p:txBody>
      </p:sp>
      <p:sp>
        <p:nvSpPr>
          <p:cNvPr id="11" name="Stat label">
            <a:extLst>
              <a:ext uri="{FF2B5EF4-FFF2-40B4-BE49-F238E27FC236}">
                <a16:creationId xmlns:a16="http://schemas.microsoft.com/office/drawing/2014/main" id="{42FB9096-2D37-8268-2B9F-191E923D553A}"/>
              </a:ext>
            </a:extLst>
          </p:cNvPr>
          <p:cNvSpPr txBox="1"/>
          <p:nvPr>
            <p:custDataLst>
              <p:tags r:id="rId6"/>
            </p:custDataLst>
          </p:nvPr>
        </p:nvSpPr>
        <p:spPr>
          <a:xfrm>
            <a:off x="8092440" y="3639312"/>
            <a:ext cx="3429000" cy="722376"/>
          </a:xfrm>
          <a:prstGeom prst="rect">
            <a:avLst/>
          </a:prstGeom>
          <a:noFill/>
        </p:spPr>
        <p:txBody>
          <a:bodyPr wrap="square" lIns="0" tIns="0" rIns="0" bIns="0" rtlCol="0" anchor="t"/>
          <a:lstStyle/>
          <a:p>
            <a:pPr marL="0" indent="0" algn="l">
              <a:buNone/>
            </a:pPr>
            <a:r>
              <a:rPr lang="en-US" altLang="zh-CN" sz="1400" dirty="0"/>
              <a:t>1-yr TC </a:t>
            </a:r>
            <a:r>
              <a:rPr lang="en-US" altLang="zh-CN" sz="1400" b="1" dirty="0"/>
              <a:t>$140k/day</a:t>
            </a:r>
            <a:r>
              <a:rPr lang="en-US" altLang="zh-CN" sz="1400" dirty="0"/>
              <a:t> vs 3-yr </a:t>
            </a:r>
            <a:r>
              <a:rPr lang="en-US" altLang="zh-CN" sz="1400" b="1" dirty="0"/>
              <a:t>$64k/day</a:t>
            </a:r>
            <a:r>
              <a:rPr lang="en-US" altLang="zh-CN" sz="1400" dirty="0"/>
              <a:t> in Oct; spot </a:t>
            </a:r>
            <a:r>
              <a:rPr lang="en-US" altLang="zh-CN" sz="1400" b="1" dirty="0"/>
              <a:t>$718k/day</a:t>
            </a:r>
            <a:r>
              <a:rPr lang="en-US" altLang="zh-CN" sz="1400" dirty="0"/>
              <a:t> at early Oct. The market prices today's rate as temporary.</a:t>
            </a:r>
          </a:p>
        </p:txBody>
      </p:sp>
      <p:sp>
        <p:nvSpPr>
          <p:cNvPr id="12" name="Stat">
            <a:extLst>
              <a:ext uri="{FF2B5EF4-FFF2-40B4-BE49-F238E27FC236}">
                <a16:creationId xmlns:a16="http://schemas.microsoft.com/office/drawing/2014/main" id="{7767DE8B-A0FD-4367-822F-D9B2F4CC09CC}"/>
              </a:ext>
            </a:extLst>
          </p:cNvPr>
          <p:cNvSpPr/>
          <p:nvPr>
            <p:custDataLst>
              <p:tags r:id="rId7"/>
            </p:custDataLst>
          </p:nvPr>
        </p:nvSpPr>
        <p:spPr>
          <a:xfrm>
            <a:off x="7955280" y="457200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3" name="Stat value">
            <a:extLst>
              <a:ext uri="{FF2B5EF4-FFF2-40B4-BE49-F238E27FC236}">
                <a16:creationId xmlns:a16="http://schemas.microsoft.com/office/drawing/2014/main" id="{A2941D44-2737-647E-E239-9EE703B1ED28}"/>
              </a:ext>
            </a:extLst>
          </p:cNvPr>
          <p:cNvSpPr txBox="1"/>
          <p:nvPr>
            <p:custDataLst>
              <p:tags r:id="rId8"/>
            </p:custDataLst>
          </p:nvPr>
        </p:nvSpPr>
        <p:spPr>
          <a:xfrm>
            <a:off x="8092440" y="4681728"/>
            <a:ext cx="3429000" cy="502920"/>
          </a:xfrm>
          <a:prstGeom prst="rect">
            <a:avLst/>
          </a:prstGeom>
          <a:noFill/>
        </p:spPr>
        <p:txBody>
          <a:bodyPr wrap="square" lIns="0" tIns="0" rIns="0" bIns="0" rtlCol="0" anchor="ctr"/>
          <a:lstStyle/>
          <a:p>
            <a:pPr marL="0" indent="0" algn="l">
              <a:buNone/>
            </a:pPr>
            <a:r>
              <a:rPr lang="en-US" altLang="zh-CN" sz="2000" b="1" dirty="0">
                <a:solidFill>
                  <a:srgbClr val="C8102E"/>
                </a:solidFill>
                <a:latin typeface="Cambria" panose="02040503050406030204" pitchFamily="34" charset="0"/>
                <a:ea typeface="Cambria" panose="02040503050406030204" pitchFamily="34" charset="-122"/>
                <a:cs typeface="Cambria" panose="02040503050406030204" pitchFamily="34" charset="-120"/>
              </a:rPr>
              <a:t>Reversible supply shock</a:t>
            </a:r>
          </a:p>
        </p:txBody>
      </p:sp>
      <p:sp>
        <p:nvSpPr>
          <p:cNvPr id="14" name="Stat label">
            <a:extLst>
              <a:ext uri="{FF2B5EF4-FFF2-40B4-BE49-F238E27FC236}">
                <a16:creationId xmlns:a16="http://schemas.microsoft.com/office/drawing/2014/main" id="{476718DD-E3CC-AB97-1FC2-51E4D6D7DBBE}"/>
              </a:ext>
            </a:extLst>
          </p:cNvPr>
          <p:cNvSpPr txBox="1"/>
          <p:nvPr>
            <p:custDataLst>
              <p:tags r:id="rId9"/>
            </p:custDataLst>
          </p:nvPr>
        </p:nvSpPr>
        <p:spPr>
          <a:xfrm>
            <a:off x="8092440" y="5193792"/>
            <a:ext cx="3429000" cy="722376"/>
          </a:xfrm>
          <a:prstGeom prst="rect">
            <a:avLst/>
          </a:prstGeom>
          <a:noFill/>
        </p:spPr>
        <p:txBody>
          <a:bodyPr wrap="square" lIns="0" tIns="0" rIns="0" bIns="0" rtlCol="0" anchor="t"/>
          <a:lstStyle/>
          <a:p>
            <a:pPr marL="0" indent="0" algn="l">
              <a:buNone/>
            </a:pPr>
            <a:r>
              <a:rPr lang="en-US" altLang="zh-CN" sz="1400" dirty="0"/>
              <a:t>Hormuz crude tanker transits </a:t>
            </a:r>
            <a:r>
              <a:rPr lang="en-US" altLang="zh-CN" sz="1400" b="1" dirty="0"/>
              <a:t>2 to 7 a week;</a:t>
            </a:r>
            <a:r>
              <a:rPr lang="en-US" altLang="zh-CN" sz="1400" dirty="0"/>
              <a:t> </a:t>
            </a:r>
            <a:r>
              <a:rPr lang="en-US" altLang="zh-CN" sz="1400" b="1" dirty="0"/>
              <a:t>20%</a:t>
            </a:r>
            <a:r>
              <a:rPr lang="en-US" altLang="zh-CN" sz="1400" dirty="0"/>
              <a:t> of crude tanker capacity sanctioned. Both reverse quickly.</a:t>
            </a:r>
          </a:p>
        </p:txBody>
      </p:sp>
      <p:sp>
        <p:nvSpPr>
          <p:cNvPr id="25" name="Slide Number Placeholder 0">
            <a:extLst>
              <a:ext uri="{FF2B5EF4-FFF2-40B4-BE49-F238E27FC236}">
                <a16:creationId xmlns:a16="http://schemas.microsoft.com/office/drawing/2014/main" id="{B07410EF-8943-DF52-5828-C12FB065E051}"/>
              </a:ext>
            </a:extLst>
          </p:cNvPr>
          <p:cNvSpPr>
            <a:spLocks noGrp="1"/>
          </p:cNvSpPr>
          <p:nvPr>
            <p:ph type="sldNum" sz="quarter" idx="4294967295"/>
          </p:nvPr>
        </p:nvSpPr>
        <p:spPr>
          <a:xfrm>
            <a:off x="11247120" y="6473952"/>
            <a:ext cx="457200" cy="274320"/>
          </a:xfrm>
          <a:prstGeom prst="rect">
            <a:avLst/>
          </a:prstGeom>
        </p:spPr>
        <p:txBody>
          <a:bodyPr/>
          <a:lstStyle>
            <a:lvl1pPr>
              <a:defRPr sz="900">
                <a:solidFill>
                  <a:srgbClr val="5A6472"/>
                </a:solidFill>
                <a:latin typeface="Calibri" panose="020F0502020204030204"/>
                <a:ea typeface="Calibri" panose="020F0502020204030204"/>
                <a:cs typeface="Calibri" panose="020F0502020204030204"/>
              </a:defRPr>
            </a:lvl1pPr>
          </a:lstStyle>
          <a:p>
            <a:pPr algn="r"/>
            <a:fld id="{F7021451-1387-4CA6-816F-3879F97B5CBC}" type="slidenum">
              <a:rPr lang="en-US" b="0"/>
              <a:t>14</a:t>
            </a:fld>
            <a:endParaRPr lang="en-US"/>
          </a:p>
        </p:txBody>
      </p:sp>
      <p:sp>
        <p:nvSpPr>
          <p:cNvPr id="15" name="文本框 14">
            <a:extLst>
              <a:ext uri="{FF2B5EF4-FFF2-40B4-BE49-F238E27FC236}">
                <a16:creationId xmlns:a16="http://schemas.microsoft.com/office/drawing/2014/main" id="{14B98870-10A5-E3A3-5DBF-5DCB4FD925AA}"/>
              </a:ext>
            </a:extLst>
          </p:cNvPr>
          <p:cNvSpPr txBox="1"/>
          <p:nvPr/>
        </p:nvSpPr>
        <p:spPr>
          <a:xfrm>
            <a:off x="1127125" y="1567815"/>
            <a:ext cx="4064000" cy="275590"/>
          </a:xfrm>
          <a:prstGeom prst="rect">
            <a:avLst/>
          </a:prstGeom>
          <a:noFill/>
        </p:spPr>
        <p:txBody>
          <a:bodyPr wrap="square" rtlCol="0">
            <a:spAutoFit/>
          </a:bodyPr>
          <a:lstStyle/>
          <a:p>
            <a:pPr algn="l">
              <a:buClrTx/>
              <a:buSzTx/>
              <a:buNone/>
            </a:pPr>
            <a:r>
              <a:rPr lang="en-US" altLang="zh-CN" sz="1200" b="1">
                <a:solidFill>
                  <a:schemeClr val="tx1">
                    <a:lumMod val="75000"/>
                    <a:lumOff val="25000"/>
                  </a:schemeClr>
                </a:solidFill>
                <a:latin typeface="Arial" panose="020B0604020202020204" pitchFamily="34" charset="0"/>
                <a:cs typeface="Arial" panose="020B0604020202020204" pitchFamily="34" charset="0"/>
              </a:rPr>
              <a:t>Suezmax 5-yr secondhand VS newbuild price</a:t>
            </a:r>
          </a:p>
        </p:txBody>
      </p:sp>
      <p:sp>
        <p:nvSpPr>
          <p:cNvPr id="16" name="文本框 15">
            <a:extLst>
              <a:ext uri="{FF2B5EF4-FFF2-40B4-BE49-F238E27FC236}">
                <a16:creationId xmlns:a16="http://schemas.microsoft.com/office/drawing/2014/main" id="{A95DCE70-7445-7C44-1DF1-646138B4D050}"/>
              </a:ext>
            </a:extLst>
          </p:cNvPr>
          <p:cNvSpPr txBox="1"/>
          <p:nvPr/>
        </p:nvSpPr>
        <p:spPr>
          <a:xfrm>
            <a:off x="5475605" y="1463040"/>
            <a:ext cx="2195195" cy="460375"/>
          </a:xfrm>
          <a:prstGeom prst="rect">
            <a:avLst/>
          </a:prstGeom>
          <a:noFill/>
        </p:spPr>
        <p:txBody>
          <a:bodyPr wrap="square" rtlCol="0">
            <a:spAutoFit/>
          </a:bodyPr>
          <a:lstStyle/>
          <a:p>
            <a:r>
              <a:rPr lang="en-US" altLang="zh-CN" sz="1200" b="1">
                <a:solidFill>
                  <a:schemeClr val="tx1">
                    <a:lumMod val="75000"/>
                    <a:lumOff val="25000"/>
                  </a:schemeClr>
                </a:solidFill>
                <a:latin typeface="Arial" panose="020B0604020202020204" pitchFamily="34" charset="0"/>
                <a:cs typeface="Arial" panose="020B0604020202020204" pitchFamily="34" charset="0"/>
              </a:rPr>
              <a:t>Steep backwardation:</a:t>
            </a:r>
            <a:endParaRPr lang="zh-CN" altLang="en-US" sz="1200" b="1">
              <a:solidFill>
                <a:schemeClr val="tx1">
                  <a:lumMod val="75000"/>
                  <a:lumOff val="25000"/>
                </a:schemeClr>
              </a:solidFill>
              <a:latin typeface="Arial" panose="020B0604020202020204" pitchFamily="34" charset="0"/>
              <a:cs typeface="Arial" panose="020B0604020202020204" pitchFamily="34" charset="0"/>
            </a:endParaRPr>
          </a:p>
          <a:p>
            <a:r>
              <a:rPr lang="en-US" altLang="zh-CN" sz="1200" b="1">
                <a:solidFill>
                  <a:schemeClr val="tx1">
                    <a:lumMod val="75000"/>
                    <a:lumOff val="25000"/>
                  </a:schemeClr>
                </a:solidFill>
                <a:latin typeface="Arial" panose="020B0604020202020204" pitchFamily="34" charset="0"/>
                <a:cs typeface="Arial" panose="020B0604020202020204" pitchFamily="34" charset="0"/>
              </a:rPr>
              <a:t>September VS October</a:t>
            </a:r>
          </a:p>
        </p:txBody>
      </p:sp>
      <p:pic>
        <p:nvPicPr>
          <p:cNvPr id="17" name="01_peak_signals_suezmax.png" descr="/home/user/MT6102/charts_deck/01_peak_signals_suezmax.png">
            <a:extLst>
              <a:ext uri="{FF2B5EF4-FFF2-40B4-BE49-F238E27FC236}">
                <a16:creationId xmlns:a16="http://schemas.microsoft.com/office/drawing/2014/main" id="{1C2C9537-44F5-7ED1-EE91-22F1F436233F}"/>
              </a:ext>
            </a:extLst>
          </p:cNvPr>
          <p:cNvPicPr>
            <a:picLocks noChangeAspect="1"/>
          </p:cNvPicPr>
          <p:nvPr/>
        </p:nvPicPr>
        <p:blipFill>
          <a:blip r:embed="rId12"/>
          <a:srcRect t="14846"/>
          <a:stretch>
            <a:fillRect/>
          </a:stretch>
        </p:blipFill>
        <p:spPr>
          <a:xfrm>
            <a:off x="208280" y="2004695"/>
            <a:ext cx="7505700" cy="4004945"/>
          </a:xfrm>
          <a:prstGeom prst="rect">
            <a:avLst/>
          </a:prstGeom>
        </p:spPr>
      </p:pic>
    </p:spTree>
    <p:extLst>
      <p:ext uri="{BB962C8B-B14F-4D97-AF65-F5344CB8AC3E}">
        <p14:creationId xmlns:p14="http://schemas.microsoft.com/office/powerpoint/2010/main" val="3777637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p:spPr>
        <p:txBody>
          <a:bodyPr wrap="square" lIns="0" tIns="0" rIns="0" bIns="0" rtlCol="0" anchor="ctr"/>
          <a:lstStyle/>
          <a:p>
            <a:pPr marL="0" indent="0">
              <a:buNone/>
            </a:pPr>
            <a:r>
              <a:rPr lang="en-US" sz="1100" b="1" kern="0" spc="200" dirty="0">
                <a:solidFill>
                  <a:srgbClr val="C8102E"/>
                </a:solidFill>
                <a:latin typeface="Calibri" panose="020F0502020204030204" charset="0"/>
                <a:ea typeface="Calibri" panose="020F0502020204030204" pitchFamily="34" charset="-122"/>
                <a:cs typeface="Calibri" panose="020F0502020204030204" pitchFamily="34" charset="-120"/>
              </a:rPr>
              <a:t>PART 4 · MARKET DATA AND NEWS</a:t>
            </a:r>
            <a:endParaRPr lang="en-US" sz="1100" dirty="0"/>
          </a:p>
        </p:txBody>
      </p:sp>
      <p:sp>
        <p:nvSpPr>
          <p:cNvPr id="3" name="Title"/>
          <p:cNvSpPr txBox="1"/>
          <p:nvPr/>
        </p:nvSpPr>
        <p:spPr>
          <a:xfrm>
            <a:off x="502920" y="713994"/>
            <a:ext cx="11155680" cy="731520"/>
          </a:xfrm>
          <a:prstGeom prst="rect">
            <a:avLst/>
          </a:prstGeom>
          <a:noFill/>
        </p:spPr>
        <p:txBody>
          <a:bodyPr wrap="square" lIns="0" tIns="0" rIns="0" bIns="0" rtlCol="0" anchor="t"/>
          <a:lstStyle/>
          <a:p>
            <a:pPr marL="0" indent="0">
              <a:buNone/>
            </a:pPr>
            <a:r>
              <a:rPr lang="en-US" altLang="zh-CN" sz="2700" b="1" dirty="0">
                <a:solidFill>
                  <a:srgbClr val="142B4F"/>
                </a:solidFill>
                <a:latin typeface="Cambria" panose="02040503050406030204" pitchFamily="34" charset="0"/>
                <a:ea typeface="Cambria" panose="02040503050406030204" pitchFamily="34" charset="-122"/>
                <a:cs typeface="Cambria" panose="02040503050406030204" pitchFamily="34" charset="-120"/>
              </a:rPr>
              <a:t>Buy value: dry bulk strong but off the peak, MR at replacement cost</a:t>
            </a:r>
          </a:p>
        </p:txBody>
      </p:sp>
      <p:sp>
        <p:nvSpPr>
          <p:cNvPr id="4" name="Source"/>
          <p:cNvSpPr txBox="1"/>
          <p:nvPr/>
        </p:nvSpPr>
        <p:spPr>
          <a:xfrm>
            <a:off x="502920" y="6126480"/>
            <a:ext cx="11155680" cy="292608"/>
          </a:xfrm>
          <a:prstGeom prst="rect">
            <a:avLst/>
          </a:prstGeom>
          <a:noFill/>
        </p:spPr>
        <p:txBody>
          <a:bodyPr wrap="square" lIns="0" tIns="0" rIns="0" bIns="0" rtlCol="0" anchor="ctr"/>
          <a:lstStyle/>
          <a:p>
            <a:pPr marL="0" indent="0">
              <a:buNone/>
            </a:pPr>
            <a:r>
              <a:rPr lang="en-US" sz="850" i="1" dirty="0">
                <a:solidFill>
                  <a:srgbClr val="5A6472"/>
                </a:solidFill>
                <a:latin typeface="Calibri" panose="020F0502020204030204" charset="0"/>
                <a:ea typeface="Calibri" panose="020F0502020204030204" pitchFamily="34" charset="-122"/>
                <a:cs typeface="Calibri" panose="020F0502020204030204" pitchFamily="34" charset="-120"/>
                <a:sym typeface="+mn-ea"/>
              </a:rPr>
              <a:t>Source: SIN series 17259 (BDI daily to mid-Sep, plus 6 and 13 Oct readings), 5-year-old and newbuild prices 47130 / 71267, 540721 / 70747, 38981 / 35905, 87302 / 53070 (Sep extract against Oct re-pull); news #225971, #228048, #219145, #191021.</a:t>
            </a:r>
            <a:endParaRPr lang="en-US" sz="850" dirty="0"/>
          </a:p>
        </p:txBody>
      </p:sp>
      <p:sp>
        <p:nvSpPr>
          <p:cNvPr id="6" name="Stat"/>
          <p:cNvSpPr/>
          <p:nvPr>
            <p:custDataLst>
              <p:tags r:id="rId1"/>
            </p:custDataLst>
          </p:nvPr>
        </p:nvSpPr>
        <p:spPr>
          <a:xfrm>
            <a:off x="7955280" y="146304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7" name="Stat value"/>
          <p:cNvSpPr txBox="1"/>
          <p:nvPr>
            <p:custDataLst>
              <p:tags r:id="rId2"/>
            </p:custDataLst>
          </p:nvPr>
        </p:nvSpPr>
        <p:spPr>
          <a:xfrm>
            <a:off x="8092440" y="1572895"/>
            <a:ext cx="3631565" cy="502920"/>
          </a:xfrm>
          <a:prstGeom prst="rect">
            <a:avLst/>
          </a:prstGeom>
          <a:noFill/>
        </p:spPr>
        <p:txBody>
          <a:bodyPr wrap="square" lIns="0" tIns="0" rIns="0" bIns="0" rtlCol="0" anchor="ctr"/>
          <a:lstStyle/>
          <a:p>
            <a:pPr marL="0" indent="0" algn="l">
              <a:buNone/>
            </a:pPr>
            <a:r>
              <a:rPr lang="en-US" sz="2000" b="1" dirty="0">
                <a:solidFill>
                  <a:srgbClr val="C00000"/>
                </a:solidFill>
                <a:latin typeface="Cambria" panose="02040503050406030204" pitchFamily="34" charset="0"/>
                <a:ea typeface="Cambria" panose="02040503050406030204" pitchFamily="34" charset="-122"/>
                <a:cs typeface="Cambria" panose="02040503050406030204" pitchFamily="34" charset="-120"/>
              </a:rPr>
              <a:t>Dry bulk strong but off the high</a:t>
            </a:r>
            <a:endParaRPr lang="en-US" altLang="zh-CN" sz="2000" b="1" dirty="0">
              <a:solidFill>
                <a:srgbClr val="C00000"/>
              </a:solidFill>
              <a:latin typeface="Cambria" panose="02040503050406030204" pitchFamily="34" charset="0"/>
              <a:ea typeface="Cambria" panose="02040503050406030204" pitchFamily="34" charset="-122"/>
              <a:cs typeface="Cambria" panose="02040503050406030204" pitchFamily="34" charset="-120"/>
            </a:endParaRPr>
          </a:p>
        </p:txBody>
      </p:sp>
      <p:sp>
        <p:nvSpPr>
          <p:cNvPr id="8" name="Stat label"/>
          <p:cNvSpPr txBox="1"/>
          <p:nvPr>
            <p:custDataLst>
              <p:tags r:id="rId3"/>
            </p:custDataLst>
          </p:nvPr>
        </p:nvSpPr>
        <p:spPr>
          <a:xfrm>
            <a:off x="8092440" y="2240407"/>
            <a:ext cx="3429000" cy="722376"/>
          </a:xfrm>
          <a:prstGeom prst="rect">
            <a:avLst/>
          </a:prstGeom>
          <a:noFill/>
        </p:spPr>
        <p:txBody>
          <a:bodyPr wrap="square" lIns="0" tIns="0" rIns="0" bIns="0" rtlCol="0" anchor="t"/>
          <a:lstStyle/>
          <a:p>
            <a:pPr marL="0" indent="0" algn="l">
              <a:buNone/>
            </a:pP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BDI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2,801</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on 13 Oct,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20%</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below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3,521</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in mid-Sep; still above the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2,000</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trigger.</a:t>
            </a:r>
          </a:p>
        </p:txBody>
      </p:sp>
      <p:sp>
        <p:nvSpPr>
          <p:cNvPr id="9" name="Stat"/>
          <p:cNvSpPr/>
          <p:nvPr>
            <p:custDataLst>
              <p:tags r:id="rId4"/>
            </p:custDataLst>
          </p:nvPr>
        </p:nvSpPr>
        <p:spPr>
          <a:xfrm>
            <a:off x="7955280" y="301752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0" name="Stat value"/>
          <p:cNvSpPr txBox="1"/>
          <p:nvPr>
            <p:custDataLst>
              <p:tags r:id="rId5"/>
            </p:custDataLst>
          </p:nvPr>
        </p:nvSpPr>
        <p:spPr>
          <a:xfrm>
            <a:off x="8092440" y="3127248"/>
            <a:ext cx="3429000" cy="502920"/>
          </a:xfrm>
          <a:prstGeom prst="rect">
            <a:avLst/>
          </a:prstGeom>
          <a:noFill/>
        </p:spPr>
        <p:txBody>
          <a:bodyPr wrap="square" lIns="0" tIns="0" rIns="0" bIns="0" rtlCol="0" anchor="ctr"/>
          <a:lstStyle/>
          <a:p>
            <a:pPr marL="0" indent="0" algn="l">
              <a:buNone/>
            </a:pPr>
            <a:r>
              <a:rPr lang="en-US" altLang="zh-CN" sz="2000" b="1" dirty="0">
                <a:solidFill>
                  <a:srgbClr val="C00000"/>
                </a:solidFill>
                <a:latin typeface="Cambria" panose="02040503050406030204" pitchFamily="34" charset="0"/>
                <a:ea typeface="Cambria" panose="02040503050406030204" pitchFamily="34" charset="-122"/>
                <a:cs typeface="Cambria" panose="02040503050406030204" pitchFamily="34" charset="-120"/>
              </a:rPr>
              <a:t>Kamsarmax: a modest premium over newbuild</a:t>
            </a:r>
          </a:p>
        </p:txBody>
      </p:sp>
      <p:sp>
        <p:nvSpPr>
          <p:cNvPr id="11" name="Stat label"/>
          <p:cNvSpPr txBox="1"/>
          <p:nvPr>
            <p:custDataLst>
              <p:tags r:id="rId6"/>
            </p:custDataLst>
          </p:nvPr>
        </p:nvSpPr>
        <p:spPr>
          <a:xfrm>
            <a:off x="8092440" y="3794887"/>
            <a:ext cx="3429000" cy="722376"/>
          </a:xfrm>
          <a:prstGeom prst="rect">
            <a:avLst/>
          </a:prstGeom>
          <a:noFill/>
        </p:spPr>
        <p:txBody>
          <a:bodyPr wrap="square" lIns="0" tIns="0" rIns="0" bIns="0" rtlCol="0" anchor="t"/>
          <a:lstStyle/>
          <a:p>
            <a:pPr marL="0" indent="0" algn="l">
              <a:buNone/>
            </a:pP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5-yr price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1.09x</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newbuild, a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9%</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premium against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44%</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for Suezmax.</a:t>
            </a:r>
          </a:p>
        </p:txBody>
      </p:sp>
      <p:sp>
        <p:nvSpPr>
          <p:cNvPr id="12" name="Stat"/>
          <p:cNvSpPr/>
          <p:nvPr>
            <p:custDataLst>
              <p:tags r:id="rId7"/>
            </p:custDataLst>
          </p:nvPr>
        </p:nvSpPr>
        <p:spPr>
          <a:xfrm>
            <a:off x="7955280" y="4572000"/>
            <a:ext cx="3703320" cy="1417320"/>
          </a:xfrm>
          <a:prstGeom prst="roundRect">
            <a:avLst>
              <a:gd name="adj" fmla="val 3871"/>
            </a:avLst>
          </a:prstGeom>
          <a:solidFill>
            <a:srgbClr val="EEF3FA"/>
          </a:solidFill>
          <a:ln w="9525">
            <a:solidFill>
              <a:srgbClr val="D7DEE8"/>
            </a:solidFill>
            <a:prstDash val="solid"/>
          </a:ln>
        </p:spPr>
        <p:txBody>
          <a:bodyPr/>
          <a:lstStyle/>
          <a:p>
            <a:endParaRPr lang="zh-CN" altLang="en-US"/>
          </a:p>
        </p:txBody>
      </p:sp>
      <p:sp>
        <p:nvSpPr>
          <p:cNvPr id="13" name="Stat value"/>
          <p:cNvSpPr txBox="1"/>
          <p:nvPr>
            <p:custDataLst>
              <p:tags r:id="rId8"/>
            </p:custDataLst>
          </p:nvPr>
        </p:nvSpPr>
        <p:spPr>
          <a:xfrm>
            <a:off x="8092440" y="4517263"/>
            <a:ext cx="3429000" cy="502920"/>
          </a:xfrm>
          <a:prstGeom prst="rect">
            <a:avLst/>
          </a:prstGeom>
          <a:noFill/>
        </p:spPr>
        <p:txBody>
          <a:bodyPr wrap="square" lIns="0" tIns="0" rIns="0" bIns="0" rtlCol="0" anchor="ctr"/>
          <a:lstStyle/>
          <a:p>
            <a:pPr marL="0" indent="0" algn="l">
              <a:buNone/>
            </a:pPr>
            <a:r>
              <a:rPr lang="en-US" altLang="zh-CN" sz="2000" b="1" dirty="0">
                <a:solidFill>
                  <a:srgbClr val="C00000"/>
                </a:solidFill>
                <a:latin typeface="Cambria" panose="02040503050406030204" pitchFamily="34" charset="0"/>
                <a:ea typeface="Cambria" panose="02040503050406030204" pitchFamily="34" charset="-122"/>
                <a:cs typeface="Cambria" panose="02040503050406030204" pitchFamily="34" charset="-120"/>
              </a:rPr>
              <a:t>MR at replacement cost</a:t>
            </a:r>
          </a:p>
        </p:txBody>
      </p:sp>
      <p:sp>
        <p:nvSpPr>
          <p:cNvPr id="14" name="Stat label"/>
          <p:cNvSpPr txBox="1"/>
          <p:nvPr>
            <p:custDataLst>
              <p:tags r:id="rId9"/>
            </p:custDataLst>
          </p:nvPr>
        </p:nvSpPr>
        <p:spPr>
          <a:xfrm>
            <a:off x="8092440" y="5020437"/>
            <a:ext cx="3429000" cy="722376"/>
          </a:xfrm>
          <a:prstGeom prst="rect">
            <a:avLst/>
          </a:prstGeom>
          <a:noFill/>
        </p:spPr>
        <p:txBody>
          <a:bodyPr wrap="square" lIns="0" tIns="0" rIns="0" bIns="0" rtlCol="0" anchor="t"/>
          <a:lstStyle/>
          <a:p>
            <a:pPr marL="0" indent="0" algn="l">
              <a:buNone/>
            </a:pP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5-yr price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0.99x</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newbuild in Oct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0.96x</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in Sep), the lowest of the five segments. Orderbook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18%</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is our stated risk; 2027 product trade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+6.3%</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fixtures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$30k</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and </a:t>
            </a:r>
            <a:r>
              <a:rPr lang="en-US" altLang="zh-CN" sz="1400" b="1" dirty="0">
                <a:solidFill>
                  <a:srgbClr val="5A6472"/>
                </a:solidFill>
                <a:latin typeface="Calibri" panose="020F0502020204030204" charset="0"/>
                <a:ea typeface="Calibri" panose="020F0502020204030204" pitchFamily="34" charset="-122"/>
                <a:cs typeface="Calibri" panose="020F0502020204030204" pitchFamily="34" charset="-120"/>
              </a:rPr>
              <a:t>$27k</a:t>
            </a:r>
            <a:r>
              <a:rPr lang="en-US" altLang="zh-CN" sz="1400" dirty="0">
                <a:solidFill>
                  <a:srgbClr val="5A6472"/>
                </a:solidFill>
                <a:latin typeface="Calibri" panose="020F0502020204030204" charset="0"/>
                <a:ea typeface="Calibri" panose="020F0502020204030204" pitchFamily="34" charset="-122"/>
                <a:cs typeface="Calibri" panose="020F0502020204030204" pitchFamily="34" charset="-120"/>
              </a:rPr>
              <a:t> a day.</a:t>
            </a:r>
          </a:p>
        </p:txBody>
      </p:sp>
      <p:sp>
        <p:nvSpPr>
          <p:cNvPr id="25" name="Slide Number Placeholder 0"/>
          <p:cNvSpPr>
            <a:spLocks noGrp="1"/>
          </p:cNvSpPr>
          <p:nvPr>
            <p:ph type="sldNum" sz="quarter" idx="4294967295"/>
          </p:nvPr>
        </p:nvSpPr>
        <p:spPr>
          <a:xfrm>
            <a:off x="11247120" y="6473952"/>
            <a:ext cx="457200" cy="274320"/>
          </a:xfrm>
          <a:prstGeom prst="rect">
            <a:avLst/>
          </a:prstGeom>
        </p:spPr>
        <p:txBody>
          <a:bodyPr/>
          <a:lstStyle>
            <a:lvl1pPr>
              <a:defRPr sz="900">
                <a:solidFill>
                  <a:srgbClr val="5A6472"/>
                </a:solidFill>
                <a:latin typeface="Calibri" panose="020F0502020204030204"/>
                <a:ea typeface="Calibri" panose="020F0502020204030204"/>
                <a:cs typeface="Calibri" panose="020F0502020204030204"/>
              </a:defRPr>
            </a:lvl1pPr>
          </a:lstStyle>
          <a:p>
            <a:pPr algn="r"/>
            <a:fld id="{F7021451-1387-4CA6-816F-3879F97B5CBC}" type="slidenum">
              <a:rPr lang="en-US" b="0"/>
              <a:t>15</a:t>
            </a:fld>
            <a:endParaRPr lang="en-US"/>
          </a:p>
        </p:txBody>
      </p:sp>
      <p:pic>
        <p:nvPicPr>
          <p:cNvPr id="15" name="05_drybulk_recovery.png" descr="/home/user/MT6102/charts_deck/05_drybulk_recovery.png"/>
          <p:cNvPicPr>
            <a:picLocks noChangeAspect="1"/>
          </p:cNvPicPr>
          <p:nvPr/>
        </p:nvPicPr>
        <p:blipFill>
          <a:blip r:embed="rId12"/>
          <a:srcRect t="8305"/>
          <a:stretch>
            <a:fillRect/>
          </a:stretch>
        </p:blipFill>
        <p:spPr>
          <a:xfrm>
            <a:off x="502920" y="1651000"/>
            <a:ext cx="7223760" cy="41503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p:spPr>
        <p:txBody>
          <a:bodyPr wrap="square" lIns="0" tIns="0" rIns="0" bIns="0" rtlCol="0" anchor="ctr"/>
          <a:lstStyle/>
          <a:p>
            <a:pPr marL="0" indent="0">
              <a:buNone/>
            </a:pPr>
            <a:r>
              <a:rPr lang="en-US" sz="1100" b="1" kern="0" spc="200" dirty="0">
                <a:solidFill>
                  <a:srgbClr val="C8102E"/>
                </a:solidFill>
                <a:latin typeface="Calibri" panose="020F0502020204030204" charset="0"/>
                <a:ea typeface="Calibri" panose="020F0502020204030204" pitchFamily="34" charset="-122"/>
                <a:cs typeface="Calibri" panose="020F0502020204030204" pitchFamily="34" charset="-120"/>
              </a:rPr>
              <a:t>PART 4 · MARKET DATA AND NEWS</a:t>
            </a:r>
            <a:endParaRPr lang="en-US" sz="1100" dirty="0"/>
          </a:p>
        </p:txBody>
      </p:sp>
      <p:sp>
        <p:nvSpPr>
          <p:cNvPr id="3" name="Title"/>
          <p:cNvSpPr txBox="1"/>
          <p:nvPr/>
        </p:nvSpPr>
        <p:spPr>
          <a:xfrm>
            <a:off x="502920" y="603504"/>
            <a:ext cx="11155680" cy="731520"/>
          </a:xfrm>
          <a:prstGeom prst="rect">
            <a:avLst/>
          </a:prstGeom>
          <a:noFill/>
        </p:spPr>
        <p:txBody>
          <a:bodyPr wrap="square" lIns="0" tIns="0" rIns="0" bIns="0" rtlCol="0" anchor="t"/>
          <a:lstStyle/>
          <a:p>
            <a:pPr marL="0" indent="0">
              <a:buNone/>
            </a:pPr>
            <a:r>
              <a:rPr lang="en-US" sz="2700" b="1" dirty="0">
                <a:solidFill>
                  <a:srgbClr val="142B4F"/>
                </a:solidFill>
                <a:latin typeface="Cambria" panose="02040503050406030204" pitchFamily="34" charset="0"/>
                <a:ea typeface="Cambria" panose="02040503050406030204" pitchFamily="34" charset="-122"/>
                <a:cs typeface="Cambria" panose="02040503050406030204" pitchFamily="34" charset="-120"/>
              </a:rPr>
              <a:t>What changed since mid-September, and our freight-rate call</a:t>
            </a:r>
            <a:endParaRPr lang="en-US" sz="2700" dirty="0"/>
          </a:p>
        </p:txBody>
      </p:sp>
      <p:sp>
        <p:nvSpPr>
          <p:cNvPr id="4" name="Source"/>
          <p:cNvSpPr txBox="1"/>
          <p:nvPr/>
        </p:nvSpPr>
        <p:spPr>
          <a:xfrm>
            <a:off x="502920" y="6126480"/>
            <a:ext cx="11155680" cy="292608"/>
          </a:xfrm>
          <a:prstGeom prst="rect">
            <a:avLst/>
          </a:prstGeom>
          <a:noFill/>
        </p:spPr>
        <p:txBody>
          <a:bodyPr wrap="square" lIns="0" tIns="0" rIns="0" bIns="0" rtlCol="0" anchor="ctr"/>
          <a:lstStyle/>
          <a:p>
            <a:pPr marL="0" indent="0">
              <a:buNone/>
            </a:pPr>
            <a:r>
              <a:rPr lang="en-US" sz="850" i="1" dirty="0">
                <a:solidFill>
                  <a:srgbClr val="5A6472"/>
                </a:solidFill>
                <a:latin typeface="Calibri" panose="020F0502020204030204" charset="0"/>
                <a:ea typeface="Calibri" panose="020F0502020204030204" pitchFamily="34" charset="-122"/>
                <a:cs typeface="Calibri" panose="020F0502020204030204" pitchFamily="34" charset="-120"/>
              </a:rPr>
              <a:t>Source: SIN series re-pulled 15 Oct 2026 (October monthly assessments, weekly earnings to 9 Oct, BDI to 13 Oct); SIN news #229922 (9 Oct), #217187, #228241, #224049, #227789; USTR notice on the port-fee suspension.</a:t>
            </a:r>
            <a:endParaRPr lang="en-US" sz="850" dirty="0"/>
          </a:p>
        </p:txBody>
      </p:sp>
      <p:graphicFrame>
        <p:nvGraphicFramePr>
          <p:cNvPr id="17" name="Table"/>
          <p:cNvGraphicFramePr>
            <a:graphicFrameLocks noGrp="1"/>
          </p:cNvGraphicFramePr>
          <p:nvPr/>
        </p:nvGraphicFramePr>
        <p:xfrm>
          <a:off x="502920" y="1463040"/>
          <a:ext cx="5760720" cy="2959608"/>
        </p:xfrm>
        <a:graphic>
          <a:graphicData uri="http://schemas.openxmlformats.org/drawingml/2006/table">
            <a:tbl>
              <a:tblPr/>
              <a:tblGrid>
                <a:gridCol w="228600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65760">
                <a:tc>
                  <a:txBody>
                    <a:bodyPr/>
                    <a:lstStyle/>
                    <a:p>
                      <a:pPr marL="0" indent="0">
                        <a:buNone/>
                      </a:pPr>
                      <a:r>
                        <a:rPr lang="en-US" sz="950" b="1" dirty="0">
                          <a:solidFill>
                            <a:srgbClr val="FFFFFF"/>
                          </a:solidFill>
                          <a:latin typeface="Calibri" panose="020F0502020204030204" charset="0"/>
                          <a:ea typeface="Calibri" panose="020F0502020204030204" pitchFamily="34" charset="-122"/>
                          <a:cs typeface="Calibri" panose="020F0502020204030204" pitchFamily="34" charset="-120"/>
                        </a:rPr>
                        <a:t>Indicator</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anose="020F0502020204030204" charset="0"/>
                          <a:ea typeface="Calibri" panose="020F0502020204030204" pitchFamily="34" charset="-122"/>
                          <a:cs typeface="Calibri" panose="020F0502020204030204" pitchFamily="34" charset="-120"/>
                        </a:rPr>
                        <a:t>12 Sep</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anose="020F0502020204030204" charset="0"/>
                          <a:ea typeface="Calibri" panose="020F0502020204030204" pitchFamily="34" charset="-122"/>
                          <a:cs typeface="Calibri" panose="020F0502020204030204" pitchFamily="34" charset="-120"/>
                        </a:rPr>
                        <a:t>October</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anose="020F0502020204030204" charset="0"/>
                          <a:ea typeface="Calibri" panose="020F0502020204030204" pitchFamily="34" charset="-122"/>
                          <a:cs typeface="Calibri" panose="020F0502020204030204" pitchFamily="34" charset="-120"/>
                        </a:rPr>
                        <a:t>Read</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Suezmax 5-year-old price, $m</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111</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130</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Peak signal stronger</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Suezmax 1-year TC, $/day</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90,250</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140,250</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Backwardation steeper</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MR 1-year TC assessment, $/day</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29,000</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43,000</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Fixed leg has upside</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MR Eco spot earnings, $/day</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35,804</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53,741</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Bull case raised</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Kamsarmax Eco spot, $/day</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24,484</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23,389</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Stable, above the $22,000 fix</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BDI</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3,521</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2,801</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Off the high, trigger 2,000 not hit</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365760">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Singapore VLSFO, $/t</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811.69</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C8102E"/>
                          </a:solidFill>
                          <a:latin typeface="Calibri" panose="020F0502020204030204" charset="0"/>
                          <a:ea typeface="Calibri" panose="020F0502020204030204" pitchFamily="34" charset="-122"/>
                          <a:cs typeface="Calibri" panose="020F0502020204030204" pitchFamily="34" charset="-120"/>
                        </a:rPr>
                        <a:t>874.94</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950" dirty="0">
                          <a:solidFill>
                            <a:srgbClr val="1A2433"/>
                          </a:solidFill>
                          <a:latin typeface="Calibri" panose="020F0502020204030204" charset="0"/>
                          <a:ea typeface="Calibri" panose="020F0502020204030204" pitchFamily="34" charset="-122"/>
                          <a:cs typeface="Calibri" panose="020F0502020204030204" pitchFamily="34" charset="-120"/>
                        </a:rPr>
                        <a:t>Charterers pay fuel on our fixed ships</a:t>
                      </a:r>
                      <a:endParaRPr lang="en-US" sz="950" dirty="0">
                        <a:latin typeface="Calibri" panose="020F0502020204030204" charset="0"/>
                        <a:ea typeface="Calibri" panose="020F0502020204030204" charset="0"/>
                        <a:cs typeface="Calibri" panose="020F0502020204030204"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Bullets"/>
          <p:cNvSpPr txBox="1"/>
          <p:nvPr/>
        </p:nvSpPr>
        <p:spPr>
          <a:xfrm>
            <a:off x="502920" y="4572000"/>
            <a:ext cx="5760720" cy="1463040"/>
          </a:xfrm>
          <a:prstGeom prst="rect">
            <a:avLst/>
          </a:prstGeom>
          <a:noFill/>
        </p:spPr>
        <p:txBody>
          <a:bodyPr wrap="square" lIns="0" tIns="0" rIns="0" bIns="0" rtlCol="0" anchor="t"/>
          <a:lstStyle/>
          <a:p>
            <a:pPr marL="342900" indent="-342900">
              <a:spcAft>
                <a:spcPts val="300"/>
              </a:spcAft>
              <a:buSzPct val="100000"/>
              <a:buChar char="•"/>
            </a:pPr>
            <a:r>
              <a:rPr lang="en-US" sz="1050" dirty="0">
                <a:solidFill>
                  <a:srgbClr val="1A2433"/>
                </a:solidFill>
                <a:latin typeface="Calibri" panose="020F0502020204030204" charset="0"/>
                <a:ea typeface="Calibri" panose="020F0502020204030204" pitchFamily="34" charset="-122"/>
                <a:cs typeface="Calibri" panose="020F0502020204030204" pitchFamily="34" charset="-120"/>
                <a:sym typeface="+mn-ea"/>
              </a:rPr>
              <a:t>Torm ordered six MR2s on 26 Aug: new MR supply, but delivery after 2028.</a:t>
            </a:r>
            <a:endParaRPr lang="en-US" sz="1050" dirty="0"/>
          </a:p>
          <a:p>
            <a:pPr marL="342900" indent="-342900">
              <a:spcAft>
                <a:spcPts val="300"/>
              </a:spcAft>
              <a:buSzPct val="100000"/>
              <a:buChar char="•"/>
            </a:pPr>
            <a:r>
              <a:rPr lang="en-US" sz="1050" dirty="0">
                <a:solidFill>
                  <a:srgbClr val="1A2433"/>
                </a:solidFill>
                <a:latin typeface="Calibri" panose="020F0502020204030204" charset="0"/>
                <a:ea typeface="Calibri" panose="020F0502020204030204" pitchFamily="34" charset="-122"/>
                <a:cs typeface="Calibri" panose="020F0502020204030204" pitchFamily="34" charset="-120"/>
                <a:sym typeface="+mn-ea"/>
              </a:rPr>
              <a:t>VLCC spot about $1.3m/day in early October: the war premium is still intact.</a:t>
            </a:r>
            <a:endParaRPr lang="en-US" sz="1050" dirty="0"/>
          </a:p>
          <a:p>
            <a:pPr marL="342900" indent="-342900">
              <a:spcAft>
                <a:spcPts val="300"/>
              </a:spcAft>
              <a:buSzPct val="100000"/>
              <a:buChar char="•"/>
            </a:pPr>
            <a:r>
              <a:rPr lang="en-US" sz="1050" dirty="0">
                <a:solidFill>
                  <a:srgbClr val="1A2433"/>
                </a:solidFill>
                <a:latin typeface="Calibri" panose="020F0502020204030204" charset="0"/>
                <a:ea typeface="Calibri" panose="020F0502020204030204" pitchFamily="34" charset="-122"/>
                <a:cs typeface="Calibri" panose="020F0502020204030204" pitchFamily="34" charset="-120"/>
                <a:sym typeface="+mn-ea"/>
              </a:rPr>
              <a:t>The US and China port-fee suspension expires around 10 November 2026, inside our presentation window.</a:t>
            </a:r>
            <a:endParaRPr lang="en-US" sz="1050" dirty="0"/>
          </a:p>
          <a:p>
            <a:pPr marL="342900" indent="-342900">
              <a:spcAft>
                <a:spcPts val="300"/>
              </a:spcAft>
              <a:buSzPct val="100000"/>
              <a:buChar char="•"/>
            </a:pPr>
            <a:r>
              <a:rPr lang="en-US" sz="1050" dirty="0">
                <a:solidFill>
                  <a:srgbClr val="1A2433"/>
                </a:solidFill>
                <a:latin typeface="Calibri" panose="020F0502020204030204" charset="0"/>
                <a:ea typeface="Calibri" panose="020F0502020204030204" pitchFamily="34" charset="-122"/>
                <a:cs typeface="Calibri" panose="020F0502020204030204" pitchFamily="34" charset="-120"/>
                <a:sym typeface="+mn-ea"/>
              </a:rPr>
              <a:t>Clarksons, 9 Oct: recycling has run below 0.5% of the fleet a year for five years; an overhang of old ships is building.</a:t>
            </a:r>
            <a:endParaRPr lang="en-US" sz="1050" dirty="0"/>
          </a:p>
        </p:txBody>
      </p:sp>
      <p:sp>
        <p:nvSpPr>
          <p:cNvPr id="7" name="Text 4"/>
          <p:cNvSpPr txBox="1"/>
          <p:nvPr/>
        </p:nvSpPr>
        <p:spPr>
          <a:xfrm>
            <a:off x="6446520" y="1463040"/>
            <a:ext cx="5212080" cy="274320"/>
          </a:xfrm>
          <a:prstGeom prst="rect">
            <a:avLst/>
          </a:prstGeom>
          <a:noFill/>
        </p:spPr>
        <p:txBody>
          <a:bodyPr wrap="square" lIns="0" tIns="0" rIns="0" bIns="0" rtlCol="0" anchor="ctr"/>
          <a:lstStyle/>
          <a:p>
            <a:pPr marL="0" indent="0">
              <a:buNone/>
            </a:pPr>
            <a:r>
              <a:rPr lang="en-US" sz="1200" b="1" dirty="0">
                <a:solidFill>
                  <a:srgbClr val="142B4F"/>
                </a:solidFill>
                <a:latin typeface="Calibri" panose="020F0502020204030204" charset="0"/>
                <a:ea typeface="Calibri" panose="020F0502020204030204" pitchFamily="34" charset="-122"/>
                <a:cs typeface="Calibri" panose="020F0502020204030204" pitchFamily="34" charset="-120"/>
              </a:rPr>
              <a:t>Our rate call for the next 6 to 12 months</a:t>
            </a:r>
            <a:endParaRPr lang="en-US" sz="1200" dirty="0"/>
          </a:p>
        </p:txBody>
      </p:sp>
      <p:sp>
        <p:nvSpPr>
          <p:cNvPr id="8" name="Panel"/>
          <p:cNvSpPr/>
          <p:nvPr>
            <p:custDataLst>
              <p:tags r:id="rId1"/>
            </p:custDataLst>
          </p:nvPr>
        </p:nvSpPr>
        <p:spPr>
          <a:xfrm>
            <a:off x="6446520" y="1828800"/>
            <a:ext cx="5212080" cy="1280160"/>
          </a:xfrm>
          <a:prstGeom prst="roundRect">
            <a:avLst>
              <a:gd name="adj" fmla="val 4286"/>
            </a:avLst>
          </a:prstGeom>
          <a:solidFill>
            <a:srgbClr val="EEF3FA"/>
          </a:solidFill>
          <a:ln w="9525">
            <a:solidFill>
              <a:srgbClr val="D7DEE8"/>
            </a:solidFill>
            <a:prstDash val="solid"/>
          </a:ln>
        </p:spPr>
        <p:txBody>
          <a:bodyPr/>
          <a:lstStyle/>
          <a:p>
            <a:endParaRPr lang="zh-CN" altLang="en-US"/>
          </a:p>
        </p:txBody>
      </p:sp>
      <p:sp>
        <p:nvSpPr>
          <p:cNvPr id="9" name="Panel title"/>
          <p:cNvSpPr txBox="1"/>
          <p:nvPr>
            <p:custDataLst>
              <p:tags r:id="rId2"/>
            </p:custDataLst>
          </p:nvPr>
        </p:nvSpPr>
        <p:spPr>
          <a:xfrm>
            <a:off x="6629400" y="1956816"/>
            <a:ext cx="4846320" cy="310896"/>
          </a:xfrm>
          <a:prstGeom prst="rect">
            <a:avLst/>
          </a:prstGeom>
          <a:noFill/>
        </p:spPr>
        <p:txBody>
          <a:bodyPr wrap="square" lIns="0" tIns="0" rIns="0" bIns="0" rtlCol="0" anchor="t"/>
          <a:lstStyle/>
          <a:p>
            <a:pPr marL="0" indent="0">
              <a:buNone/>
            </a:pPr>
            <a:r>
              <a:rPr lang="en-US" altLang="zh-CN" sz="1700" b="1" dirty="0">
                <a:solidFill>
                  <a:srgbClr val="142B4F"/>
                </a:solidFill>
                <a:latin typeface="Calibri" panose="020F0502020204030204" charset="0"/>
                <a:ea typeface="Calibri" panose="020F0502020204030204" pitchFamily="34" charset="-122"/>
                <a:cs typeface="Calibri" panose="020F0502020204030204" pitchFamily="34" charset="-120"/>
              </a:rPr>
              <a:t>MR: firm now, softer when 2027 ships arrive</a:t>
            </a:r>
          </a:p>
        </p:txBody>
      </p:sp>
      <p:sp>
        <p:nvSpPr>
          <p:cNvPr id="10" name="Panel body"/>
          <p:cNvSpPr txBox="1"/>
          <p:nvPr>
            <p:custDataLst>
              <p:tags r:id="rId3"/>
            </p:custDataLst>
          </p:nvPr>
        </p:nvSpPr>
        <p:spPr>
          <a:xfrm>
            <a:off x="6629400" y="2304288"/>
            <a:ext cx="4846320" cy="694944"/>
          </a:xfrm>
          <a:prstGeom prst="rect">
            <a:avLst/>
          </a:prstGeom>
          <a:noFill/>
        </p:spPr>
        <p:txBody>
          <a:bodyPr wrap="square" lIns="0" tIns="0" rIns="0" bIns="0" rtlCol="0" anchor="t"/>
          <a:lstStyle/>
          <a:p>
            <a:pPr marL="0" indent="0">
              <a:spcAft>
                <a:spcPts val="400"/>
              </a:spcAft>
              <a:buNone/>
            </a:pP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Spot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$53,741/day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against our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$30,000/day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fix; 1-yr assessment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$43,000/day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One ship fixed for a year, one kept open.</a:t>
            </a:r>
          </a:p>
        </p:txBody>
      </p:sp>
      <p:sp>
        <p:nvSpPr>
          <p:cNvPr id="11" name="Panel"/>
          <p:cNvSpPr/>
          <p:nvPr>
            <p:custDataLst>
              <p:tags r:id="rId4"/>
            </p:custDataLst>
          </p:nvPr>
        </p:nvSpPr>
        <p:spPr>
          <a:xfrm>
            <a:off x="6446520" y="3246120"/>
            <a:ext cx="5212080" cy="1280160"/>
          </a:xfrm>
          <a:prstGeom prst="roundRect">
            <a:avLst>
              <a:gd name="adj" fmla="val 4286"/>
            </a:avLst>
          </a:prstGeom>
          <a:solidFill>
            <a:srgbClr val="EEF3FA"/>
          </a:solidFill>
          <a:ln w="9525">
            <a:solidFill>
              <a:srgbClr val="D7DEE8"/>
            </a:solidFill>
            <a:prstDash val="solid"/>
          </a:ln>
        </p:spPr>
        <p:txBody>
          <a:bodyPr/>
          <a:lstStyle/>
          <a:p>
            <a:endParaRPr lang="zh-CN" altLang="en-US"/>
          </a:p>
        </p:txBody>
      </p:sp>
      <p:sp>
        <p:nvSpPr>
          <p:cNvPr id="12" name="Panel title"/>
          <p:cNvSpPr txBox="1"/>
          <p:nvPr>
            <p:custDataLst>
              <p:tags r:id="rId5"/>
            </p:custDataLst>
          </p:nvPr>
        </p:nvSpPr>
        <p:spPr>
          <a:xfrm>
            <a:off x="6629400" y="3374136"/>
            <a:ext cx="4846320" cy="310896"/>
          </a:xfrm>
          <a:prstGeom prst="rect">
            <a:avLst/>
          </a:prstGeom>
          <a:noFill/>
        </p:spPr>
        <p:txBody>
          <a:bodyPr wrap="square" lIns="0" tIns="0" rIns="0" bIns="0" rtlCol="0" anchor="t"/>
          <a:lstStyle/>
          <a:p>
            <a:pPr marL="0" indent="0">
              <a:buNone/>
            </a:pPr>
            <a:r>
              <a:rPr lang="en-US" altLang="zh-CN" sz="1700" b="1" dirty="0">
                <a:solidFill>
                  <a:srgbClr val="142B4F"/>
                </a:solidFill>
                <a:latin typeface="Calibri" panose="020F0502020204030204" charset="0"/>
                <a:ea typeface="Calibri" panose="020F0502020204030204" pitchFamily="34" charset="-122"/>
                <a:cs typeface="Calibri" panose="020F0502020204030204" pitchFamily="34" charset="-120"/>
              </a:rPr>
              <a:t>Aframax: a war premium that ends with a ceasefire</a:t>
            </a:r>
          </a:p>
        </p:txBody>
      </p:sp>
      <p:sp>
        <p:nvSpPr>
          <p:cNvPr id="13" name="Panel body"/>
          <p:cNvSpPr txBox="1"/>
          <p:nvPr>
            <p:custDataLst>
              <p:tags r:id="rId6"/>
            </p:custDataLst>
          </p:nvPr>
        </p:nvSpPr>
        <p:spPr>
          <a:xfrm>
            <a:off x="6629400" y="3721608"/>
            <a:ext cx="4846320" cy="694944"/>
          </a:xfrm>
          <a:prstGeom prst="rect">
            <a:avLst/>
          </a:prstGeom>
          <a:noFill/>
        </p:spPr>
        <p:txBody>
          <a:bodyPr wrap="square" lIns="0" tIns="0" rIns="0" bIns="0" rtlCol="0" anchor="t"/>
          <a:lstStyle/>
          <a:p>
            <a:pPr marL="0" indent="0">
              <a:spcAft>
                <a:spcPts val="400"/>
              </a:spcAft>
              <a:buNone/>
            </a:pP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Spot far above our locked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$40,000/day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a ceasefire or sanctions relief pulls rates down. Whole ship fixed for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3 years</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a:t>
            </a:r>
          </a:p>
        </p:txBody>
      </p:sp>
      <p:sp>
        <p:nvSpPr>
          <p:cNvPr id="14" name="Panel"/>
          <p:cNvSpPr/>
          <p:nvPr>
            <p:custDataLst>
              <p:tags r:id="rId7"/>
            </p:custDataLst>
          </p:nvPr>
        </p:nvSpPr>
        <p:spPr>
          <a:xfrm>
            <a:off x="6446520" y="4663440"/>
            <a:ext cx="5212080" cy="1280160"/>
          </a:xfrm>
          <a:prstGeom prst="roundRect">
            <a:avLst>
              <a:gd name="adj" fmla="val 4286"/>
            </a:avLst>
          </a:prstGeom>
          <a:solidFill>
            <a:srgbClr val="EEF3FA"/>
          </a:solidFill>
          <a:ln w="9525">
            <a:solidFill>
              <a:srgbClr val="D7DEE8"/>
            </a:solidFill>
            <a:prstDash val="solid"/>
          </a:ln>
        </p:spPr>
        <p:txBody>
          <a:bodyPr/>
          <a:lstStyle/>
          <a:p>
            <a:endParaRPr lang="zh-CN" altLang="en-US"/>
          </a:p>
        </p:txBody>
      </p:sp>
      <p:sp>
        <p:nvSpPr>
          <p:cNvPr id="15" name="Panel title"/>
          <p:cNvSpPr txBox="1"/>
          <p:nvPr>
            <p:custDataLst>
              <p:tags r:id="rId8"/>
            </p:custDataLst>
          </p:nvPr>
        </p:nvSpPr>
        <p:spPr>
          <a:xfrm>
            <a:off x="6629400" y="4791456"/>
            <a:ext cx="4846320" cy="310896"/>
          </a:xfrm>
          <a:prstGeom prst="rect">
            <a:avLst/>
          </a:prstGeom>
          <a:noFill/>
        </p:spPr>
        <p:txBody>
          <a:bodyPr wrap="square" lIns="0" tIns="0" rIns="0" bIns="0" rtlCol="0" anchor="t"/>
          <a:lstStyle/>
          <a:p>
            <a:pPr marL="0" indent="0">
              <a:buNone/>
            </a:pPr>
            <a:r>
              <a:rPr lang="en-US" altLang="zh-CN" sz="1700" b="1" dirty="0">
                <a:solidFill>
                  <a:srgbClr val="142B4F"/>
                </a:solidFill>
                <a:latin typeface="Calibri" panose="020F0502020204030204" charset="0"/>
                <a:ea typeface="Calibri" panose="020F0502020204030204" pitchFamily="34" charset="-122"/>
                <a:cs typeface="Calibri" panose="020F0502020204030204" pitchFamily="34" charset="-120"/>
              </a:rPr>
              <a:t>Kamsarmax: firm in Q4, pressure in 2027</a:t>
            </a:r>
          </a:p>
        </p:txBody>
      </p:sp>
      <p:sp>
        <p:nvSpPr>
          <p:cNvPr id="16" name="Panel body"/>
          <p:cNvSpPr txBox="1"/>
          <p:nvPr>
            <p:custDataLst>
              <p:tags r:id="rId9"/>
            </p:custDataLst>
          </p:nvPr>
        </p:nvSpPr>
        <p:spPr>
          <a:xfrm>
            <a:off x="6629400" y="5138928"/>
            <a:ext cx="4846320" cy="694944"/>
          </a:xfrm>
          <a:prstGeom prst="rect">
            <a:avLst/>
          </a:prstGeom>
          <a:noFill/>
        </p:spPr>
        <p:txBody>
          <a:bodyPr wrap="square" lIns="0" tIns="0" rIns="0" bIns="0" rtlCol="0" anchor="t"/>
          <a:lstStyle/>
          <a:p>
            <a:pPr marL="0" indent="0">
              <a:spcAft>
                <a:spcPts val="400"/>
              </a:spcAft>
              <a:buNone/>
            </a:pP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Spot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$23,389/day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against our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$22,000/day</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fix;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171</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deliveries in 2027. Fix the spot ship if BDI stays below </a:t>
            </a:r>
            <a:r>
              <a:rPr lang="en-US" altLang="zh-CN" sz="1400" b="1" dirty="0">
                <a:solidFill>
                  <a:srgbClr val="1A2433"/>
                </a:solidFill>
                <a:latin typeface="Calibri" panose="020F0502020204030204" charset="0"/>
                <a:ea typeface="Calibri" panose="020F0502020204030204" pitchFamily="34" charset="-122"/>
                <a:cs typeface="Calibri" panose="020F0502020204030204" pitchFamily="34" charset="-120"/>
              </a:rPr>
              <a:t>2,000</a:t>
            </a:r>
            <a:r>
              <a:rPr lang="en-US" altLang="zh-CN" sz="1400" dirty="0">
                <a:solidFill>
                  <a:srgbClr val="1A2433"/>
                </a:solidFill>
                <a:latin typeface="Calibri" panose="020F0502020204030204" charset="0"/>
                <a:ea typeface="Calibri" panose="020F0502020204030204" pitchFamily="34" charset="-122"/>
                <a:cs typeface="Calibri" panose="020F0502020204030204" pitchFamily="34" charset="-120"/>
              </a:rPr>
              <a:t> for 8 weeks.</a:t>
            </a:r>
          </a:p>
        </p:txBody>
      </p:sp>
      <p:sp>
        <p:nvSpPr>
          <p:cNvPr id="25" name="Slide Number Placeholder 0"/>
          <p:cNvSpPr>
            <a:spLocks noGrp="1"/>
          </p:cNvSpPr>
          <p:nvPr>
            <p:ph type="sldNum" sz="quarter" idx="4294967295"/>
          </p:nvPr>
        </p:nvSpPr>
        <p:spPr>
          <a:xfrm>
            <a:off x="11247120" y="6473952"/>
            <a:ext cx="457200" cy="274320"/>
          </a:xfrm>
          <a:prstGeom prst="rect">
            <a:avLst/>
          </a:prstGeom>
        </p:spPr>
        <p:txBody>
          <a:bodyPr/>
          <a:lstStyle>
            <a:lvl1pPr>
              <a:defRPr sz="900">
                <a:solidFill>
                  <a:srgbClr val="5A6472"/>
                </a:solidFill>
                <a:latin typeface="Calibri" panose="020F0502020204030204"/>
                <a:ea typeface="Calibri" panose="020F0502020204030204"/>
                <a:cs typeface="Calibri" panose="020F0502020204030204"/>
              </a:defRPr>
            </a:lvl1pPr>
          </a:lstStyle>
          <a:p>
            <a:pPr algn="r"/>
            <a:fld id="{F7021451-1387-4CA6-816F-3879F97B5CBC}" type="slidenum">
              <a:rPr lang="en-US" b="0"/>
              <a:t>16</a:t>
            </a:fld>
            <a:endParaRPr lang="en-US"/>
          </a:p>
        </p:txBody>
      </p:sp>
      <p:sp>
        <p:nvSpPr>
          <p:cNvPr id="5" name="文本框 4"/>
          <p:cNvSpPr txBox="1"/>
          <p:nvPr/>
        </p:nvSpPr>
        <p:spPr>
          <a:xfrm>
            <a:off x="12481560" y="3496310"/>
            <a:ext cx="4064000" cy="368300"/>
          </a:xfrm>
          <a:prstGeom prst="rect">
            <a:avLst/>
          </a:prstGeom>
          <a:noFill/>
        </p:spPr>
        <p:txBody>
          <a:bodyPr wrap="square" rtlCol="0">
            <a:spAutoFit/>
          </a:bodyPr>
          <a:lstStyle/>
          <a:p>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Method: one formula, three assumptions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MT6102_Earnings_Model.xlsx (sheets Notes and Inputs); OPEX reference series 540687 / 540689 / 540683.</a:t>
            </a:r>
            <a:endParaRPr lang="en-US" sz="850" dirty="0"/>
          </a:p>
        </p:txBody>
      </p:sp>
      <p:sp>
        <p:nvSpPr>
          <p:cNvPr id="5" name="Formula band"/>
          <p:cNvSpPr/>
          <p:nvPr/>
        </p:nvSpPr>
        <p:spPr>
          <a:xfrm>
            <a:off x="502920" y="1508760"/>
            <a:ext cx="11155680" cy="1371600"/>
          </a:xfrm>
          <a:prstGeom prst="roundRect">
            <a:avLst>
              <a:gd name="adj" fmla="val 4000"/>
            </a:avLst>
          </a:prstGeom>
          <a:solidFill>
            <a:srgbClr val="142B4F"/>
          </a:solidFill>
          <a:ln w="12700">
            <a:solidFill>
              <a:srgbClr val="142B4F"/>
            </a:solidFill>
            <a:prstDash val="solid"/>
          </a:ln>
        </p:spPr>
        <p:txBody>
          <a:bodyPr/>
          <a:lstStyle/>
          <a:p>
            <a:endParaRPr lang="zh-CN" altLang="en-US"/>
          </a:p>
        </p:txBody>
      </p:sp>
      <p:sp>
        <p:nvSpPr>
          <p:cNvPr id="6" name="Text 4"/>
          <p:cNvSpPr txBox="1"/>
          <p:nvPr/>
        </p:nvSpPr>
        <p:spPr>
          <a:xfrm>
            <a:off x="731520" y="1600200"/>
            <a:ext cx="10698480" cy="731520"/>
          </a:xfrm>
          <a:prstGeom prst="rect">
            <a:avLst/>
          </a:prstGeom>
          <a:noFill/>
          <a:ln/>
        </p:spPr>
        <p:txBody>
          <a:bodyPr wrap="square" lIns="0" tIns="0" rIns="0" bIns="0"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Annual earnings  =  daily rate  ×  350 operating days  ×  number of ships</a:t>
            </a:r>
            <a:endParaRPr lang="en-US" sz="2600" dirty="0"/>
          </a:p>
        </p:txBody>
      </p:sp>
      <p:sp>
        <p:nvSpPr>
          <p:cNvPr id="7" name="Text 5"/>
          <p:cNvSpPr txBox="1"/>
          <p:nvPr/>
        </p:nvSpPr>
        <p:spPr>
          <a:xfrm>
            <a:off x="731520" y="2331720"/>
            <a:ext cx="10698480" cy="411480"/>
          </a:xfrm>
          <a:prstGeom prst="rect">
            <a:avLst/>
          </a:prstGeom>
          <a:noFill/>
          <a:ln/>
        </p:spPr>
        <p:txBody>
          <a:bodyPr wrap="square" lIns="0" tIns="0" rIns="0" bIns="0" rtlCol="0" anchor="ctr"/>
          <a:lstStyle/>
          <a:p>
            <a:pPr marL="0" indent="0" algn="ctr">
              <a:buNone/>
            </a:pPr>
            <a:r>
              <a:rPr lang="en-US" sz="1300" dirty="0">
                <a:solidFill>
                  <a:srgbClr val="C9D6EA"/>
                </a:solidFill>
                <a:latin typeface="Calibri" pitchFamily="34" charset="0"/>
                <a:ea typeface="Calibri" pitchFamily="34" charset="-122"/>
                <a:cs typeface="Calibri" pitchFamily="34" charset="-120"/>
              </a:rPr>
              <a:t>Return on capital = fleet earnings ÷ USD 250m. Forecast window October 2026 to September 2027.</a:t>
            </a:r>
            <a:endParaRPr lang="en-US" sz="1300" dirty="0"/>
          </a:p>
        </p:txBody>
      </p:sp>
      <p:sp>
        <p:nvSpPr>
          <p:cNvPr id="8" name="Panel"/>
          <p:cNvSpPr/>
          <p:nvPr/>
        </p:nvSpPr>
        <p:spPr>
          <a:xfrm>
            <a:off x="502920" y="3154680"/>
            <a:ext cx="356616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9" name="Panel title"/>
          <p:cNvSpPr txBox="1"/>
          <p:nvPr/>
        </p:nvSpPr>
        <p:spPr>
          <a:xfrm>
            <a:off x="685800" y="3282696"/>
            <a:ext cx="320040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350 operating days</a:t>
            </a:r>
            <a:endParaRPr lang="en-US" sz="1350" dirty="0"/>
          </a:p>
        </p:txBody>
      </p:sp>
      <p:sp>
        <p:nvSpPr>
          <p:cNvPr id="10" name="Panel body"/>
          <p:cNvSpPr txBox="1"/>
          <p:nvPr/>
        </p:nvSpPr>
        <p:spPr>
          <a:xfrm>
            <a:off x="685800" y="3630168"/>
            <a:ext cx="3200400" cy="1609344"/>
          </a:xfrm>
          <a:prstGeom prst="rect">
            <a:avLst/>
          </a:prstGeom>
          <a:noFill/>
          <a:ln/>
        </p:spPr>
        <p:txBody>
          <a:bodyPr wrap="square" lIns="0" tIns="0" rIns="0" bIns="0" rtlCol="0" anchor="t"/>
          <a:lstStyle/>
          <a:p>
            <a:pPr marL="0" indent="0">
              <a:spcAft>
                <a:spcPts val="400"/>
              </a:spcAft>
              <a:buNone/>
            </a:pPr>
            <a:r>
              <a:rPr lang="en-US" sz="1250" dirty="0">
                <a:solidFill>
                  <a:srgbClr val="1A2433"/>
                </a:solidFill>
                <a:latin typeface="Calibri" pitchFamily="34" charset="0"/>
                <a:ea typeface="Calibri" pitchFamily="34" charset="-122"/>
                <a:cs typeface="Calibri" pitchFamily="34" charset="-120"/>
              </a:rPr>
              <a:t>365 days less 15 days of off-hire for repairs, surveys and the first special survey due on the 5-year-old MRs. Each month of delivery delay removes one twelfth of that ship's year.</a:t>
            </a:r>
            <a:endParaRPr lang="en-US" sz="1250" dirty="0"/>
          </a:p>
        </p:txBody>
      </p:sp>
      <p:sp>
        <p:nvSpPr>
          <p:cNvPr id="11" name="Panel"/>
          <p:cNvSpPr/>
          <p:nvPr/>
        </p:nvSpPr>
        <p:spPr>
          <a:xfrm>
            <a:off x="4297680" y="3154680"/>
            <a:ext cx="356616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12" name="Panel title"/>
          <p:cNvSpPr txBox="1"/>
          <p:nvPr/>
        </p:nvSpPr>
        <p:spPr>
          <a:xfrm>
            <a:off x="4480560" y="3282696"/>
            <a:ext cx="320040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Before OPEX, at TCE level</a:t>
            </a:r>
            <a:endParaRPr lang="en-US" sz="1350" dirty="0"/>
          </a:p>
        </p:txBody>
      </p:sp>
      <p:sp>
        <p:nvSpPr>
          <p:cNvPr id="13" name="Panel body"/>
          <p:cNvSpPr txBox="1"/>
          <p:nvPr/>
        </p:nvSpPr>
        <p:spPr>
          <a:xfrm>
            <a:off x="4480560" y="3630168"/>
            <a:ext cx="3200400" cy="1609344"/>
          </a:xfrm>
          <a:prstGeom prst="rect">
            <a:avLst/>
          </a:prstGeom>
          <a:noFill/>
          <a:ln/>
        </p:spPr>
        <p:txBody>
          <a:bodyPr wrap="square" lIns="0" tIns="0" rIns="0" bIns="0" rtlCol="0" anchor="t"/>
          <a:lstStyle/>
          <a:p>
            <a:pPr marL="0" indent="0">
              <a:spcAft>
                <a:spcPts val="400"/>
              </a:spcAft>
              <a:buNone/>
            </a:pPr>
            <a:r>
              <a:rPr lang="en-US" sz="1250" dirty="0">
                <a:solidFill>
                  <a:srgbClr val="1A2433"/>
                </a:solidFill>
                <a:latin typeface="Calibri" pitchFamily="34" charset="0"/>
                <a:ea typeface="Calibri" pitchFamily="34" charset="-122"/>
                <a:cs typeface="Calibri" pitchFamily="34" charset="-120"/>
              </a:rPr>
              <a:t>The brief asks for revenue, not operating costs. On a time charter the charterer pays bunkers, port and canal costs; on the spot ships the TCE already nets them out. OPEX is kept as a reference line for questions.</a:t>
            </a:r>
            <a:endParaRPr lang="en-US" sz="1250" dirty="0"/>
          </a:p>
        </p:txBody>
      </p:sp>
      <p:sp>
        <p:nvSpPr>
          <p:cNvPr id="14" name="Panel"/>
          <p:cNvSpPr/>
          <p:nvPr/>
        </p:nvSpPr>
        <p:spPr>
          <a:xfrm>
            <a:off x="8092440" y="3154680"/>
            <a:ext cx="3566160" cy="2194560"/>
          </a:xfrm>
          <a:prstGeom prst="roundRect">
            <a:avLst>
              <a:gd name="adj" fmla="val 2500"/>
            </a:avLst>
          </a:prstGeom>
          <a:solidFill>
            <a:srgbClr val="EEF3FA"/>
          </a:solidFill>
          <a:ln w="9525">
            <a:solidFill>
              <a:srgbClr val="D7DEE8"/>
            </a:solidFill>
            <a:prstDash val="solid"/>
          </a:ln>
        </p:spPr>
        <p:txBody>
          <a:bodyPr/>
          <a:lstStyle/>
          <a:p>
            <a:endParaRPr lang="zh-CN" altLang="en-US"/>
          </a:p>
        </p:txBody>
      </p:sp>
      <p:sp>
        <p:nvSpPr>
          <p:cNvPr id="15" name="Panel title"/>
          <p:cNvSpPr txBox="1"/>
          <p:nvPr/>
        </p:nvSpPr>
        <p:spPr>
          <a:xfrm>
            <a:off x="8275320" y="3282696"/>
            <a:ext cx="320040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Commission 0%</a:t>
            </a:r>
            <a:endParaRPr lang="en-US" sz="1350" dirty="0"/>
          </a:p>
        </p:txBody>
      </p:sp>
      <p:sp>
        <p:nvSpPr>
          <p:cNvPr id="16" name="Panel body"/>
          <p:cNvSpPr txBox="1"/>
          <p:nvPr/>
        </p:nvSpPr>
        <p:spPr>
          <a:xfrm>
            <a:off x="8275320" y="3630168"/>
            <a:ext cx="3200400" cy="1609344"/>
          </a:xfrm>
          <a:prstGeom prst="rect">
            <a:avLst/>
          </a:prstGeom>
          <a:noFill/>
          <a:ln/>
        </p:spPr>
        <p:txBody>
          <a:bodyPr wrap="square" lIns="0" tIns="0" rIns="0" bIns="0" rtlCol="0" anchor="t"/>
          <a:lstStyle/>
          <a:p>
            <a:pPr marL="0" indent="0">
              <a:spcAft>
                <a:spcPts val="400"/>
              </a:spcAft>
              <a:buNone/>
            </a:pPr>
            <a:r>
              <a:rPr lang="en-US" sz="1250" dirty="0">
                <a:solidFill>
                  <a:srgbClr val="1A2433"/>
                </a:solidFill>
                <a:latin typeface="Calibri" pitchFamily="34" charset="0"/>
                <a:ea typeface="Calibri" pitchFamily="34" charset="-122"/>
                <a:cs typeface="Calibri" pitchFamily="34" charset="-120"/>
              </a:rPr>
              <a:t>Set to zero so the slide figures match gross hire. At the industry norm of 3.75% (address plus brokerage) the base case is $47.8m, or 19.1%, with every scenario reduced by the same share.</a:t>
            </a:r>
            <a:endParaRPr lang="en-US" sz="12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Base case by vessel: USD 49.7m, 19.9% on capital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MT6102_Earnings_Model.xlsx, sheets Inputs and Forecast; rates from the fixtures on the Part 2 slides.</a:t>
            </a:r>
            <a:endParaRPr lang="en-US" sz="85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72237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384048">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Vessel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Employment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Rate, $/day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Annual earnings, $m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Share of fleet income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84048">
                <a:tc>
                  <a:txBody>
                    <a:bodyPr/>
                    <a:lstStyle/>
                    <a:p>
                      <a:pPr marL="0" indent="0" algn="l">
                        <a:buNone/>
                      </a:pPr>
                      <a:r>
                        <a:rPr lang="en-US" sz="1100" b="1" dirty="0">
                          <a:solidFill>
                            <a:srgbClr val="1A2433"/>
                          </a:solidFill>
                          <a:latin typeface="Calibri" pitchFamily="34" charset="0"/>
                          <a:ea typeface="Calibri" pitchFamily="34" charset="-122"/>
                          <a:cs typeface="Calibri" pitchFamily="34" charset="-120"/>
                        </a:rPr>
                        <a:t>MR #1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A2433"/>
                          </a:solidFill>
                          <a:latin typeface="Calibri" pitchFamily="34" charset="0"/>
                          <a:ea typeface="Calibri" pitchFamily="34" charset="-122"/>
                          <a:cs typeface="Calibri" pitchFamily="34" charset="-120"/>
                        </a:rPr>
                        <a:t>1-year TC, SUNCOR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30,000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10.5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b="1" dirty="0">
                          <a:solidFill>
                            <a:srgbClr val="1A2433"/>
                          </a:solidFill>
                          <a:latin typeface="Calibri" pitchFamily="34" charset="0"/>
                          <a:ea typeface="Calibri" pitchFamily="34" charset="-122"/>
                          <a:cs typeface="Calibri" pitchFamily="34" charset="-120"/>
                        </a:rPr>
                        <a:t>MR #2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l">
                        <a:buNone/>
                      </a:pPr>
                      <a:r>
                        <a:rPr lang="en-US" sz="1100" dirty="0">
                          <a:solidFill>
                            <a:srgbClr val="1A2433"/>
                          </a:solidFill>
                          <a:latin typeface="Calibri" pitchFamily="34" charset="0"/>
                          <a:ea typeface="Calibri" pitchFamily="34" charset="-122"/>
                          <a:cs typeface="Calibri" pitchFamily="34" charset="-120"/>
                        </a:rPr>
                        <a:t>Spot, base proxy Challenge Pollux fixture</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27,000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9.45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84048">
                <a:tc>
                  <a:txBody>
                    <a:bodyPr/>
                    <a:lstStyle/>
                    <a:p>
                      <a:pPr marL="0" indent="0" algn="l">
                        <a:buNone/>
                      </a:pPr>
                      <a:r>
                        <a:rPr lang="en-US" sz="1100" b="1" dirty="0">
                          <a:solidFill>
                            <a:srgbClr val="1A2433"/>
                          </a:solidFill>
                          <a:latin typeface="Calibri" pitchFamily="34" charset="0"/>
                          <a:ea typeface="Calibri" pitchFamily="34" charset="-122"/>
                          <a:cs typeface="Calibri" pitchFamily="34" charset="-120"/>
                        </a:rPr>
                        <a:t>Aframax</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A2433"/>
                          </a:solidFill>
                          <a:latin typeface="Calibri" pitchFamily="34" charset="0"/>
                          <a:ea typeface="Calibri" pitchFamily="34" charset="-122"/>
                          <a:cs typeface="Calibri" pitchFamily="34" charset="-120"/>
                        </a:rPr>
                        <a:t>3-year TC, AET benchmark</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b="1" dirty="0">
                          <a:solidFill>
                            <a:srgbClr val="1A2433"/>
                          </a:solidFill>
                          <a:latin typeface="Calibri" pitchFamily="34" charset="0"/>
                          <a:ea typeface="Calibri" pitchFamily="34" charset="-122"/>
                          <a:cs typeface="Calibri" pitchFamily="34" charset="-120"/>
                        </a:rPr>
                        <a:t>Kamsarmax #1</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l">
                        <a:buNone/>
                      </a:pPr>
                      <a:r>
                        <a:rPr lang="en-US" sz="1100" dirty="0">
                          <a:solidFill>
                            <a:srgbClr val="1A2433"/>
                          </a:solidFill>
                          <a:latin typeface="Calibri" pitchFamily="34" charset="0"/>
                          <a:ea typeface="Calibri" pitchFamily="34" charset="-122"/>
                          <a:cs typeface="Calibri" pitchFamily="34" charset="-120"/>
                        </a:rPr>
                        <a:t>12-month TC, CNR</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22,000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84048">
                <a:tc>
                  <a:txBody>
                    <a:bodyPr/>
                    <a:lstStyle/>
                    <a:p>
                      <a:pPr marL="0" indent="0" algn="l">
                        <a:buNone/>
                      </a:pPr>
                      <a:r>
                        <a:rPr lang="en-US" sz="1100" b="1" dirty="0">
                          <a:solidFill>
                            <a:srgbClr val="1A2433"/>
                          </a:solidFill>
                          <a:latin typeface="Calibri" pitchFamily="34" charset="0"/>
                          <a:ea typeface="Calibri" pitchFamily="34" charset="-122"/>
                          <a:cs typeface="Calibri" pitchFamily="34" charset="-120"/>
                        </a:rPr>
                        <a:t>Kamsarmax #2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A2433"/>
                          </a:solidFill>
                          <a:latin typeface="Calibri" pitchFamily="34" charset="0"/>
                          <a:ea typeface="Calibri" pitchFamily="34" charset="-122"/>
                          <a:cs typeface="Calibri" pitchFamily="34" charset="-120"/>
                        </a:rPr>
                        <a:t>Spot, base proxy XH Hope fixture</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23,000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8.05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dirty="0">
                          <a:solidFill>
                            <a:srgbClr val="142B4F"/>
                          </a:solidFill>
                          <a:latin typeface="Calibri" pitchFamily="34" charset="0"/>
                          <a:ea typeface="Calibri" pitchFamily="34" charset="-122"/>
                          <a:cs typeface="Calibri" pitchFamily="34" charset="-120"/>
                        </a:rPr>
                        <a:t>Fleet</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l">
                        <a:buNone/>
                      </a:pPr>
                      <a:r>
                        <a:rPr lang="en-US" sz="1100" b="1" dirty="0">
                          <a:solidFill>
                            <a:srgbClr val="142B4F"/>
                          </a:solidFill>
                          <a:latin typeface="Calibri" pitchFamily="34" charset="0"/>
                          <a:ea typeface="Calibri" pitchFamily="34" charset="-122"/>
                          <a:cs typeface="Calibri" pitchFamily="34" charset="-120"/>
                        </a:rPr>
                        <a:t>60% of ship-days fixed</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142B4F"/>
                          </a:solidFill>
                          <a:latin typeface="Calibri" pitchFamily="34" charset="0"/>
                          <a:ea typeface="Calibri" pitchFamily="34" charset="-122"/>
                          <a:cs typeface="Calibri" pitchFamily="34" charset="-120"/>
                        </a:rPr>
                        <a:t>142,000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C8102E"/>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142B4F"/>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6"/>
                  </a:ext>
                </a:extLst>
              </a:tr>
            </a:tbl>
          </a:graphicData>
        </a:graphic>
      </p:graphicFrame>
      <p:sp>
        <p:nvSpPr>
          <p:cNvPr id="6" name="Stat"/>
          <p:cNvSpPr/>
          <p:nvPr/>
        </p:nvSpPr>
        <p:spPr>
          <a:xfrm>
            <a:off x="7955280" y="1463040"/>
            <a:ext cx="3703320" cy="1051560"/>
          </a:xfrm>
          <a:prstGeom prst="roundRect">
            <a:avLst>
              <a:gd name="adj" fmla="val 5217"/>
            </a:avLst>
          </a:prstGeom>
          <a:solidFill>
            <a:srgbClr val="EEF3FA"/>
          </a:solidFill>
          <a:ln w="9525">
            <a:solidFill>
              <a:srgbClr val="D7DEE8"/>
            </a:solidFill>
            <a:prstDash val="solid"/>
          </a:ln>
        </p:spPr>
        <p:txBody>
          <a:bodyPr/>
          <a:lstStyle/>
          <a:p>
            <a:endParaRPr lang="zh-CN" altLang="en-US"/>
          </a:p>
        </p:txBody>
      </p:sp>
      <p:sp>
        <p:nvSpPr>
          <p:cNvPr id="7" name="Stat value"/>
          <p:cNvSpPr txBox="1"/>
          <p:nvPr/>
        </p:nvSpPr>
        <p:spPr>
          <a:xfrm>
            <a:off x="8092440" y="1572768"/>
            <a:ext cx="3429000" cy="502920"/>
          </a:xfrm>
          <a:prstGeom prst="rect">
            <a:avLst/>
          </a:prstGeom>
          <a:noFill/>
          <a:ln/>
        </p:spPr>
        <p:txBody>
          <a:bodyPr wrap="square" lIns="0" tIns="0" rIns="0" bIns="0" rtlCol="0" anchor="ctr"/>
          <a:lstStyle/>
          <a:p>
            <a:pPr marL="0" indent="0" algn="l">
              <a:buNone/>
            </a:pPr>
            <a:r>
              <a:rPr lang="en-US" sz="2400" b="1" dirty="0">
                <a:solidFill>
                  <a:srgbClr val="142B4F"/>
                </a:solidFill>
                <a:latin typeface="Cambria" pitchFamily="34" charset="0"/>
                <a:ea typeface="Cambria" pitchFamily="34" charset="-122"/>
                <a:cs typeface="Cambria" pitchFamily="34" charset="-120"/>
              </a:rPr>
              <a:t>$142,000</a:t>
            </a:r>
            <a:endParaRPr lang="en-US" sz="2400" dirty="0"/>
          </a:p>
        </p:txBody>
      </p:sp>
      <p:sp>
        <p:nvSpPr>
          <p:cNvPr id="8" name="Stat label"/>
          <p:cNvSpPr txBox="1"/>
          <p:nvPr/>
        </p:nvSpPr>
        <p:spPr>
          <a:xfrm>
            <a:off x="8092440" y="2084832"/>
            <a:ext cx="3429000" cy="35661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fleet income per day in the base case</a:t>
            </a:r>
            <a:endParaRPr lang="en-US" sz="1050" dirty="0"/>
          </a:p>
        </p:txBody>
      </p:sp>
      <p:sp>
        <p:nvSpPr>
          <p:cNvPr id="9" name="Stat"/>
          <p:cNvSpPr/>
          <p:nvPr/>
        </p:nvSpPr>
        <p:spPr>
          <a:xfrm>
            <a:off x="7955280" y="2651760"/>
            <a:ext cx="3703320" cy="1051560"/>
          </a:xfrm>
          <a:prstGeom prst="roundRect">
            <a:avLst>
              <a:gd name="adj" fmla="val 5217"/>
            </a:avLst>
          </a:prstGeom>
          <a:solidFill>
            <a:srgbClr val="EEF3FA"/>
          </a:solidFill>
          <a:ln w="9525">
            <a:solidFill>
              <a:srgbClr val="D7DEE8"/>
            </a:solidFill>
            <a:prstDash val="solid"/>
          </a:ln>
        </p:spPr>
        <p:txBody>
          <a:bodyPr/>
          <a:lstStyle/>
          <a:p>
            <a:endParaRPr lang="zh-CN" altLang="en-US"/>
          </a:p>
        </p:txBody>
      </p:sp>
      <p:sp>
        <p:nvSpPr>
          <p:cNvPr id="10" name="Stat value"/>
          <p:cNvSpPr txBox="1"/>
          <p:nvPr/>
        </p:nvSpPr>
        <p:spPr>
          <a:xfrm>
            <a:off x="8092440" y="2761488"/>
            <a:ext cx="3429000" cy="502920"/>
          </a:xfrm>
          <a:prstGeom prst="rect">
            <a:avLst/>
          </a:prstGeom>
          <a:noFill/>
          <a:ln/>
        </p:spPr>
        <p:txBody>
          <a:bodyPr wrap="square" lIns="0" tIns="0" rIns="0" bIns="0" rtlCol="0" anchor="ctr"/>
          <a:lstStyle/>
          <a:p>
            <a:pPr marL="0" indent="0" algn="l">
              <a:buNone/>
            </a:pPr>
            <a:r>
              <a:rPr lang="en-US" sz="2400" b="1" dirty="0">
                <a:solidFill>
                  <a:srgbClr val="C8102E"/>
                </a:solidFill>
                <a:latin typeface="Cambria" pitchFamily="34" charset="0"/>
                <a:ea typeface="Cambria" pitchFamily="34" charset="-122"/>
                <a:cs typeface="Cambria" pitchFamily="34" charset="-120"/>
              </a:rPr>
              <a:t>19.9%</a:t>
            </a:r>
            <a:endParaRPr lang="en-US" sz="2400" dirty="0"/>
          </a:p>
        </p:txBody>
      </p:sp>
      <p:sp>
        <p:nvSpPr>
          <p:cNvPr id="11" name="Stat label"/>
          <p:cNvSpPr txBox="1"/>
          <p:nvPr/>
        </p:nvSpPr>
        <p:spPr>
          <a:xfrm>
            <a:off x="8092440" y="3273552"/>
            <a:ext cx="3429000" cy="35661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return on USD 250m before OPEX; 14.8% after OPEX of $12.8m</a:t>
            </a:r>
            <a:endParaRPr lang="en-US" sz="1050" dirty="0"/>
          </a:p>
        </p:txBody>
      </p:sp>
      <p:sp>
        <p:nvSpPr>
          <p:cNvPr id="12" name="Stat"/>
          <p:cNvSpPr/>
          <p:nvPr/>
        </p:nvSpPr>
        <p:spPr>
          <a:xfrm>
            <a:off x="7955280" y="3840480"/>
            <a:ext cx="3703320" cy="1051560"/>
          </a:xfrm>
          <a:prstGeom prst="roundRect">
            <a:avLst>
              <a:gd name="adj" fmla="val 5217"/>
            </a:avLst>
          </a:prstGeom>
          <a:solidFill>
            <a:srgbClr val="EEF3FA"/>
          </a:solidFill>
          <a:ln w="9525">
            <a:solidFill>
              <a:srgbClr val="D7DEE8"/>
            </a:solidFill>
            <a:prstDash val="solid"/>
          </a:ln>
        </p:spPr>
        <p:txBody>
          <a:bodyPr/>
          <a:lstStyle/>
          <a:p>
            <a:endParaRPr lang="zh-CN" altLang="en-US"/>
          </a:p>
        </p:txBody>
      </p:sp>
      <p:sp>
        <p:nvSpPr>
          <p:cNvPr id="13" name="Stat value"/>
          <p:cNvSpPr txBox="1"/>
          <p:nvPr/>
        </p:nvSpPr>
        <p:spPr>
          <a:xfrm>
            <a:off x="8092440" y="3950208"/>
            <a:ext cx="3429000" cy="502920"/>
          </a:xfrm>
          <a:prstGeom prst="rect">
            <a:avLst/>
          </a:prstGeom>
          <a:noFill/>
          <a:ln/>
        </p:spPr>
        <p:txBody>
          <a:bodyPr wrap="square" lIns="0" tIns="0" rIns="0" bIns="0" rtlCol="0" anchor="ctr"/>
          <a:lstStyle/>
          <a:p>
            <a:pPr marL="0" indent="0" algn="l">
              <a:buNone/>
            </a:pPr>
            <a:r>
              <a:rPr lang="en-US" sz="2400" b="1" dirty="0">
                <a:solidFill>
                  <a:srgbClr val="142B4F"/>
                </a:solidFill>
                <a:latin typeface="Cambria" pitchFamily="34" charset="0"/>
                <a:ea typeface="Cambria" pitchFamily="34" charset="-122"/>
                <a:cs typeface="Cambria" pitchFamily="34" charset="-120"/>
              </a:rPr>
              <a:t>65%</a:t>
            </a:r>
            <a:endParaRPr lang="en-US" sz="2400" dirty="0"/>
          </a:p>
        </p:txBody>
      </p:sp>
      <p:sp>
        <p:nvSpPr>
          <p:cNvPr id="14" name="Stat label"/>
          <p:cNvSpPr txBox="1"/>
          <p:nvPr/>
        </p:nvSpPr>
        <p:spPr>
          <a:xfrm>
            <a:off x="8092440" y="4462272"/>
            <a:ext cx="3429000" cy="356616"/>
          </a:xfrm>
          <a:prstGeom prst="rect">
            <a:avLst/>
          </a:prstGeom>
          <a:noFill/>
          <a:ln/>
        </p:spPr>
        <p:txBody>
          <a:bodyPr wrap="square" lIns="0" tIns="0" rIns="0" bIns="0" rtlCol="0" anchor="t"/>
          <a:lstStyle/>
          <a:p>
            <a:pPr marL="0" indent="0" algn="l">
              <a:buNone/>
            </a:pPr>
            <a:r>
              <a:rPr lang="en-US" sz="1050" dirty="0">
                <a:solidFill>
                  <a:srgbClr val="5A6472"/>
                </a:solidFill>
                <a:latin typeface="Calibri" pitchFamily="34" charset="0"/>
                <a:ea typeface="Calibri" pitchFamily="34" charset="-122"/>
                <a:cs typeface="Calibri" pitchFamily="34" charset="-120"/>
              </a:rPr>
              <a:t>of base income comes from the three fixed ships ($32.2m), identical in every scenario</a:t>
            </a:r>
            <a:endParaRPr lang="en-US" sz="1050" dirty="0"/>
          </a:p>
        </p:txBody>
      </p:sp>
      <p:sp>
        <p:nvSpPr>
          <p:cNvPr id="15" name="Panel"/>
          <p:cNvSpPr/>
          <p:nvPr/>
        </p:nvSpPr>
        <p:spPr>
          <a:xfrm>
            <a:off x="502920" y="4434840"/>
            <a:ext cx="7223760" cy="1554480"/>
          </a:xfrm>
          <a:prstGeom prst="roundRect">
            <a:avLst>
              <a:gd name="adj" fmla="val 3529"/>
            </a:avLst>
          </a:prstGeom>
          <a:solidFill>
            <a:srgbClr val="EEF3FA"/>
          </a:solidFill>
          <a:ln w="9525">
            <a:solidFill>
              <a:srgbClr val="D7DEE8"/>
            </a:solidFill>
            <a:prstDash val="solid"/>
          </a:ln>
        </p:spPr>
        <p:txBody>
          <a:bodyPr/>
          <a:lstStyle/>
          <a:p>
            <a:endParaRPr lang="zh-CN" altLang="en-US"/>
          </a:p>
        </p:txBody>
      </p:sp>
      <p:sp>
        <p:nvSpPr>
          <p:cNvPr id="16" name="Panel body"/>
          <p:cNvSpPr txBox="1"/>
          <p:nvPr/>
        </p:nvSpPr>
        <p:spPr>
          <a:xfrm>
            <a:off x="685800" y="4562856"/>
            <a:ext cx="6858000" cy="1316736"/>
          </a:xfrm>
          <a:prstGeom prst="rect">
            <a:avLst/>
          </a:prstGeom>
          <a:noFill/>
          <a:ln/>
        </p:spPr>
        <p:txBody>
          <a:bodyPr wrap="square" lIns="0" tIns="0" rIns="0" bIns="0" rtlCol="0" anchor="t"/>
          <a:lstStyle/>
          <a:p>
            <a:pPr marL="0" indent="0">
              <a:spcAft>
                <a:spcPts val="400"/>
              </a:spcAft>
              <a:buNone/>
            </a:pPr>
            <a:r>
              <a:rPr lang="en-US" sz="1150" dirty="0">
                <a:solidFill>
                  <a:srgbClr val="1A2433"/>
                </a:solidFill>
                <a:latin typeface="Calibri" pitchFamily="34" charset="0"/>
                <a:ea typeface="Calibri" pitchFamily="34" charset="-122"/>
                <a:cs typeface="Calibri" pitchFamily="34" charset="-120"/>
              </a:rPr>
              <a:t>Each line is the daily rate times 350 days. MR #1: 30,000 × 350 = $10.5m. Aframax: 40,000 × 350 = $14.0m. The two spot ships use the latest one-year fixtures as a conservative proxy; the coal voyage fixture converts to about $27,400/day, above the $23,000 used here.</a:t>
            </a:r>
            <a:endParaRPr lang="en-US" sz="11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Three scenarios: the floor is 17.9% with 60% of days fixed</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Bear = 2025 average of SIN earnings series 543759 (MR Eco) and 533288 (Kamsarmax Eco); Base = last-done 1-year fixtures; Bull = the same series in the week of 9 Oct 2026. Weights are the group's judgement.</a:t>
            </a:r>
            <a:endParaRPr lang="en-US" sz="850" dirty="0"/>
          </a:p>
        </p:txBody>
      </p:sp>
      <p:pic>
        <p:nvPicPr>
          <p:cNvPr id="5" name="11_scenarios.png" descr="/home/user/MT6102/charts_deck/11_scenarios.png"/>
          <p:cNvPicPr>
            <a:picLocks noChangeAspect="1"/>
          </p:cNvPicPr>
          <p:nvPr/>
        </p:nvPicPr>
        <p:blipFill>
          <a:blip r:embed="rId3"/>
          <a:srcRect/>
          <a:stretch/>
        </p:blipFill>
        <p:spPr>
          <a:xfrm>
            <a:off x="502920" y="1463040"/>
            <a:ext cx="7315200" cy="4526280"/>
          </a:xfrm>
          <a:prstGeom prst="rect">
            <a:avLst/>
          </a:prstGeom>
        </p:spPr>
      </p:pic>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8046720" y="1463040"/>
          <a:ext cx="36118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384048">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Scenario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Spot legs,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Earnings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Return</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A2433"/>
                          </a:solidFill>
                          <a:latin typeface="Calibri" pitchFamily="34" charset="0"/>
                          <a:ea typeface="Calibri" pitchFamily="34" charset="-122"/>
                          <a:cs typeface="Calibri" pitchFamily="34" charset="-120"/>
                        </a:rPr>
                        <a:t>Bear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22,950 / 12,880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$44.7m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C8102E"/>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A2433"/>
                          </a:solidFill>
                          <a:latin typeface="Calibri" pitchFamily="34" charset="0"/>
                          <a:ea typeface="Calibri" pitchFamily="34" charset="-122"/>
                          <a:cs typeface="Calibri" pitchFamily="34" charset="-120"/>
                        </a:rPr>
                        <a:t>Base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27,000 / 23,000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$49.7m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b="1" dirty="0">
                          <a:solidFill>
                            <a:srgbClr val="C8102E"/>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A2433"/>
                          </a:solidFill>
                          <a:latin typeface="Calibri" pitchFamily="34" charset="0"/>
                          <a:ea typeface="Calibri" pitchFamily="34" charset="-122"/>
                          <a:cs typeface="Calibri" pitchFamily="34" charset="-120"/>
                        </a:rPr>
                        <a:t>Bull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53,741 / 23,389</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$59.2m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C8102E"/>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b="1" dirty="0">
                          <a:solidFill>
                            <a:srgbClr val="1A2433"/>
                          </a:solidFill>
                          <a:latin typeface="Calibri" pitchFamily="34" charset="0"/>
                          <a:ea typeface="Calibri" pitchFamily="34" charset="-122"/>
                          <a:cs typeface="Calibri" pitchFamily="34" charset="-120"/>
                        </a:rPr>
                        <a:t>Expected (30 / 50 / 20)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00" b="1" dirty="0">
                          <a:solidFill>
                            <a:srgbClr val="1A2433"/>
                          </a:solidFill>
                          <a:latin typeface="Calibri" pitchFamily="34" charset="0"/>
                          <a:ea typeface="Calibri" pitchFamily="34" charset="-122"/>
                          <a:cs typeface="Calibri" pitchFamily="34" charset="-120"/>
                        </a:rPr>
                        <a:t>$50.1m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00" b="1" dirty="0">
                          <a:solidFill>
                            <a:srgbClr val="C8102E"/>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extLst>
                  <a:ext uri="{0D108BD9-81ED-4DB2-BD59-A6C34878D82A}">
                    <a16:rowId xmlns:a16="http://schemas.microsoft.com/office/drawing/2014/main" val="10004"/>
                  </a:ext>
                </a:extLst>
              </a:tr>
              <a:tr h="384048">
                <a:tc>
                  <a:txBody>
                    <a:bodyPr/>
                    <a:lstStyle/>
                    <a:p>
                      <a:pPr marL="0" indent="0" algn="l">
                        <a:buNone/>
                      </a:pPr>
                      <a:r>
                        <a:rPr lang="en-US" sz="1000" b="1" dirty="0">
                          <a:solidFill>
                            <a:srgbClr val="1A2433"/>
                          </a:solidFill>
                          <a:latin typeface="Calibri" pitchFamily="34" charset="0"/>
                          <a:ea typeface="Calibri" pitchFamily="34" charset="-122"/>
                          <a:cs typeface="Calibri" pitchFamily="34" charset="-120"/>
                        </a:rPr>
                        <a:t>Base after OPEX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00" b="1" dirty="0">
                          <a:solidFill>
                            <a:srgbClr val="1A2433"/>
                          </a:solidFill>
                          <a:latin typeface="Calibri" pitchFamily="34" charset="0"/>
                          <a:ea typeface="Calibri" pitchFamily="34" charset="-122"/>
                          <a:cs typeface="Calibri" pitchFamily="34" charset="-120"/>
                        </a:rPr>
                        <a:t>$36.9m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000" b="1" dirty="0">
                          <a:solidFill>
                            <a:srgbClr val="C8102E"/>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extLst>
                  <a:ext uri="{0D108BD9-81ED-4DB2-BD59-A6C34878D82A}">
                    <a16:rowId xmlns:a16="http://schemas.microsoft.com/office/drawing/2014/main" val="10005"/>
                  </a:ext>
                </a:extLst>
              </a:tr>
            </a:tbl>
          </a:graphicData>
        </a:graphic>
      </p:graphicFrame>
      <p:sp>
        <p:nvSpPr>
          <p:cNvPr id="7" name="Panel"/>
          <p:cNvSpPr/>
          <p:nvPr/>
        </p:nvSpPr>
        <p:spPr>
          <a:xfrm>
            <a:off x="8046720" y="3931920"/>
            <a:ext cx="3611880" cy="2057400"/>
          </a:xfrm>
          <a:prstGeom prst="roundRect">
            <a:avLst>
              <a:gd name="adj" fmla="val 2667"/>
            </a:avLst>
          </a:prstGeom>
          <a:solidFill>
            <a:srgbClr val="EEF3FA"/>
          </a:solidFill>
          <a:ln w="9525">
            <a:solidFill>
              <a:srgbClr val="D7DEE8"/>
            </a:solidFill>
            <a:prstDash val="solid"/>
          </a:ln>
        </p:spPr>
        <p:txBody>
          <a:bodyPr/>
          <a:lstStyle/>
          <a:p>
            <a:endParaRPr lang="zh-CN" altLang="en-US"/>
          </a:p>
        </p:txBody>
      </p:sp>
      <p:sp>
        <p:nvSpPr>
          <p:cNvPr id="8" name="Panel title"/>
          <p:cNvSpPr txBox="1"/>
          <p:nvPr/>
        </p:nvSpPr>
        <p:spPr>
          <a:xfrm>
            <a:off x="8229600" y="4059936"/>
            <a:ext cx="324612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Why the bear case still works</a:t>
            </a:r>
            <a:endParaRPr lang="en-US" sz="1250" dirty="0"/>
          </a:p>
        </p:txBody>
      </p:sp>
      <p:sp>
        <p:nvSpPr>
          <p:cNvPr id="9" name="Panel body"/>
          <p:cNvSpPr txBox="1"/>
          <p:nvPr/>
        </p:nvSpPr>
        <p:spPr>
          <a:xfrm>
            <a:off x="8229600" y="4407408"/>
            <a:ext cx="3246120" cy="147218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Only the two spot ships move. Even at 2025 average earnings, the year before the tanker boom, the fleet returns 17.9%. The bull case has already been overtaken by the October market, so our upside is stated conservatively.</a:t>
            </a:r>
            <a:endParaRPr lang="en-US" sz="105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5 · EARNINGS BEFORE OPEX</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Sensitivity: the fleet stays above 16.8% even if both spot ships collapse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MT6102_Earnings_Model.xlsx, sheets Sensitivity and Voyage_TCE; Singapore VLSFO September 2026 average $874.94/t (SIN series 542456).</a:t>
            </a:r>
            <a:endParaRPr lang="en-US" sz="85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6675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45720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MR #2 spot, $/day  →  Kamsarmax #2 spot, $/day</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13,000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18,000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23,000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28,000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457200">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15,000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100" dirty="0">
                          <a:solidFill>
                            <a:srgbClr val="C8102E"/>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BECEC"/>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20,000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25,000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18.2%</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3"/>
                  </a:ext>
                </a:extLst>
              </a:tr>
              <a:tr h="457200">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30,000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18.9%</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21.0%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4"/>
                  </a:ext>
                </a:extLst>
              </a:tr>
              <a:tr h="457200">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35,000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EEF3FA"/>
                    </a:solidFill>
                  </a:tcPr>
                </a:tc>
                <a:tc>
                  <a:txBody>
                    <a:bodyPr/>
                    <a:lstStyle/>
                    <a:p>
                      <a:pPr marL="0" indent="0" algn="ctr">
                        <a:buNone/>
                      </a:pPr>
                      <a:r>
                        <a:rPr lang="en-US" sz="1100" dirty="0">
                          <a:solidFill>
                            <a:srgbClr val="1A2433"/>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21.0%</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100" b="1" dirty="0">
                          <a:solidFill>
                            <a:srgbClr val="1A24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5"/>
                  </a:ext>
                </a:extLst>
              </a:tr>
            </a:tbl>
          </a:graphicData>
        </a:graphic>
      </p:graphicFrame>
      <p:sp>
        <p:nvSpPr>
          <p:cNvPr id="6" name="Panel"/>
          <p:cNvSpPr/>
          <p:nvPr/>
        </p:nvSpPr>
        <p:spPr>
          <a:xfrm>
            <a:off x="502920" y="4343400"/>
            <a:ext cx="6675120" cy="1371600"/>
          </a:xfrm>
          <a:prstGeom prst="roundRect">
            <a:avLst>
              <a:gd name="adj" fmla="val 4000"/>
            </a:avLst>
          </a:prstGeom>
          <a:solidFill>
            <a:srgbClr val="EEF3FA"/>
          </a:solidFill>
          <a:ln w="9525">
            <a:solidFill>
              <a:srgbClr val="D7DEE8"/>
            </a:solidFill>
            <a:prstDash val="solid"/>
          </a:ln>
        </p:spPr>
        <p:txBody>
          <a:bodyPr/>
          <a:lstStyle/>
          <a:p>
            <a:endParaRPr lang="zh-CN" altLang="en-US"/>
          </a:p>
        </p:txBody>
      </p:sp>
      <p:sp>
        <p:nvSpPr>
          <p:cNvPr id="7" name="Panel title"/>
          <p:cNvSpPr txBox="1"/>
          <p:nvPr/>
        </p:nvSpPr>
        <p:spPr>
          <a:xfrm>
            <a:off x="685800" y="4471416"/>
            <a:ext cx="630936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Reading the grid</a:t>
            </a:r>
            <a:endParaRPr lang="en-US" sz="1350" dirty="0"/>
          </a:p>
        </p:txBody>
      </p:sp>
      <p:sp>
        <p:nvSpPr>
          <p:cNvPr id="8" name="Panel body"/>
          <p:cNvSpPr txBox="1"/>
          <p:nvPr/>
        </p:nvSpPr>
        <p:spPr>
          <a:xfrm>
            <a:off x="685800" y="4818888"/>
            <a:ext cx="6309360" cy="786384"/>
          </a:xfrm>
          <a:prstGeom prst="rect">
            <a:avLst/>
          </a:prstGeom>
          <a:noFill/>
          <a:ln/>
        </p:spPr>
        <p:txBody>
          <a:bodyPr wrap="square" lIns="0" tIns="0" rIns="0" bIns="0" rtlCol="0" anchor="t"/>
          <a:lstStyle/>
          <a:p>
            <a:pPr marL="0" indent="0">
              <a:spcAft>
                <a:spcPts val="400"/>
              </a:spcAft>
              <a:buNone/>
            </a:pPr>
            <a:r>
              <a:rPr lang="en-US" sz="1100" dirty="0">
                <a:solidFill>
                  <a:srgbClr val="1A2433"/>
                </a:solidFill>
                <a:latin typeface="Calibri" pitchFamily="34" charset="0"/>
                <a:ea typeface="Calibri" pitchFamily="34" charset="-122"/>
                <a:cs typeface="Calibri" pitchFamily="34" charset="-120"/>
              </a:rPr>
              <a:t>Every $1,000/day on both spot ships moves annual earnings by $0.7m (2 ships × 350 days). The worst cell, both ships at $15,000 and $13,000, still returns 16.8%. The return falls below 15% only if the two ships together earn less than $15,100/day.</a:t>
            </a:r>
            <a:endParaRPr lang="en-US" sz="11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60920" y="1463040"/>
          <a:ext cx="429768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36576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Voyage cross-check: coal DBCT to Vizag</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Cargo and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80,000 t at $25.60/t, SAIL, 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Gross freight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$2.05m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Round voyage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39 days, 4,600 nm each way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Bunkers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848 t VLSFO at $874.94/t, $0.74m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Port costs and commission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$0.16m and 3.75%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Voyage 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about $27,400/day</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Base assumption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$23,000/day: base case is conservative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Five shocks, five prepared answers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news #217187, #227049 (port fees), #227789 (Black Sea), #226856 (EU ETS review), #228241; USTR notice on the Section 301 suspension; SIN TC assessment series 48989 / 49108.</a:t>
            </a:r>
            <a:endParaRPr lang="en-US" sz="85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tblGrid>
              <a:tr h="713232">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Shock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Probability signal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Impact on the fleet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Our answer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713232">
                <a:tc>
                  <a:txBody>
                    <a:bodyPr/>
                    <a:lstStyle/>
                    <a:p>
                      <a:pPr marL="0" indent="0">
                        <a:buNone/>
                      </a:pPr>
                      <a:r>
                        <a:rPr lang="en-US" sz="950" b="1" dirty="0">
                          <a:solidFill>
                            <a:srgbClr val="142B4F"/>
                          </a:solidFill>
                          <a:latin typeface="Calibri" pitchFamily="34" charset="0"/>
                          <a:ea typeface="Calibri" pitchFamily="34" charset="-122"/>
                          <a:cs typeface="Calibri" pitchFamily="34" charset="-120"/>
                        </a:rPr>
                        <a:t>Middle East ceasefire or sanctions relief, tanker rates collapse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The forward curve already prices it: Suezmax 1-year TC $140k against 3-year $64k</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We own no Suezmax; the Aframax 3-year charter is untouched; the MR spot leg falls, and the bear case already uses 2025 averages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Cash plus about $2.7m a month of fixed hire buys tankers once secondhand prices fall below newbuild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950" b="1" dirty="0">
                          <a:solidFill>
                            <a:srgbClr val="142B4F"/>
                          </a:solidFill>
                          <a:latin typeface="Calibri" pitchFamily="34" charset="0"/>
                          <a:ea typeface="Calibri" pitchFamily="34" charset="-122"/>
                          <a:cs typeface="Calibri" pitchFamily="34" charset="-120"/>
                        </a:rPr>
                        <a:t>US and China port-fee suspension expires around 10 Nov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Dated event; USTR notice, news #217187 and #227049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China-built ships calling at US ports pay fees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All five ships are Japan or Korea built; the premium is already in our purchase prices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713232">
                <a:tc>
                  <a:txBody>
                    <a:bodyPr/>
                    <a:lstStyle/>
                    <a:p>
                      <a:pPr marL="0" indent="0">
                        <a:buNone/>
                      </a:pPr>
                      <a:r>
                        <a:rPr lang="en-US" sz="950" b="1" dirty="0">
                          <a:solidFill>
                            <a:srgbClr val="142B4F"/>
                          </a:solidFill>
                          <a:latin typeface="Calibri" pitchFamily="34" charset="0"/>
                          <a:ea typeface="Calibri" pitchFamily="34" charset="-122"/>
                          <a:cs typeface="Calibri" pitchFamily="34" charset="-120"/>
                        </a:rPr>
                        <a:t>Black Sea escalation blocks grain exports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Attacks on ships and ports continued through August and October, news #227789</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Kamsarmax #2 loses one cargo source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Shift to Guinea bauxite and Australian coal; two September coal fixtures prove the cargo is there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950" b="1" dirty="0">
                          <a:solidFill>
                            <a:srgbClr val="142B4F"/>
                          </a:solidFill>
                          <a:latin typeface="Calibri" pitchFamily="34" charset="0"/>
                          <a:ea typeface="Calibri" pitchFamily="34" charset="-122"/>
                          <a:cs typeface="Calibri" pitchFamily="34" charset="-120"/>
                        </a:rPr>
                        <a:t>Global recession</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World seaborne trade already −0.4% in 2026</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All three trades cool at once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60% of ship-days fixed, floor 17.9%; both spot ships can be fixed for a year within weeks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713232">
                <a:tc>
                  <a:txBody>
                    <a:bodyPr/>
                    <a:lstStyle/>
                    <a:p>
                      <a:pPr marL="0" indent="0">
                        <a:buNone/>
                      </a:pPr>
                      <a:r>
                        <a:rPr lang="en-US" sz="950" b="1" dirty="0">
                          <a:solidFill>
                            <a:srgbClr val="142B4F"/>
                          </a:solidFill>
                          <a:latin typeface="Calibri" pitchFamily="34" charset="0"/>
                          <a:ea typeface="Calibri" pitchFamily="34" charset="-122"/>
                          <a:cs typeface="Calibri" pitchFamily="34" charset="-120"/>
                        </a:rPr>
                        <a:t>Carbon rules tighten (EU ETS, FuelEU, IMO)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EU ETS review opened, news #226856; FuelEU limits step up from 2030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Older, less efficient ships lose value and charterers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950" dirty="0">
                          <a:solidFill>
                            <a:srgbClr val="1A2433"/>
                          </a:solidFill>
                          <a:latin typeface="Calibri" pitchFamily="34" charset="0"/>
                          <a:ea typeface="Calibri" pitchFamily="34" charset="-122"/>
                          <a:cs typeface="Calibri" pitchFamily="34" charset="-120"/>
                        </a:rPr>
                        <a:t>Only Eco ships under 10 years old; on time charter the charterer carries fuel and allowances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Charter expiry is timed against the delivery wave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Orderbook Delivery Schedule (dataset L15), extracted 10 Oct 2026; fixture Torm Genesis 3 years at $40,000/day, 31 Aug 2026.</a:t>
            </a:r>
            <a:endParaRPr lang="en-US" sz="850" dirty="0"/>
          </a:p>
        </p:txBody>
      </p:sp>
      <p:sp>
        <p:nvSpPr>
          <p:cNvPr id="5" name="Delivery wave band"/>
          <p:cNvSpPr/>
          <p:nvPr/>
        </p:nvSpPr>
        <p:spPr>
          <a:xfrm>
            <a:off x="3091375" y="1783080"/>
            <a:ext cx="5711483" cy="3429000"/>
          </a:xfrm>
          <a:prstGeom prst="rect">
            <a:avLst/>
          </a:prstGeom>
          <a:solidFill>
            <a:srgbClr val="FBECEC"/>
          </a:solidFill>
          <a:ln w="12700">
            <a:solidFill>
              <a:srgbClr val="FBECEC"/>
            </a:solidFill>
            <a:prstDash val="solid"/>
          </a:ln>
        </p:spPr>
        <p:txBody>
          <a:bodyPr/>
          <a:lstStyle/>
          <a:p>
            <a:endParaRPr lang="zh-CN" altLang="en-US"/>
          </a:p>
        </p:txBody>
      </p:sp>
      <p:sp>
        <p:nvSpPr>
          <p:cNvPr id="6" name="Text 4"/>
          <p:cNvSpPr txBox="1"/>
          <p:nvPr/>
        </p:nvSpPr>
        <p:spPr>
          <a:xfrm>
            <a:off x="3182815" y="1828800"/>
            <a:ext cx="5528603" cy="274320"/>
          </a:xfrm>
          <a:prstGeom prst="rect">
            <a:avLst/>
          </a:prstGeom>
          <a:noFill/>
          <a:ln/>
        </p:spPr>
        <p:txBody>
          <a:bodyPr wrap="square" lIns="0" tIns="0" rIns="0" bIns="0" rtlCol="0" anchor="ctr"/>
          <a:lstStyle/>
          <a:p>
            <a:pPr marL="0" indent="0">
              <a:buNone/>
            </a:pPr>
            <a:r>
              <a:rPr lang="en-US" sz="1000" i="1" dirty="0">
                <a:solidFill>
                  <a:srgbClr val="C8102E"/>
                </a:solidFill>
                <a:latin typeface="Calibri" pitchFamily="34" charset="0"/>
                <a:ea typeface="Calibri" pitchFamily="34" charset="-122"/>
                <a:cs typeface="Calibri" pitchFamily="34" charset="-120"/>
              </a:rPr>
              <a:t>Delivery wave 2027 to 2028: Kamsarmax 171 ships in 2027, MR above 100 a year, LR2 62 and 71</a:t>
            </a:r>
            <a:endParaRPr lang="en-US" sz="1000" dirty="0"/>
          </a:p>
        </p:txBody>
      </p:sp>
      <p:sp>
        <p:nvSpPr>
          <p:cNvPr id="7" name="Tick"/>
          <p:cNvSpPr/>
          <p:nvPr/>
        </p:nvSpPr>
        <p:spPr>
          <a:xfrm>
            <a:off x="2377440" y="1737360"/>
            <a:ext cx="0" cy="3520440"/>
          </a:xfrm>
          <a:prstGeom prst="line">
            <a:avLst/>
          </a:prstGeom>
          <a:noFill/>
          <a:ln w="9525">
            <a:solidFill>
              <a:srgbClr val="D7DEE8"/>
            </a:solidFill>
            <a:prstDash val="dash"/>
          </a:ln>
        </p:spPr>
        <p:txBody>
          <a:bodyPr/>
          <a:lstStyle/>
          <a:p>
            <a:endParaRPr lang="zh-CN" altLang="en-US"/>
          </a:p>
        </p:txBody>
      </p:sp>
      <p:sp>
        <p:nvSpPr>
          <p:cNvPr id="8" name="Text 6"/>
          <p:cNvSpPr txBox="1"/>
          <p:nvPr/>
        </p:nvSpPr>
        <p:spPr>
          <a:xfrm>
            <a:off x="1920240" y="5285232"/>
            <a:ext cx="914400" cy="256032"/>
          </a:xfrm>
          <a:prstGeom prst="rect">
            <a:avLst/>
          </a:prstGeom>
          <a:noFill/>
          <a:ln/>
        </p:spPr>
        <p:txBody>
          <a:bodyPr wrap="square" lIns="0" tIns="0" rIns="0" bIns="0" rtlCol="0" anchor="ctr"/>
          <a:lstStyle/>
          <a:p>
            <a:pPr marL="0" indent="0" algn="ctr">
              <a:buNone/>
            </a:pPr>
            <a:r>
              <a:rPr lang="en-US" sz="950" dirty="0">
                <a:solidFill>
                  <a:srgbClr val="5A6472"/>
                </a:solidFill>
                <a:latin typeface="Calibri" pitchFamily="34" charset="0"/>
                <a:ea typeface="Calibri" pitchFamily="34" charset="-122"/>
                <a:cs typeface="Calibri" pitchFamily="34" charset="-120"/>
              </a:rPr>
              <a:t>Oct 2026</a:t>
            </a:r>
            <a:endParaRPr lang="en-US" sz="950" dirty="0"/>
          </a:p>
        </p:txBody>
      </p:sp>
      <p:sp>
        <p:nvSpPr>
          <p:cNvPr id="9" name="Tick"/>
          <p:cNvSpPr/>
          <p:nvPr/>
        </p:nvSpPr>
        <p:spPr>
          <a:xfrm>
            <a:off x="3091375" y="1737360"/>
            <a:ext cx="0" cy="3520440"/>
          </a:xfrm>
          <a:prstGeom prst="line">
            <a:avLst/>
          </a:prstGeom>
          <a:noFill/>
          <a:ln w="9525">
            <a:solidFill>
              <a:srgbClr val="D7DEE8"/>
            </a:solidFill>
            <a:prstDash val="dash"/>
          </a:ln>
        </p:spPr>
        <p:txBody>
          <a:bodyPr/>
          <a:lstStyle/>
          <a:p>
            <a:endParaRPr lang="zh-CN" altLang="en-US"/>
          </a:p>
        </p:txBody>
      </p:sp>
      <p:sp>
        <p:nvSpPr>
          <p:cNvPr id="10" name="Text 8"/>
          <p:cNvSpPr txBox="1"/>
          <p:nvPr/>
        </p:nvSpPr>
        <p:spPr>
          <a:xfrm>
            <a:off x="2634175" y="5285232"/>
            <a:ext cx="914400" cy="256032"/>
          </a:xfrm>
          <a:prstGeom prst="rect">
            <a:avLst/>
          </a:prstGeom>
          <a:noFill/>
          <a:ln/>
        </p:spPr>
        <p:txBody>
          <a:bodyPr wrap="square" lIns="0" tIns="0" rIns="0" bIns="0" rtlCol="0" anchor="ctr"/>
          <a:lstStyle/>
          <a:p>
            <a:pPr marL="0" indent="0" algn="ctr">
              <a:buNone/>
            </a:pPr>
            <a:r>
              <a:rPr lang="en-US" sz="950" dirty="0">
                <a:solidFill>
                  <a:srgbClr val="5A6472"/>
                </a:solidFill>
                <a:latin typeface="Calibri" pitchFamily="34" charset="0"/>
                <a:ea typeface="Calibri" pitchFamily="34" charset="-122"/>
                <a:cs typeface="Calibri" pitchFamily="34" charset="-120"/>
              </a:rPr>
              <a:t>Jan 2027</a:t>
            </a:r>
            <a:endParaRPr lang="en-US" sz="950" dirty="0"/>
          </a:p>
        </p:txBody>
      </p:sp>
      <p:sp>
        <p:nvSpPr>
          <p:cNvPr id="11" name="Tick"/>
          <p:cNvSpPr/>
          <p:nvPr/>
        </p:nvSpPr>
        <p:spPr>
          <a:xfrm>
            <a:off x="5947117" y="1737360"/>
            <a:ext cx="0" cy="3520440"/>
          </a:xfrm>
          <a:prstGeom prst="line">
            <a:avLst/>
          </a:prstGeom>
          <a:noFill/>
          <a:ln w="9525">
            <a:solidFill>
              <a:srgbClr val="D7DEE8"/>
            </a:solidFill>
            <a:prstDash val="dash"/>
          </a:ln>
        </p:spPr>
        <p:txBody>
          <a:bodyPr/>
          <a:lstStyle/>
          <a:p>
            <a:endParaRPr lang="zh-CN" altLang="en-US"/>
          </a:p>
        </p:txBody>
      </p:sp>
      <p:sp>
        <p:nvSpPr>
          <p:cNvPr id="12" name="Text 10"/>
          <p:cNvSpPr txBox="1"/>
          <p:nvPr/>
        </p:nvSpPr>
        <p:spPr>
          <a:xfrm>
            <a:off x="5489917" y="5285232"/>
            <a:ext cx="914400" cy="256032"/>
          </a:xfrm>
          <a:prstGeom prst="rect">
            <a:avLst/>
          </a:prstGeom>
          <a:noFill/>
          <a:ln/>
        </p:spPr>
        <p:txBody>
          <a:bodyPr wrap="square" lIns="0" tIns="0" rIns="0" bIns="0" rtlCol="0" anchor="ctr"/>
          <a:lstStyle/>
          <a:p>
            <a:pPr marL="0" indent="0" algn="ctr">
              <a:buNone/>
            </a:pPr>
            <a:r>
              <a:rPr lang="en-US" sz="950" dirty="0">
                <a:solidFill>
                  <a:srgbClr val="5A6472"/>
                </a:solidFill>
                <a:latin typeface="Calibri" pitchFamily="34" charset="0"/>
                <a:ea typeface="Calibri" pitchFamily="34" charset="-122"/>
                <a:cs typeface="Calibri" pitchFamily="34" charset="-120"/>
              </a:rPr>
              <a:t>Jan 2028</a:t>
            </a:r>
            <a:endParaRPr lang="en-US" sz="950" dirty="0"/>
          </a:p>
        </p:txBody>
      </p:sp>
      <p:sp>
        <p:nvSpPr>
          <p:cNvPr id="13" name="Tick"/>
          <p:cNvSpPr/>
          <p:nvPr/>
        </p:nvSpPr>
        <p:spPr>
          <a:xfrm>
            <a:off x="8802858" y="1737360"/>
            <a:ext cx="0" cy="3520440"/>
          </a:xfrm>
          <a:prstGeom prst="line">
            <a:avLst/>
          </a:prstGeom>
          <a:noFill/>
          <a:ln w="9525">
            <a:solidFill>
              <a:srgbClr val="D7DEE8"/>
            </a:solidFill>
            <a:prstDash val="dash"/>
          </a:ln>
        </p:spPr>
        <p:txBody>
          <a:bodyPr/>
          <a:lstStyle/>
          <a:p>
            <a:endParaRPr lang="zh-CN" altLang="en-US"/>
          </a:p>
        </p:txBody>
      </p:sp>
      <p:sp>
        <p:nvSpPr>
          <p:cNvPr id="14" name="Text 12"/>
          <p:cNvSpPr txBox="1"/>
          <p:nvPr/>
        </p:nvSpPr>
        <p:spPr>
          <a:xfrm>
            <a:off x="8345658" y="5285232"/>
            <a:ext cx="914400" cy="256032"/>
          </a:xfrm>
          <a:prstGeom prst="rect">
            <a:avLst/>
          </a:prstGeom>
          <a:noFill/>
          <a:ln/>
        </p:spPr>
        <p:txBody>
          <a:bodyPr wrap="square" lIns="0" tIns="0" rIns="0" bIns="0" rtlCol="0" anchor="ctr"/>
          <a:lstStyle/>
          <a:p>
            <a:pPr marL="0" indent="0" algn="ctr">
              <a:buNone/>
            </a:pPr>
            <a:r>
              <a:rPr lang="en-US" sz="950" dirty="0">
                <a:solidFill>
                  <a:srgbClr val="5A6472"/>
                </a:solidFill>
                <a:latin typeface="Calibri" pitchFamily="34" charset="0"/>
                <a:ea typeface="Calibri" pitchFamily="34" charset="-122"/>
                <a:cs typeface="Calibri" pitchFamily="34" charset="-120"/>
              </a:rPr>
              <a:t>Jan 2029</a:t>
            </a:r>
            <a:endParaRPr lang="en-US" sz="950" dirty="0"/>
          </a:p>
        </p:txBody>
      </p:sp>
      <p:sp>
        <p:nvSpPr>
          <p:cNvPr id="15" name="Tick"/>
          <p:cNvSpPr/>
          <p:nvPr/>
        </p:nvSpPr>
        <p:spPr>
          <a:xfrm>
            <a:off x="11420622" y="1737360"/>
            <a:ext cx="0" cy="3520440"/>
          </a:xfrm>
          <a:prstGeom prst="line">
            <a:avLst/>
          </a:prstGeom>
          <a:noFill/>
          <a:ln w="9525">
            <a:solidFill>
              <a:srgbClr val="D7DEE8"/>
            </a:solidFill>
            <a:prstDash val="dash"/>
          </a:ln>
        </p:spPr>
        <p:txBody>
          <a:bodyPr/>
          <a:lstStyle/>
          <a:p>
            <a:endParaRPr lang="zh-CN" altLang="en-US"/>
          </a:p>
        </p:txBody>
      </p:sp>
      <p:sp>
        <p:nvSpPr>
          <p:cNvPr id="16" name="Text 14"/>
          <p:cNvSpPr txBox="1"/>
          <p:nvPr/>
        </p:nvSpPr>
        <p:spPr>
          <a:xfrm>
            <a:off x="10963422" y="5285232"/>
            <a:ext cx="914400" cy="256032"/>
          </a:xfrm>
          <a:prstGeom prst="rect">
            <a:avLst/>
          </a:prstGeom>
          <a:noFill/>
          <a:ln/>
        </p:spPr>
        <p:txBody>
          <a:bodyPr wrap="square" lIns="0" tIns="0" rIns="0" bIns="0" rtlCol="0" anchor="ctr"/>
          <a:lstStyle/>
          <a:p>
            <a:pPr marL="0" indent="0" algn="ctr">
              <a:buNone/>
            </a:pPr>
            <a:r>
              <a:rPr lang="en-US" sz="950" dirty="0">
                <a:solidFill>
                  <a:srgbClr val="5A6472"/>
                </a:solidFill>
                <a:latin typeface="Calibri" pitchFamily="34" charset="0"/>
                <a:ea typeface="Calibri" pitchFamily="34" charset="-122"/>
                <a:cs typeface="Calibri" pitchFamily="34" charset="-120"/>
              </a:rPr>
              <a:t>Dec 2029</a:t>
            </a:r>
            <a:endParaRPr lang="en-US" sz="950" dirty="0"/>
          </a:p>
        </p:txBody>
      </p:sp>
      <p:sp>
        <p:nvSpPr>
          <p:cNvPr id="17" name="Text 15"/>
          <p:cNvSpPr txBox="1"/>
          <p:nvPr/>
        </p:nvSpPr>
        <p:spPr>
          <a:xfrm>
            <a:off x="502920" y="2221992"/>
            <a:ext cx="1828800" cy="274320"/>
          </a:xfrm>
          <a:prstGeom prst="rect">
            <a:avLst/>
          </a:prstGeom>
          <a:noFill/>
          <a:ln/>
        </p:spPr>
        <p:txBody>
          <a:bodyPr wrap="square" lIns="0" tIns="0" rIns="0" bIns="0" rtlCol="0" anchor="ctr"/>
          <a:lstStyle/>
          <a:p>
            <a:pPr marL="0" indent="0">
              <a:buNone/>
            </a:pPr>
            <a:r>
              <a:rPr lang="en-US" sz="1150" b="1" dirty="0">
                <a:solidFill>
                  <a:srgbClr val="142B4F"/>
                </a:solidFill>
                <a:latin typeface="Calibri" pitchFamily="34" charset="0"/>
                <a:ea typeface="Calibri" pitchFamily="34" charset="-122"/>
                <a:cs typeface="Calibri" pitchFamily="34" charset="-120"/>
              </a:rPr>
              <a:t>MR #1</a:t>
            </a:r>
            <a:endParaRPr lang="en-US" sz="1150" dirty="0"/>
          </a:p>
        </p:txBody>
      </p:sp>
      <p:sp>
        <p:nvSpPr>
          <p:cNvPr id="18" name="Charter bar"/>
          <p:cNvSpPr/>
          <p:nvPr/>
        </p:nvSpPr>
        <p:spPr>
          <a:xfrm>
            <a:off x="2377440" y="2240280"/>
            <a:ext cx="2855742" cy="274320"/>
          </a:xfrm>
          <a:prstGeom prst="roundRect">
            <a:avLst>
              <a:gd name="adj" fmla="val 16667"/>
            </a:avLst>
          </a:prstGeom>
          <a:solidFill>
            <a:srgbClr val="142B4F"/>
          </a:solidFill>
          <a:ln w="12700">
            <a:solidFill>
              <a:srgbClr val="142B4F"/>
            </a:solidFill>
            <a:prstDash val="solid"/>
          </a:ln>
        </p:spPr>
        <p:txBody>
          <a:bodyPr/>
          <a:lstStyle/>
          <a:p>
            <a:endParaRPr lang="zh-CN" altLang="en-US"/>
          </a:p>
        </p:txBody>
      </p:sp>
      <p:sp>
        <p:nvSpPr>
          <p:cNvPr id="19" name="Text 17"/>
          <p:cNvSpPr txBox="1"/>
          <p:nvPr/>
        </p:nvSpPr>
        <p:spPr>
          <a:xfrm>
            <a:off x="2487168" y="2240280"/>
            <a:ext cx="2672862" cy="27432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1-year TC, SUNCOR $30,000</a:t>
            </a:r>
            <a:endParaRPr lang="en-US" sz="950" dirty="0"/>
          </a:p>
        </p:txBody>
      </p:sp>
      <p:sp>
        <p:nvSpPr>
          <p:cNvPr id="20" name="Text 18"/>
          <p:cNvSpPr txBox="1"/>
          <p:nvPr/>
        </p:nvSpPr>
        <p:spPr>
          <a:xfrm>
            <a:off x="502920" y="2807208"/>
            <a:ext cx="1828800" cy="274320"/>
          </a:xfrm>
          <a:prstGeom prst="rect">
            <a:avLst/>
          </a:prstGeom>
          <a:noFill/>
          <a:ln/>
        </p:spPr>
        <p:txBody>
          <a:bodyPr wrap="square" lIns="0" tIns="0" rIns="0" bIns="0" rtlCol="0" anchor="ctr"/>
          <a:lstStyle/>
          <a:p>
            <a:pPr marL="0" indent="0">
              <a:buNone/>
            </a:pPr>
            <a:r>
              <a:rPr lang="en-US" sz="1150" b="1" dirty="0">
                <a:solidFill>
                  <a:srgbClr val="142B4F"/>
                </a:solidFill>
                <a:latin typeface="Calibri" pitchFamily="34" charset="0"/>
                <a:ea typeface="Calibri" pitchFamily="34" charset="-122"/>
                <a:cs typeface="Calibri" pitchFamily="34" charset="-120"/>
              </a:rPr>
              <a:t>Kamsarmax #1</a:t>
            </a:r>
            <a:endParaRPr lang="en-US" sz="1150" dirty="0"/>
          </a:p>
        </p:txBody>
      </p:sp>
      <p:sp>
        <p:nvSpPr>
          <p:cNvPr id="21" name="Charter bar"/>
          <p:cNvSpPr/>
          <p:nvPr/>
        </p:nvSpPr>
        <p:spPr>
          <a:xfrm>
            <a:off x="2377440" y="2825496"/>
            <a:ext cx="2855742" cy="274320"/>
          </a:xfrm>
          <a:prstGeom prst="roundRect">
            <a:avLst>
              <a:gd name="adj" fmla="val 16667"/>
            </a:avLst>
          </a:prstGeom>
          <a:solidFill>
            <a:srgbClr val="142B4F"/>
          </a:solidFill>
          <a:ln w="12700">
            <a:solidFill>
              <a:srgbClr val="142B4F"/>
            </a:solidFill>
            <a:prstDash val="solid"/>
          </a:ln>
        </p:spPr>
        <p:txBody>
          <a:bodyPr/>
          <a:lstStyle/>
          <a:p>
            <a:endParaRPr lang="zh-CN" altLang="en-US"/>
          </a:p>
        </p:txBody>
      </p:sp>
      <p:sp>
        <p:nvSpPr>
          <p:cNvPr id="22" name="Text 20"/>
          <p:cNvSpPr txBox="1"/>
          <p:nvPr/>
        </p:nvSpPr>
        <p:spPr>
          <a:xfrm>
            <a:off x="2487168" y="2825496"/>
            <a:ext cx="2672862" cy="27432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12-month TC, CNR $22,000</a:t>
            </a:r>
            <a:endParaRPr lang="en-US" sz="950" dirty="0"/>
          </a:p>
        </p:txBody>
      </p:sp>
      <p:sp>
        <p:nvSpPr>
          <p:cNvPr id="23" name="Text 21"/>
          <p:cNvSpPr txBox="1"/>
          <p:nvPr/>
        </p:nvSpPr>
        <p:spPr>
          <a:xfrm>
            <a:off x="502920" y="3392424"/>
            <a:ext cx="1828800" cy="274320"/>
          </a:xfrm>
          <a:prstGeom prst="rect">
            <a:avLst/>
          </a:prstGeom>
          <a:noFill/>
          <a:ln/>
        </p:spPr>
        <p:txBody>
          <a:bodyPr wrap="square" lIns="0" tIns="0" rIns="0" bIns="0" rtlCol="0" anchor="ctr"/>
          <a:lstStyle/>
          <a:p>
            <a:pPr marL="0" indent="0">
              <a:buNone/>
            </a:pPr>
            <a:r>
              <a:rPr lang="en-US" sz="1150" b="1" dirty="0">
                <a:solidFill>
                  <a:srgbClr val="142B4F"/>
                </a:solidFill>
                <a:latin typeface="Calibri" pitchFamily="34" charset="0"/>
                <a:ea typeface="Calibri" pitchFamily="34" charset="-122"/>
                <a:cs typeface="Calibri" pitchFamily="34" charset="-120"/>
              </a:rPr>
              <a:t>Aframax</a:t>
            </a:r>
            <a:endParaRPr lang="en-US" sz="1150" dirty="0"/>
          </a:p>
        </p:txBody>
      </p:sp>
      <p:sp>
        <p:nvSpPr>
          <p:cNvPr id="24" name="Charter bar"/>
          <p:cNvSpPr/>
          <p:nvPr/>
        </p:nvSpPr>
        <p:spPr>
          <a:xfrm>
            <a:off x="2377440" y="3410712"/>
            <a:ext cx="8567225" cy="274320"/>
          </a:xfrm>
          <a:prstGeom prst="roundRect">
            <a:avLst>
              <a:gd name="adj" fmla="val 16667"/>
            </a:avLst>
          </a:prstGeom>
          <a:solidFill>
            <a:srgbClr val="142B4F"/>
          </a:solidFill>
          <a:ln w="12700">
            <a:solidFill>
              <a:srgbClr val="142B4F"/>
            </a:solidFill>
            <a:prstDash val="solid"/>
          </a:ln>
        </p:spPr>
        <p:txBody>
          <a:bodyPr/>
          <a:lstStyle/>
          <a:p>
            <a:endParaRPr lang="zh-CN" altLang="en-US"/>
          </a:p>
        </p:txBody>
      </p:sp>
      <p:sp>
        <p:nvSpPr>
          <p:cNvPr id="25" name="Text 23"/>
          <p:cNvSpPr txBox="1"/>
          <p:nvPr/>
        </p:nvSpPr>
        <p:spPr>
          <a:xfrm>
            <a:off x="2487168" y="3410712"/>
            <a:ext cx="8384345" cy="274320"/>
          </a:xfrm>
          <a:prstGeom prst="rect">
            <a:avLst/>
          </a:prstGeom>
          <a:noFill/>
          <a:ln/>
        </p:spPr>
        <p:txBody>
          <a:bodyPr wrap="square" lIns="0" tIns="0" rIns="0" bIns="0" rtlCol="0" anchor="ctr"/>
          <a:lstStyle/>
          <a:p>
            <a:pPr marL="0" indent="0">
              <a:buNone/>
            </a:pPr>
            <a:r>
              <a:rPr lang="en-US" sz="950" dirty="0">
                <a:solidFill>
                  <a:srgbClr val="FFFFFF"/>
                </a:solidFill>
                <a:latin typeface="Calibri" pitchFamily="34" charset="0"/>
                <a:ea typeface="Calibri" pitchFamily="34" charset="-122"/>
                <a:cs typeface="Calibri" pitchFamily="34" charset="-120"/>
              </a:rPr>
              <a:t>3-year TC, AET benchmark $40,000</a:t>
            </a:r>
            <a:endParaRPr lang="en-US" sz="950" dirty="0"/>
          </a:p>
        </p:txBody>
      </p:sp>
      <p:sp>
        <p:nvSpPr>
          <p:cNvPr id="26" name="Text 24"/>
          <p:cNvSpPr txBox="1"/>
          <p:nvPr/>
        </p:nvSpPr>
        <p:spPr>
          <a:xfrm>
            <a:off x="502920" y="3977640"/>
            <a:ext cx="1828800" cy="274320"/>
          </a:xfrm>
          <a:prstGeom prst="rect">
            <a:avLst/>
          </a:prstGeom>
          <a:noFill/>
          <a:ln/>
        </p:spPr>
        <p:txBody>
          <a:bodyPr wrap="square" lIns="0" tIns="0" rIns="0" bIns="0" rtlCol="0" anchor="ctr"/>
          <a:lstStyle/>
          <a:p>
            <a:pPr marL="0" indent="0">
              <a:buNone/>
            </a:pPr>
            <a:r>
              <a:rPr lang="en-US" sz="1150" b="1" dirty="0">
                <a:solidFill>
                  <a:srgbClr val="142B4F"/>
                </a:solidFill>
                <a:latin typeface="Calibri" pitchFamily="34" charset="0"/>
                <a:ea typeface="Calibri" pitchFamily="34" charset="-122"/>
                <a:cs typeface="Calibri" pitchFamily="34" charset="-120"/>
              </a:rPr>
              <a:t>MR #2</a:t>
            </a:r>
            <a:endParaRPr lang="en-US" sz="1150" dirty="0"/>
          </a:p>
        </p:txBody>
      </p:sp>
      <p:sp>
        <p:nvSpPr>
          <p:cNvPr id="27" name="Charter bar"/>
          <p:cNvSpPr/>
          <p:nvPr/>
        </p:nvSpPr>
        <p:spPr>
          <a:xfrm>
            <a:off x="2377440" y="3995928"/>
            <a:ext cx="9043182" cy="274320"/>
          </a:xfrm>
          <a:prstGeom prst="roundRect">
            <a:avLst>
              <a:gd name="adj" fmla="val 16667"/>
            </a:avLst>
          </a:prstGeom>
          <a:solidFill>
            <a:srgbClr val="9FB6D9"/>
          </a:solidFill>
          <a:ln w="12700">
            <a:solidFill>
              <a:srgbClr val="9FB6D9"/>
            </a:solidFill>
            <a:prstDash val="solid"/>
          </a:ln>
        </p:spPr>
        <p:txBody>
          <a:bodyPr/>
          <a:lstStyle/>
          <a:p>
            <a:endParaRPr lang="zh-CN" altLang="en-US"/>
          </a:p>
        </p:txBody>
      </p:sp>
      <p:sp>
        <p:nvSpPr>
          <p:cNvPr id="28" name="Text 26"/>
          <p:cNvSpPr txBox="1"/>
          <p:nvPr/>
        </p:nvSpPr>
        <p:spPr>
          <a:xfrm>
            <a:off x="2487168" y="3995928"/>
            <a:ext cx="8860302" cy="274320"/>
          </a:xfrm>
          <a:prstGeom prst="rect">
            <a:avLst/>
          </a:prstGeom>
          <a:noFill/>
          <a:ln/>
        </p:spPr>
        <p:txBody>
          <a:bodyPr wrap="square" lIns="0" tIns="0" rIns="0" bIns="0" rtlCol="0" anchor="ctr"/>
          <a:lstStyle/>
          <a:p>
            <a:pPr marL="0" indent="0">
              <a:buNone/>
            </a:pPr>
            <a:r>
              <a:rPr lang="en-US" sz="950" dirty="0">
                <a:solidFill>
                  <a:srgbClr val="1A2433"/>
                </a:solidFill>
                <a:latin typeface="Calibri" pitchFamily="34" charset="0"/>
                <a:ea typeface="Calibri" pitchFamily="34" charset="-122"/>
                <a:cs typeface="Calibri" pitchFamily="34" charset="-120"/>
              </a:rPr>
              <a:t>Spot; fixed for a year if MR spot stays below $20,000 for 8 weeks</a:t>
            </a:r>
            <a:endParaRPr lang="en-US" sz="950" dirty="0"/>
          </a:p>
        </p:txBody>
      </p:sp>
      <p:sp>
        <p:nvSpPr>
          <p:cNvPr id="29" name="Text 27"/>
          <p:cNvSpPr txBox="1"/>
          <p:nvPr/>
        </p:nvSpPr>
        <p:spPr>
          <a:xfrm>
            <a:off x="502920" y="4562856"/>
            <a:ext cx="1828800" cy="274320"/>
          </a:xfrm>
          <a:prstGeom prst="rect">
            <a:avLst/>
          </a:prstGeom>
          <a:noFill/>
          <a:ln/>
        </p:spPr>
        <p:txBody>
          <a:bodyPr wrap="square" lIns="0" tIns="0" rIns="0" bIns="0" rtlCol="0" anchor="ctr"/>
          <a:lstStyle/>
          <a:p>
            <a:pPr marL="0" indent="0">
              <a:buNone/>
            </a:pPr>
            <a:r>
              <a:rPr lang="en-US" sz="1150" b="1" dirty="0">
                <a:solidFill>
                  <a:srgbClr val="142B4F"/>
                </a:solidFill>
                <a:latin typeface="Calibri" pitchFamily="34" charset="0"/>
                <a:ea typeface="Calibri" pitchFamily="34" charset="-122"/>
                <a:cs typeface="Calibri" pitchFamily="34" charset="-120"/>
              </a:rPr>
              <a:t>Kamsarmax #2</a:t>
            </a:r>
            <a:endParaRPr lang="en-US" sz="1150" dirty="0"/>
          </a:p>
        </p:txBody>
      </p:sp>
      <p:sp>
        <p:nvSpPr>
          <p:cNvPr id="30" name="Charter bar"/>
          <p:cNvSpPr/>
          <p:nvPr/>
        </p:nvSpPr>
        <p:spPr>
          <a:xfrm>
            <a:off x="2377440" y="4581144"/>
            <a:ext cx="9043182" cy="274320"/>
          </a:xfrm>
          <a:prstGeom prst="roundRect">
            <a:avLst>
              <a:gd name="adj" fmla="val 16667"/>
            </a:avLst>
          </a:prstGeom>
          <a:solidFill>
            <a:srgbClr val="9FB6D9"/>
          </a:solidFill>
          <a:ln w="12700">
            <a:solidFill>
              <a:srgbClr val="9FB6D9"/>
            </a:solidFill>
            <a:prstDash val="solid"/>
          </a:ln>
        </p:spPr>
        <p:txBody>
          <a:bodyPr/>
          <a:lstStyle/>
          <a:p>
            <a:endParaRPr lang="zh-CN" altLang="en-US"/>
          </a:p>
        </p:txBody>
      </p:sp>
      <p:sp>
        <p:nvSpPr>
          <p:cNvPr id="31" name="Text 29"/>
          <p:cNvSpPr txBox="1"/>
          <p:nvPr/>
        </p:nvSpPr>
        <p:spPr>
          <a:xfrm>
            <a:off x="2487168" y="4581144"/>
            <a:ext cx="8860302" cy="274320"/>
          </a:xfrm>
          <a:prstGeom prst="rect">
            <a:avLst/>
          </a:prstGeom>
          <a:noFill/>
          <a:ln/>
        </p:spPr>
        <p:txBody>
          <a:bodyPr wrap="square" lIns="0" tIns="0" rIns="0" bIns="0" rtlCol="0" anchor="ctr"/>
          <a:lstStyle/>
          <a:p>
            <a:pPr marL="0" indent="0">
              <a:buNone/>
            </a:pPr>
            <a:r>
              <a:rPr lang="en-US" sz="950" dirty="0">
                <a:solidFill>
                  <a:srgbClr val="1A2433"/>
                </a:solidFill>
                <a:latin typeface="Calibri" pitchFamily="34" charset="0"/>
                <a:ea typeface="Calibri" pitchFamily="34" charset="-122"/>
                <a:cs typeface="Calibri" pitchFamily="34" charset="-120"/>
              </a:rPr>
              <a:t>Spot; fixed for 12 months if BDI stays below 2,000 for 8 weeks</a:t>
            </a:r>
            <a:endParaRPr lang="en-US" sz="950" dirty="0"/>
          </a:p>
        </p:txBody>
      </p:sp>
      <p:sp>
        <p:nvSpPr>
          <p:cNvPr id="32" name="Panel"/>
          <p:cNvSpPr/>
          <p:nvPr/>
        </p:nvSpPr>
        <p:spPr>
          <a:xfrm>
            <a:off x="502920" y="5486400"/>
            <a:ext cx="11155680" cy="566928"/>
          </a:xfrm>
          <a:prstGeom prst="roundRect">
            <a:avLst>
              <a:gd name="adj" fmla="val 9677"/>
            </a:avLst>
          </a:prstGeom>
          <a:solidFill>
            <a:srgbClr val="EEF3FA"/>
          </a:solidFill>
          <a:ln w="9525">
            <a:solidFill>
              <a:srgbClr val="D7DEE8"/>
            </a:solidFill>
            <a:prstDash val="solid"/>
          </a:ln>
        </p:spPr>
        <p:txBody>
          <a:bodyPr/>
          <a:lstStyle/>
          <a:p>
            <a:endParaRPr lang="zh-CN" altLang="en-US"/>
          </a:p>
        </p:txBody>
      </p:sp>
      <p:sp>
        <p:nvSpPr>
          <p:cNvPr id="33" name="Panel body"/>
          <p:cNvSpPr txBox="1"/>
          <p:nvPr/>
        </p:nvSpPr>
        <p:spPr>
          <a:xfrm>
            <a:off x="685800" y="5614416"/>
            <a:ext cx="10789920" cy="32918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MR #1 and Kamsarmax #1 expire around September 2027, before the wave peaks: renew or go spot one quarter ahead. The Aframax charter runs to 2029, across the whole wave; LR2 orders at 3.37 times the old LR2 fleet are the hidden competitor it hedges.</a:t>
            </a:r>
            <a:endParaRPr lang="en-US" sz="1050" dirty="0"/>
          </a:p>
        </p:txBody>
      </p:sp>
      <p:sp>
        <p:nvSpPr>
          <p:cNvPr id="34"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PART 6 · SHOCKS AND MITIGATION</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What we watch, when we act, and two weaknesses we state ourselves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dataset L6 (Hormuz transits), series 17259 (BDI), 543759 (MR Eco earnings), 534440 (product tanker orderbook); OPEX series 540687 / 540689 / 540683.</a:t>
            </a:r>
            <a:endParaRPr lang="en-US" sz="85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6949440" cy="914400"/>
        </p:xfrm>
        <a:graphic>
          <a:graphicData uri="http://schemas.openxmlformats.org/drawingml/2006/table">
            <a:tbl>
              <a:tblPr/>
              <a:tblGrid>
                <a:gridCol w="320040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60350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Trigger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Action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603504">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Hormuz crude tanker transits above 50 a week for four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Normalisation signal. Our income is unchanged; start screening secondhand Suezmaxes with a target price below newbuild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BDI below 2,000 for eight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Fix Kamsarmax #2 on a 12-month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603504">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MR spot earnings below $20,000/day for eight consecutive weeks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Fix MR #2 on a 1-year charter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Port-fee suspension not renewed in November</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No action needed (Japan and Korea built); re-check charterers' US calling plans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603504">
                <a:tc>
                  <a:txBody>
                    <a:bodyPr/>
                    <a:lstStyle/>
                    <a:p>
                      <a:pPr marL="0" indent="0">
                        <a:buNone/>
                      </a:pPr>
                      <a:r>
                        <a:rPr lang="en-US" sz="1050" b="1" dirty="0">
                          <a:solidFill>
                            <a:srgbClr val="142B4F"/>
                          </a:solidFill>
                          <a:latin typeface="Calibri" pitchFamily="34" charset="0"/>
                          <a:ea typeface="Calibri" pitchFamily="34" charset="-122"/>
                          <a:cs typeface="Calibri" pitchFamily="34" charset="-120"/>
                        </a:rPr>
                        <a:t>Every Friday</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50" dirty="0">
                          <a:solidFill>
                            <a:srgbClr val="1A2433"/>
                          </a:solidFill>
                          <a:latin typeface="Calibri" pitchFamily="34" charset="0"/>
                          <a:ea typeface="Calibri" pitchFamily="34" charset="-122"/>
                          <a:cs typeface="Calibri" pitchFamily="34" charset="-120"/>
                        </a:rPr>
                        <a:t>One member scans the SIN weekly: fixtures, sanctions lists, ceasefire and tariff news</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nel"/>
          <p:cNvSpPr/>
          <p:nvPr/>
        </p:nvSpPr>
        <p:spPr>
          <a:xfrm>
            <a:off x="7680960" y="1463040"/>
            <a:ext cx="3977640" cy="1828800"/>
          </a:xfrm>
          <a:prstGeom prst="roundRect">
            <a:avLst>
              <a:gd name="adj" fmla="val 3000"/>
            </a:avLst>
          </a:prstGeom>
          <a:solidFill>
            <a:srgbClr val="FBECEC"/>
          </a:solidFill>
          <a:ln w="9525">
            <a:solidFill>
              <a:srgbClr val="F2C9C9"/>
            </a:solidFill>
            <a:prstDash val="solid"/>
          </a:ln>
        </p:spPr>
        <p:txBody>
          <a:bodyPr/>
          <a:lstStyle/>
          <a:p>
            <a:endParaRPr lang="zh-CN" altLang="en-US"/>
          </a:p>
        </p:txBody>
      </p:sp>
      <p:sp>
        <p:nvSpPr>
          <p:cNvPr id="7" name="Panel title"/>
          <p:cNvSpPr txBox="1"/>
          <p:nvPr/>
        </p:nvSpPr>
        <p:spPr>
          <a:xfrm>
            <a:off x="7863840" y="1591056"/>
            <a:ext cx="361188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Weakness 1: MR orderbook</a:t>
            </a:r>
            <a:endParaRPr lang="en-US" sz="1350" dirty="0"/>
          </a:p>
        </p:txBody>
      </p:sp>
      <p:sp>
        <p:nvSpPr>
          <p:cNvPr id="8" name="Panel body"/>
          <p:cNvSpPr txBox="1"/>
          <p:nvPr/>
        </p:nvSpPr>
        <p:spPr>
          <a:xfrm>
            <a:off x="7863840" y="1938528"/>
            <a:ext cx="3611880" cy="124358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18% of dwt is high. We offset it with the purchase price (at replacement cost), with 2027 products demand (+6.3%) and with one MR fixed for a year.</a:t>
            </a:r>
            <a:endParaRPr lang="en-US" sz="1200" dirty="0"/>
          </a:p>
        </p:txBody>
      </p:sp>
      <p:sp>
        <p:nvSpPr>
          <p:cNvPr id="9" name="Panel"/>
          <p:cNvSpPr/>
          <p:nvPr/>
        </p:nvSpPr>
        <p:spPr>
          <a:xfrm>
            <a:off x="7680960" y="3474720"/>
            <a:ext cx="3977640" cy="2103120"/>
          </a:xfrm>
          <a:prstGeom prst="roundRect">
            <a:avLst>
              <a:gd name="adj" fmla="val 2609"/>
            </a:avLst>
          </a:prstGeom>
          <a:solidFill>
            <a:srgbClr val="FBECEC"/>
          </a:solidFill>
          <a:ln w="9525">
            <a:solidFill>
              <a:srgbClr val="F2C9C9"/>
            </a:solidFill>
            <a:prstDash val="solid"/>
          </a:ln>
        </p:spPr>
        <p:txBody>
          <a:bodyPr/>
          <a:lstStyle/>
          <a:p>
            <a:endParaRPr lang="zh-CN" altLang="en-US"/>
          </a:p>
        </p:txBody>
      </p:sp>
      <p:sp>
        <p:nvSpPr>
          <p:cNvPr id="10" name="Panel title"/>
          <p:cNvSpPr txBox="1"/>
          <p:nvPr/>
        </p:nvSpPr>
        <p:spPr>
          <a:xfrm>
            <a:off x="7863840" y="3602736"/>
            <a:ext cx="361188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Weakness 2: a thin cash line</a:t>
            </a:r>
            <a:endParaRPr lang="en-US" sz="1350" dirty="0"/>
          </a:p>
        </p:txBody>
      </p:sp>
      <p:sp>
        <p:nvSpPr>
          <p:cNvPr id="11" name="Panel body"/>
          <p:cNvSpPr txBox="1"/>
          <p:nvPr/>
        </p:nvSpPr>
        <p:spPr>
          <a:xfrm>
            <a:off x="7863840" y="3950208"/>
            <a:ext cx="3611880" cy="1517904"/>
          </a:xfrm>
          <a:prstGeom prst="rect">
            <a:avLst/>
          </a:prstGeom>
          <a:noFill/>
          <a:ln/>
        </p:spPr>
        <p:txBody>
          <a:bodyPr wrap="square" lIns="0" tIns="0" rIns="0" bIns="0" rtlCol="0" anchor="t"/>
          <a:lstStyle/>
          <a:p>
            <a:pPr marL="0" indent="0">
              <a:spcAft>
                <a:spcPts val="400"/>
              </a:spcAft>
              <a:buNone/>
            </a:pPr>
            <a:r>
              <a:rPr lang="en-US" sz="1200" dirty="0">
                <a:solidFill>
                  <a:srgbClr val="1A2433"/>
                </a:solidFill>
                <a:latin typeface="Calibri" pitchFamily="34" charset="0"/>
                <a:ea typeface="Calibri" pitchFamily="34" charset="-122"/>
                <a:cs typeface="Calibri" pitchFamily="34" charset="-120"/>
              </a:rPr>
              <a:t>2% of capital is deliberate, because idle cash earns nothing in a strong market. It covers five months of OPEX, and fixed hire adds about $2.7m a month. A variant with one ship fewer and more cash is kept in reserve.</a:t>
            </a:r>
            <a:endParaRPr lang="en-US" sz="12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822960" y="822960"/>
            <a:ext cx="10515600" cy="274320"/>
          </a:xfrm>
          <a:prstGeom prst="rect">
            <a:avLst/>
          </a:prstGeom>
          <a:noFill/>
          <a:ln/>
        </p:spPr>
        <p:txBody>
          <a:bodyPr wrap="square" lIns="0" tIns="0" rIns="0" bIns="0" rtlCol="0" anchor="ctr"/>
          <a:lstStyle/>
          <a:p>
            <a:pPr marL="0" indent="0">
              <a:buNone/>
            </a:pPr>
            <a:r>
              <a:rPr lang="en-US" sz="1200" b="1" kern="0" spc="300" dirty="0">
                <a:solidFill>
                  <a:srgbClr val="9FB6D9"/>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822960" y="1188720"/>
            <a:ext cx="10515600" cy="82296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Skip the peak. Buy value. Lock income.</a:t>
            </a:r>
            <a:endParaRPr lang="en-US" sz="3600" dirty="0"/>
          </a:p>
        </p:txBody>
      </p:sp>
      <p:sp>
        <p:nvSpPr>
          <p:cNvPr id="4" name="Number"/>
          <p:cNvSpPr/>
          <p:nvPr/>
        </p:nvSpPr>
        <p:spPr>
          <a:xfrm>
            <a:off x="868680" y="2377440"/>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5" name="Number text"/>
          <p:cNvSpPr txBox="1"/>
          <p:nvPr/>
        </p:nvSpPr>
        <p:spPr>
          <a:xfrm>
            <a:off x="868680" y="237744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371600" y="2331720"/>
            <a:ext cx="9875520" cy="310896"/>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How we allocate</a:t>
            </a:r>
            <a:endParaRPr lang="en-US" sz="1500" dirty="0"/>
          </a:p>
        </p:txBody>
      </p:sp>
      <p:sp>
        <p:nvSpPr>
          <p:cNvPr id="7" name="Text 5"/>
          <p:cNvSpPr txBox="1"/>
          <p:nvPr/>
        </p:nvSpPr>
        <p:spPr>
          <a:xfrm>
            <a:off x="1371600" y="2660904"/>
            <a:ext cx="9875520" cy="566928"/>
          </a:xfrm>
          <a:prstGeom prst="rect">
            <a:avLst/>
          </a:prstGeom>
          <a:noFill/>
          <a:ln/>
        </p:spPr>
        <p:txBody>
          <a:bodyPr wrap="square" lIns="0" tIns="0" rIns="0" bIns="0" rtlCol="0" anchor="t"/>
          <a:lstStyle/>
          <a:p>
            <a:pPr marL="0" indent="0">
              <a:buNone/>
            </a:pPr>
            <a:r>
              <a:rPr lang="en-US" sz="1200" dirty="0">
                <a:solidFill>
                  <a:srgbClr val="C9D6EA"/>
                </a:solidFill>
                <a:latin typeface="Calibri" pitchFamily="34" charset="0"/>
                <a:ea typeface="Calibri" pitchFamily="34" charset="-122"/>
                <a:cs typeface="Calibri" pitchFamily="34" charset="-120"/>
              </a:rPr>
              <a:t>Tankers 70%, dry bulk 28%, cash 2%: two MRs, one Aframax, two Kamsarmaxes, five ships at or near replacement cost.</a:t>
            </a:r>
            <a:endParaRPr lang="en-US" sz="1200" dirty="0"/>
          </a:p>
        </p:txBody>
      </p:sp>
      <p:sp>
        <p:nvSpPr>
          <p:cNvPr id="8" name="Number"/>
          <p:cNvSpPr/>
          <p:nvPr/>
        </p:nvSpPr>
        <p:spPr>
          <a:xfrm>
            <a:off x="868680" y="3337560"/>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9" name="Number text"/>
          <p:cNvSpPr txBox="1"/>
          <p:nvPr/>
        </p:nvSpPr>
        <p:spPr>
          <a:xfrm>
            <a:off x="868680" y="33375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371600" y="3291840"/>
            <a:ext cx="9875520" cy="310896"/>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Why</a:t>
            </a:r>
            <a:endParaRPr lang="en-US" sz="1500" dirty="0"/>
          </a:p>
        </p:txBody>
      </p:sp>
      <p:sp>
        <p:nvSpPr>
          <p:cNvPr id="11" name="Text 9"/>
          <p:cNvSpPr txBox="1"/>
          <p:nvPr/>
        </p:nvSpPr>
        <p:spPr>
          <a:xfrm>
            <a:off x="1371600" y="3621024"/>
            <a:ext cx="9875520" cy="566928"/>
          </a:xfrm>
          <a:prstGeom prst="rect">
            <a:avLst/>
          </a:prstGeom>
          <a:noFill/>
          <a:ln/>
        </p:spPr>
        <p:txBody>
          <a:bodyPr wrap="square" lIns="0" tIns="0" rIns="0" bIns="0" rtlCol="0" anchor="t"/>
          <a:lstStyle/>
          <a:p>
            <a:pPr marL="0" indent="0">
              <a:buNone/>
            </a:pPr>
            <a:r>
              <a:rPr lang="en-US" sz="1200" dirty="0">
                <a:solidFill>
                  <a:srgbClr val="C9D6EA"/>
                </a:solidFill>
                <a:latin typeface="Calibri" pitchFamily="34" charset="0"/>
                <a:ea typeface="Calibri" pitchFamily="34" charset="-122"/>
                <a:cs typeface="Calibri" pitchFamily="34" charset="-120"/>
              </a:rPr>
              <a:t>We avoid Suezmax at 1.44 times newbuild and steep backwardation; we buy segments with the smallest orderbooks against their ageing fleets; we fix 60% of ship-days so the worst case still returns 17.9%.</a:t>
            </a:r>
            <a:endParaRPr lang="en-US" sz="1200" dirty="0"/>
          </a:p>
        </p:txBody>
      </p:sp>
      <p:sp>
        <p:nvSpPr>
          <p:cNvPr id="12" name="Number"/>
          <p:cNvSpPr/>
          <p:nvPr/>
        </p:nvSpPr>
        <p:spPr>
          <a:xfrm>
            <a:off x="868680" y="4297680"/>
            <a:ext cx="329184" cy="329184"/>
          </a:xfrm>
          <a:prstGeom prst="ellipse">
            <a:avLst/>
          </a:prstGeom>
          <a:solidFill>
            <a:srgbClr val="C8102E"/>
          </a:solidFill>
          <a:ln w="12700">
            <a:solidFill>
              <a:srgbClr val="C8102E"/>
            </a:solidFill>
            <a:prstDash val="solid"/>
          </a:ln>
        </p:spPr>
        <p:txBody>
          <a:bodyPr/>
          <a:lstStyle/>
          <a:p>
            <a:endParaRPr lang="zh-CN" altLang="en-US"/>
          </a:p>
        </p:txBody>
      </p:sp>
      <p:sp>
        <p:nvSpPr>
          <p:cNvPr id="13" name="Number text"/>
          <p:cNvSpPr txBox="1"/>
          <p:nvPr/>
        </p:nvSpPr>
        <p:spPr>
          <a:xfrm>
            <a:off x="868680" y="429768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371600" y="4251960"/>
            <a:ext cx="9875520" cy="310896"/>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What the data says</a:t>
            </a:r>
            <a:endParaRPr lang="en-US" sz="1500" dirty="0"/>
          </a:p>
        </p:txBody>
      </p:sp>
      <p:sp>
        <p:nvSpPr>
          <p:cNvPr id="15" name="Text 13"/>
          <p:cNvSpPr txBox="1"/>
          <p:nvPr/>
        </p:nvSpPr>
        <p:spPr>
          <a:xfrm>
            <a:off x="1371600" y="4581144"/>
            <a:ext cx="9875520" cy="566928"/>
          </a:xfrm>
          <a:prstGeom prst="rect">
            <a:avLst/>
          </a:prstGeom>
          <a:noFill/>
          <a:ln/>
        </p:spPr>
        <p:txBody>
          <a:bodyPr wrap="square" lIns="0" tIns="0" rIns="0" bIns="0" rtlCol="0" anchor="t"/>
          <a:lstStyle/>
          <a:p>
            <a:pPr marL="0" indent="0">
              <a:buNone/>
            </a:pPr>
            <a:r>
              <a:rPr lang="en-US" sz="1200" dirty="0">
                <a:solidFill>
                  <a:srgbClr val="C9D6EA"/>
                </a:solidFill>
                <a:latin typeface="Calibri" pitchFamily="34" charset="0"/>
                <a:ea typeface="Calibri" pitchFamily="34" charset="-122"/>
                <a:cs typeface="Calibri" pitchFamily="34" charset="-120"/>
              </a:rPr>
              <a:t>60 time series, 40 last-done transactions and 55 news items from Clarksons SIN, every figure with a series number and a screenshot. Base case 19.9%, expected value 20.0%, floor 17.9% before OPEX.</a:t>
            </a:r>
            <a:endParaRPr lang="en-US" sz="1200" dirty="0"/>
          </a:p>
        </p:txBody>
      </p:sp>
      <p:sp>
        <p:nvSpPr>
          <p:cNvPr id="16" name="Text 14"/>
          <p:cNvSpPr txBox="1"/>
          <p:nvPr/>
        </p:nvSpPr>
        <p:spPr>
          <a:xfrm>
            <a:off x="822960" y="5440680"/>
            <a:ext cx="10515600" cy="457200"/>
          </a:xfrm>
          <a:prstGeom prst="rect">
            <a:avLst/>
          </a:prstGeom>
          <a:noFill/>
          <a:ln/>
        </p:spPr>
        <p:txBody>
          <a:bodyPr wrap="square" lIns="0" tIns="0" rIns="0" bIns="0" rtlCol="0" anchor="ctr"/>
          <a:lstStyle/>
          <a:p>
            <a:pPr marL="0" indent="0">
              <a:buNone/>
            </a:pPr>
            <a:r>
              <a:rPr lang="en-US" sz="1600" i="1" dirty="0">
                <a:solidFill>
                  <a:srgbClr val="9FB6D9"/>
                </a:solidFill>
                <a:latin typeface="Cambria" pitchFamily="34" charset="0"/>
                <a:ea typeface="Cambria" pitchFamily="34" charset="-122"/>
                <a:cs typeface="Cambria" pitchFamily="34" charset="-120"/>
              </a:rPr>
              <a:t>We do not forecast the market. We lock the structure. Thank you, we welcome your questions.</a:t>
            </a:r>
            <a:endParaRPr lang="en-US" sz="16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822960" y="2103120"/>
            <a:ext cx="10515600" cy="274320"/>
          </a:xfrm>
          <a:prstGeom prst="rect">
            <a:avLst/>
          </a:prstGeom>
          <a:noFill/>
          <a:ln/>
        </p:spPr>
        <p:txBody>
          <a:bodyPr wrap="square" lIns="0" tIns="0" rIns="0" bIns="0" rtlCol="0" anchor="ctr"/>
          <a:lstStyle/>
          <a:p>
            <a:pPr marL="0" indent="0">
              <a:buNone/>
            </a:pPr>
            <a:r>
              <a:rPr lang="en-US" sz="1200" b="1" kern="0" spc="300" dirty="0">
                <a:solidFill>
                  <a:srgbClr val="9FB6D9"/>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822960" y="2468880"/>
            <a:ext cx="10515600" cy="8229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Reference pages for questions</a:t>
            </a:r>
            <a:endParaRPr lang="en-US" sz="4000" dirty="0"/>
          </a:p>
        </p:txBody>
      </p:sp>
      <p:sp>
        <p:nvSpPr>
          <p:cNvPr id="4" name="Text 2"/>
          <p:cNvSpPr txBox="1"/>
          <p:nvPr/>
        </p:nvSpPr>
        <p:spPr>
          <a:xfrm>
            <a:off x="822960" y="3429000"/>
            <a:ext cx="10515600" cy="1097280"/>
          </a:xfrm>
          <a:prstGeom prst="rect">
            <a:avLst/>
          </a:prstGeom>
          <a:noFill/>
          <a:ln/>
        </p:spPr>
        <p:txBody>
          <a:bodyPr wrap="square" lIns="0" tIns="0" rIns="0" bIns="0" rtlCol="0" anchor="t"/>
          <a:lstStyle/>
          <a:p>
            <a:pPr marL="0" indent="0">
              <a:buNone/>
            </a:pPr>
            <a:r>
              <a:rPr lang="en-US" sz="1300" dirty="0">
                <a:solidFill>
                  <a:srgbClr val="C9D6EA"/>
                </a:solidFill>
                <a:latin typeface="Calibri" pitchFamily="34" charset="0"/>
                <a:ea typeface="Calibri" pitchFamily="34" charset="-122"/>
                <a:cs typeface="Calibri" pitchFamily="34" charset="-120"/>
              </a:rPr>
              <a:t>A1 Fleet and orderbook detail  ·  A2 Deliveries and demolition by year  ·  A3 Sale and purchase records  ·  A4 Time-charter fixtures  ·  A5 Spot fixtures and voyage conversion  ·  A6 News evidence library  ·  A7 Earnings model structure  ·  A8 Course concepts applied  ·  A9 Glossary  ·  A10 Market backdrop charts</a:t>
            </a:r>
            <a:endParaRPr lang="en-US" sz="13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7F93B5"/>
                </a:solidFill>
                <a:latin typeface="Calibri"/>
                <a:ea typeface="Calibri"/>
                <a:cs typeface="Calibr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A1</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Fleet and orderbook detail, two bases side by side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Fleet Development and Orderbook series (dataset L4, Sep 2026 and 1 Oct 2026), Orderbook Delivery Schedule and Fleet Register age profile (L15, L16, 10 Oct 2026).</a:t>
            </a:r>
            <a:endParaRPr lang="en-US" sz="85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1005840">
                  <a:extLst>
                    <a:ext uri="{9D8B030D-6E8A-4147-A177-3AD203B41FA5}">
                      <a16:colId xmlns:a16="http://schemas.microsoft.com/office/drawing/2014/main" val="20005"/>
                    </a:ext>
                  </a:extLst>
                </a:gridCol>
                <a:gridCol w="1234440">
                  <a:extLst>
                    <a:ext uri="{9D8B030D-6E8A-4147-A177-3AD203B41FA5}">
                      <a16:colId xmlns:a16="http://schemas.microsoft.com/office/drawing/2014/main" val="20006"/>
                    </a:ext>
                  </a:extLst>
                </a:gridCol>
                <a:gridCol w="1554480">
                  <a:extLst>
                    <a:ext uri="{9D8B030D-6E8A-4147-A177-3AD203B41FA5}">
                      <a16:colId xmlns:a16="http://schemas.microsoft.com/office/drawing/2014/main" val="20007"/>
                    </a:ext>
                  </a:extLst>
                </a:gridCol>
                <a:gridCol w="1325880">
                  <a:extLst>
                    <a:ext uri="{9D8B030D-6E8A-4147-A177-3AD203B41FA5}">
                      <a16:colId xmlns:a16="http://schemas.microsoft.com/office/drawing/2014/main" val="20008"/>
                    </a:ext>
                  </a:extLst>
                </a:gridCol>
              </a:tblGrid>
              <a:tr h="5029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Fleet, ships</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Fleet, m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Orderbook, ships (Sep)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Orderbook, ships (1 Oct)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Orderbook, m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Orderbook % of fleet (dwt)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Ships aged 20+</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Orderbook ÷ 20+ fleet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502920">
                <a:tc>
                  <a:txBody>
                    <a:bodyPr/>
                    <a:lstStyle/>
                    <a:p>
                      <a:pPr marL="0" indent="0" algn="l">
                        <a:buNone/>
                      </a:pPr>
                      <a:r>
                        <a:rPr lang="en-US" sz="1000" b="1" dirty="0">
                          <a:solidFill>
                            <a:srgbClr val="142B4F"/>
                          </a:solidFill>
                          <a:latin typeface="Calibri" pitchFamily="34" charset="0"/>
                          <a:ea typeface="Calibri" pitchFamily="34" charset="-122"/>
                          <a:cs typeface="Calibri" pitchFamily="34" charset="-120"/>
                        </a:rPr>
                        <a:t>MR 40 to 55k dwt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92.5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340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16.7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18.0%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568 (MR/Handy 25 to 55k)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0.65x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000" b="1" dirty="0">
                          <a:solidFill>
                            <a:srgbClr val="142B4F"/>
                          </a:solidFill>
                          <a:latin typeface="Calibri" pitchFamily="34" charset="0"/>
                          <a:ea typeface="Calibri" pitchFamily="34" charset="-122"/>
                          <a:cs typeface="Calibri" pitchFamily="34" charset="-120"/>
                        </a:rPr>
                        <a:t>Aframax incl.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139.2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254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29.0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223 crude + 59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0.28x crude, 3.37x LR2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502920">
                <a:tc>
                  <a:txBody>
                    <a:bodyPr/>
                    <a:lstStyle/>
                    <a:p>
                      <a:pPr marL="0" indent="0" algn="l">
                        <a:buNone/>
                      </a:pPr>
                      <a:r>
                        <a:rPr lang="en-US" sz="1000" b="1" dirty="0">
                          <a:solidFill>
                            <a:srgbClr val="142B4F"/>
                          </a:solidFill>
                          <a:latin typeface="Calibri" pitchFamily="34" charset="0"/>
                          <a:ea typeface="Calibri" pitchFamily="34" charset="-122"/>
                          <a:cs typeface="Calibri" pitchFamily="34" charset="-120"/>
                        </a:rPr>
                        <a:t>Suezmax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725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113.8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211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213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33.2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000" b="1" dirty="0">
                          <a:solidFill>
                            <a:srgbClr val="142B4F"/>
                          </a:solidFill>
                          <a:latin typeface="Calibri" pitchFamily="34" charset="0"/>
                          <a:ea typeface="Calibri" pitchFamily="34" charset="-122"/>
                          <a:cs typeface="Calibri" pitchFamily="34" charset="-120"/>
                        </a:rPr>
                        <a:t>Panamax and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3,467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282.1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463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474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38.6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618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0.76x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502920">
                <a:tc>
                  <a:txBody>
                    <a:bodyPr/>
                    <a:lstStyle/>
                    <a:p>
                      <a:pPr marL="0" indent="0" algn="l">
                        <a:buNone/>
                      </a:pPr>
                      <a:r>
                        <a:rPr lang="en-US" sz="1000" b="1" dirty="0">
                          <a:solidFill>
                            <a:srgbClr val="142B4F"/>
                          </a:solidFill>
                          <a:latin typeface="Calibri" pitchFamily="34" charset="0"/>
                          <a:ea typeface="Calibri" pitchFamily="34" charset="-122"/>
                          <a:cs typeface="Calibri" pitchFamily="34" charset="-120"/>
                        </a:rPr>
                        <a:t>Handymax and Ultramax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4,574</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263.2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568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647</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35.8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A2433"/>
                          </a:solidFill>
                          <a:latin typeface="Calibri" pitchFamily="34" charset="0"/>
                          <a:ea typeface="Calibri" pitchFamily="34" charset="-122"/>
                          <a:cs typeface="Calibri" pitchFamily="34" charset="-120"/>
                        </a:rPr>
                        <a:t>not held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nel"/>
          <p:cNvSpPr/>
          <p:nvPr/>
        </p:nvSpPr>
        <p:spPr>
          <a:xfrm>
            <a:off x="502920" y="4754880"/>
            <a:ext cx="11155680" cy="1234440"/>
          </a:xfrm>
          <a:prstGeom prst="roundRect">
            <a:avLst>
              <a:gd name="adj" fmla="val 4444"/>
            </a:avLst>
          </a:prstGeom>
          <a:solidFill>
            <a:srgbClr val="EEF3FA"/>
          </a:solidFill>
          <a:ln w="9525">
            <a:solidFill>
              <a:srgbClr val="D7DEE8"/>
            </a:solidFill>
            <a:prstDash val="solid"/>
          </a:ln>
        </p:spPr>
        <p:txBody>
          <a:bodyPr/>
          <a:lstStyle/>
          <a:p>
            <a:endParaRPr lang="zh-CN" altLang="en-US"/>
          </a:p>
        </p:txBody>
      </p:sp>
      <p:sp>
        <p:nvSpPr>
          <p:cNvPr id="7" name="Panel title"/>
          <p:cNvSpPr txBox="1"/>
          <p:nvPr/>
        </p:nvSpPr>
        <p:spPr>
          <a:xfrm>
            <a:off x="685800" y="4882896"/>
            <a:ext cx="10789920" cy="310896"/>
          </a:xfrm>
          <a:prstGeom prst="rect">
            <a:avLst/>
          </a:prstGeom>
          <a:noFill/>
          <a:ln/>
        </p:spPr>
        <p:txBody>
          <a:bodyPr wrap="square" lIns="0" tIns="0" rIns="0" bIns="0" rtlCol="0" anchor="t"/>
          <a:lstStyle/>
          <a:p>
            <a:pPr marL="0" indent="0">
              <a:buNone/>
            </a:pPr>
            <a:r>
              <a:rPr lang="en-US" sz="1350" b="1" dirty="0">
                <a:solidFill>
                  <a:srgbClr val="142B4F"/>
                </a:solidFill>
                <a:latin typeface="Calibri" pitchFamily="34" charset="0"/>
                <a:ea typeface="Calibri" pitchFamily="34" charset="-122"/>
                <a:cs typeface="Calibri" pitchFamily="34" charset="-120"/>
              </a:rPr>
              <a:t>Why two bases</a:t>
            </a:r>
            <a:endParaRPr lang="en-US" sz="1350" dirty="0"/>
          </a:p>
        </p:txBody>
      </p:sp>
      <p:sp>
        <p:nvSpPr>
          <p:cNvPr id="8" name="Panel body"/>
          <p:cNvSpPr txBox="1"/>
          <p:nvPr/>
        </p:nvSpPr>
        <p:spPr>
          <a:xfrm>
            <a:off x="685800" y="5230368"/>
            <a:ext cx="10789920" cy="649224"/>
          </a:xfrm>
          <a:prstGeom prst="rect">
            <a:avLst/>
          </a:prstGeom>
          <a:noFill/>
          <a:ln/>
        </p:spPr>
        <p:txBody>
          <a:bodyPr wrap="square" lIns="0" tIns="0" rIns="0" bIns="0" rtlCol="0" anchor="t"/>
          <a:lstStyle/>
          <a:p>
            <a:pPr marL="0" indent="0">
              <a:spcAft>
                <a:spcPts val="400"/>
              </a:spcAft>
              <a:buNone/>
            </a:pPr>
            <a:r>
              <a:rPr lang="en-US" sz="1100" dirty="0">
                <a:solidFill>
                  <a:srgbClr val="1A2433"/>
                </a:solidFill>
                <a:latin typeface="Calibri" pitchFamily="34" charset="0"/>
                <a:ea typeface="Calibri" pitchFamily="34" charset="-122"/>
                <a:cs typeface="Calibri" pitchFamily="34" charset="-120"/>
              </a:rPr>
              <a:t>The dwt basis (Sep) is the standard orderbook ratio; the ship basis (10 Oct) is what the replacement test needs. Crude Aframax on its own is 8.4% of dwt and 62 ships; including LR2 the figure is 20.8%, because LR2 newbuilds can trade crude. That is why we hold one Aframax only and fix it for three years.</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A2</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Deliveries and demolition by year, ships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deliveries series 30301 / 540953 / 29984 / 39696 and demolition series 30291 / 540965 / 29967 / 39683, extracted 10 Oct 2026. Crude Aframax = Aframax tanker minus LR2. 2026 = year to date.</a:t>
            </a:r>
            <a:endParaRPr lang="en-US" sz="85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96012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gridCol w="1234440">
                  <a:extLst>
                    <a:ext uri="{9D8B030D-6E8A-4147-A177-3AD203B41FA5}">
                      <a16:colId xmlns:a16="http://schemas.microsoft.com/office/drawing/2014/main" val="20008"/>
                    </a:ext>
                  </a:extLst>
                </a:gridCol>
              </a:tblGrid>
              <a:tr h="45720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Kamsarmax / Panamax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MR 40 to 55k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Aframax crude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LR2 delivered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scrapped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66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31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136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86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54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50" b="1" dirty="0">
                          <a:solidFill>
                            <a:srgbClr val="142B4F"/>
                          </a:solidFill>
                          <a:latin typeface="Calibri" pitchFamily="34" charset="0"/>
                          <a:ea typeface="Calibri" pitchFamily="34" charset="-122"/>
                          <a:cs typeface="Calibri" pitchFamily="34" charset="-120"/>
                        </a:rPr>
                        <a:t>2021 to 2025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609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93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251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64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46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143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lgn="ctr">
                        <a:buNone/>
                      </a:pPr>
                      <a:r>
                        <a:rPr lang="en-US" sz="1050" b="1" dirty="0">
                          <a:solidFill>
                            <a:srgbClr val="142B4F"/>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6"/>
                  </a:ext>
                </a:extLst>
              </a:tr>
              <a:tr h="457200">
                <a:tc>
                  <a:txBody>
                    <a:bodyPr/>
                    <a:lstStyle/>
                    <a:p>
                      <a:pPr marL="0" indent="0" algn="l">
                        <a:buNone/>
                      </a:pPr>
                      <a:r>
                        <a:rPr lang="en-US" sz="1050" b="1" dirty="0">
                          <a:solidFill>
                            <a:srgbClr val="1A2433"/>
                          </a:solidFill>
                          <a:latin typeface="Calibri" pitchFamily="34" charset="0"/>
                          <a:ea typeface="Calibri" pitchFamily="34" charset="-122"/>
                          <a:cs typeface="Calibri" pitchFamily="34" charset="-120"/>
                        </a:rPr>
                        <a:t>2026 YTD</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153</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84</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A2433"/>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Panel"/>
          <p:cNvSpPr/>
          <p:nvPr/>
        </p:nvSpPr>
        <p:spPr>
          <a:xfrm>
            <a:off x="502920" y="5257800"/>
            <a:ext cx="11155680" cy="731520"/>
          </a:xfrm>
          <a:prstGeom prst="roundRect">
            <a:avLst>
              <a:gd name="adj" fmla="val 7500"/>
            </a:avLst>
          </a:prstGeom>
          <a:solidFill>
            <a:srgbClr val="EEF3FA"/>
          </a:solidFill>
          <a:ln w="9525">
            <a:solidFill>
              <a:srgbClr val="D7DEE8"/>
            </a:solidFill>
            <a:prstDash val="solid"/>
          </a:ln>
        </p:spPr>
        <p:txBody>
          <a:bodyPr/>
          <a:lstStyle/>
          <a:p>
            <a:endParaRPr lang="zh-CN" altLang="en-US"/>
          </a:p>
        </p:txBody>
      </p:sp>
      <p:sp>
        <p:nvSpPr>
          <p:cNvPr id="7" name="Panel body"/>
          <p:cNvSpPr txBox="1"/>
          <p:nvPr/>
        </p:nvSpPr>
        <p:spPr>
          <a:xfrm>
            <a:off x="685800" y="5385816"/>
            <a:ext cx="10789920" cy="493776"/>
          </a:xfrm>
          <a:prstGeom prst="rect">
            <a:avLst/>
          </a:prstGeom>
          <a:noFill/>
          <a:ln/>
        </p:spPr>
        <p:txBody>
          <a:bodyPr wrap="square" lIns="0" tIns="0" rIns="0" bIns="0" rtlCol="0" anchor="t"/>
          <a:lstStyle/>
          <a:p>
            <a:pPr marL="0" indent="0">
              <a:spcAft>
                <a:spcPts val="400"/>
              </a:spcAft>
              <a:buNone/>
            </a:pPr>
            <a:r>
              <a:rPr lang="en-US" sz="1100" dirty="0">
                <a:solidFill>
                  <a:srgbClr val="1A2433"/>
                </a:solidFill>
                <a:latin typeface="Calibri" pitchFamily="34" charset="0"/>
                <a:ea typeface="Calibri" pitchFamily="34" charset="-122"/>
                <a:cs typeface="Calibri" pitchFamily="34" charset="-120"/>
              </a:rPr>
              <a:t>Across 2021 to 2025, only 15% of new Kamsarmax tonnage was offset by scrapping and 25% of new MRs; crude Aframax scrapped two thirds of what it took delivery of. In 2026 scrapping has almost stopped in every segment.</a:t>
            </a:r>
            <a:endParaRPr lang="en-US" sz="1100" dirty="0"/>
          </a:p>
        </p:txBody>
      </p:sp>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A3</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Sale and purchase records, 18 last-done transactions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S&amp;P Register by vessel type, extracted 12 Sep 2026. Prices undisclosed where the register shows none. * = en bloc resale of newbuildings.</a:t>
            </a:r>
            <a:endParaRPr lang="en-US" sz="85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868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2103120">
                  <a:extLst>
                    <a:ext uri="{9D8B030D-6E8A-4147-A177-3AD203B41FA5}">
                      <a16:colId xmlns:a16="http://schemas.microsoft.com/office/drawing/2014/main" val="20005"/>
                    </a:ext>
                  </a:extLst>
                </a:gridCol>
                <a:gridCol w="1188720">
                  <a:extLst>
                    <a:ext uri="{9D8B030D-6E8A-4147-A177-3AD203B41FA5}">
                      <a16:colId xmlns:a16="http://schemas.microsoft.com/office/drawing/2014/main" val="20006"/>
                    </a:ext>
                  </a:extLst>
                </a:gridCol>
                <a:gridCol w="1600200">
                  <a:extLst>
                    <a:ext uri="{9D8B030D-6E8A-4147-A177-3AD203B41FA5}">
                      <a16:colId xmlns:a16="http://schemas.microsoft.com/office/drawing/2014/main" val="20007"/>
                    </a:ext>
                  </a:extLst>
                </a:gridCol>
                <a:gridCol w="1600200">
                  <a:extLst>
                    <a:ext uri="{9D8B030D-6E8A-4147-A177-3AD203B41FA5}">
                      <a16:colId xmlns:a16="http://schemas.microsoft.com/office/drawing/2014/main" val="20008"/>
                    </a:ext>
                  </a:extLst>
                </a:gridCol>
              </a:tblGrid>
              <a:tr h="237744">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Vessel</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dwt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Built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Yard (country)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Price $m</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Seller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Buyer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On Promise*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HD Hyundai Medium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Onex DMCC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On Prosper*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HD Hyundai Medium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Onex DMCC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High Discovery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49,999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HD Hyundai Mipo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15.30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Japanese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d'Amico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Atlantic Eagle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47,128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2007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HD Hyundai Mipo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Cido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19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Amaryllis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63,301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Sinopacific Dayang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24.00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Livanos 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Chinese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Gramos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61,171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Nantong COSCO KHI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Helikon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Livanos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Seacon Tokyo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66,628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41.60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Seacon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OBE Ships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Cape Benat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156,719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Jiangsu Rongsheng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62.50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Pareto Maritime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Lila Global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Hedda Knutsen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154,348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COSCO 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113.00 (TC incl.)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Knutsen NYK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KNOT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Bristol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157,077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HD Hyundai Samho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Euronav</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237744">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01 May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Southern Reverence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108,534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75.00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Nissen Kaiun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1"/>
                  </a:ext>
                </a:extLst>
              </a:tr>
              <a:tr h="237744">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24 Apr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Pusaka Borneo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108,667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75.00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Pusaka Laut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2"/>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31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Penelop</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115,091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Daewoo DSME (Korea)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Lundqvist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05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Green Attitude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112,532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COSCO 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Aegean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Minerva clients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4"/>
                  </a:ext>
                </a:extLst>
              </a:tr>
              <a:tr h="237744">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BBG Wuzhou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81,895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29.00 (auction)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CDB Leasing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37744">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Presinge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81,886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Tsuneishi Zhoushan (China)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29.25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SwissMarine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Indian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6"/>
                  </a:ext>
                </a:extLst>
              </a:tr>
              <a:tr h="237744">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10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Aquavita Aim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82,192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Oshima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38.00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Olive Shipmanagement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Undisclosed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7"/>
                  </a:ext>
                </a:extLst>
              </a:tr>
              <a:tr h="237744">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10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Medi Positano</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81,661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Tsuneishi Zosen (Japan)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32.00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d'Amico Dry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Greek interests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8"/>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A4</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Time-charter fixtures, 16 last-done records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Fixtures Register (Timecharter), extracted 12 Sep 2026. Highlighted rows are the five rates used in the earnings model.</a:t>
            </a:r>
            <a:endParaRPr lang="en-US" sz="85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868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gridCol w="914400">
                  <a:extLst>
                    <a:ext uri="{9D8B030D-6E8A-4147-A177-3AD203B41FA5}">
                      <a16:colId xmlns:a16="http://schemas.microsoft.com/office/drawing/2014/main" val="20006"/>
                    </a:ext>
                  </a:extLst>
                </a:gridCol>
                <a:gridCol w="1234440">
                  <a:extLst>
                    <a:ext uri="{9D8B030D-6E8A-4147-A177-3AD203B41FA5}">
                      <a16:colId xmlns:a16="http://schemas.microsoft.com/office/drawing/2014/main" val="20007"/>
                    </a:ext>
                  </a:extLst>
                </a:gridCol>
                <a:gridCol w="914400">
                  <a:extLst>
                    <a:ext uri="{9D8B030D-6E8A-4147-A177-3AD203B41FA5}">
                      <a16:colId xmlns:a16="http://schemas.microsoft.com/office/drawing/2014/main" val="20008"/>
                    </a:ext>
                  </a:extLst>
                </a:gridCol>
                <a:gridCol w="2148840">
                  <a:extLst>
                    <a:ext uri="{9D8B030D-6E8A-4147-A177-3AD203B41FA5}">
                      <a16:colId xmlns:a16="http://schemas.microsoft.com/office/drawing/2014/main" val="20009"/>
                    </a:ext>
                  </a:extLst>
                </a:gridCol>
              </a:tblGrid>
              <a:tr h="256032">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Type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Vessel</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dwt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Built</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Charterer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Delivery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Rate $/day</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Owner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256032">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PS Imabari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52,838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SUNCOR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Shoei Kisen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1"/>
                  </a:ext>
                </a:extLst>
              </a:tr>
              <a:tr h="256032">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Challenge Pollux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50,068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EXXONMOBIL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27,000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NYK Line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02"/>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SM Falcon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50,017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CLEARLAKE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W Med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25,500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Korea Line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Stena Imagination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49,689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ESSAR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UK Cont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27,750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Stena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W-Lion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63,308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NOVA 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Port Qasim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19,000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W Marine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19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Yuan Hai Qing Han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63,776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CHINALAND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Qinzhou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8 to 10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20,750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JIC Leasing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Ultramax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Gramba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61,233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CTM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Dalian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19,000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Susesea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Monte Urbasa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156,400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ST SHIPPING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74,500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Ibaizabal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09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Ithaki Warrior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159,962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TRAFIGURA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Baltic</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 to 14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86,000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Polembros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Suezmax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09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Kapsali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158,546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Korea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 to 13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80,000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Centrofin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TP Spirit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114,139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 year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53,250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Transpetrol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56032">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31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Torm Genesis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119,456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2011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AET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Singapore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3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40,000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TORM</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2"/>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Hafnia Despina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109,990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2019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MERCURIA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W Med</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50,000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Hafnia</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56032">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07 Sep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Intensity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82,000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CNR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Yeosu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12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22,000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Aegean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4"/>
                  </a:ext>
                </a:extLst>
              </a:tr>
              <a:tr h="256032">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03 Sep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XH Hope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84,998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2022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CARGILL</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Qinzhou</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10 to 12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23,000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tc>
                  <a:txBody>
                    <a:bodyPr/>
                    <a:lstStyle/>
                    <a:p>
                      <a:pPr marL="0" indent="0">
                        <a:buNone/>
                      </a:pPr>
                      <a:r>
                        <a:rPr lang="en-US" sz="850" b="1" dirty="0">
                          <a:solidFill>
                            <a:srgbClr val="1A2433"/>
                          </a:solidFill>
                          <a:latin typeface="Calibri" pitchFamily="34" charset="0"/>
                          <a:ea typeface="Calibri" pitchFamily="34" charset="-122"/>
                          <a:cs typeface="Calibri" pitchFamily="34" charset="-120"/>
                        </a:rPr>
                        <a:t>Zhejiang Xiehai</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C9D6EA"/>
                    </a:solidFill>
                  </a:tcPr>
                </a:tc>
                <a:extLst>
                  <a:ext uri="{0D108BD9-81ED-4DB2-BD59-A6C34878D82A}">
                    <a16:rowId xmlns:a16="http://schemas.microsoft.com/office/drawing/2014/main" val="10015"/>
                  </a:ext>
                </a:extLst>
              </a:tr>
              <a:tr h="256032">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Lestari Kuala Lumpur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82,074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CNR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Maoming</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9 to 11 months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C8102E"/>
                          </a:solidFill>
                          <a:latin typeface="Calibri" pitchFamily="34" charset="0"/>
                          <a:ea typeface="Calibri" pitchFamily="34" charset="-122"/>
                          <a:cs typeface="Calibri" pitchFamily="34" charset="-120"/>
                        </a:rPr>
                        <a:t>21,000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Lestari Maritime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6"/>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A5</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Spot fixtures and the voyage-to-TCE conversion</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Fixtures Register (Voyage and spot), extracted 12 Sep 2026; MT6102_Earnings_Model.xlsx sheet Voyage_TCE; Singapore VLSFO series 542456.</a:t>
            </a:r>
            <a:endParaRPr lang="en-US" sz="85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gridCol w="1737360">
                  <a:extLst>
                    <a:ext uri="{9D8B030D-6E8A-4147-A177-3AD203B41FA5}">
                      <a16:colId xmlns:a16="http://schemas.microsoft.com/office/drawing/2014/main" val="20007"/>
                    </a:ext>
                  </a:extLst>
                </a:gridCol>
              </a:tblGrid>
              <a:tr h="329184">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Date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Vessel</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Built</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Cargo</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Load</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Discharge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Rate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Charterer</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TBN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Coal 80,000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DBCT, Australia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Vizag, India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$25.60/t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SAIL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09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TBN (Kamsarmax)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Coal 80,000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Newcastle, Australia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Hadong, Korea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$23.21/t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KEPCO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03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Sea Amethyst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Crude 130,000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West Africa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Mediterranean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WS210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SHELL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Barcelona Spirit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2011</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Crude 130,000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Brazil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Chile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WS388</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PETROBRAS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Dee4 Juniper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Gasoline 37,000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Ventspils, Baltic</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US Gulf</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WS105</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VITOL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10 Sep 2026</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Pacific Cobalt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2020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Gasoil 35,000 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Singapore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Balikpapan, Indonesia</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$1.2m lump sum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SEARIVER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502920" y="4069080"/>
          <a:ext cx="1115568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265176">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Value</a:t>
                      </a:r>
                      <a:endParaRPr lang="en-US" sz="9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Gross freight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80,000 t × $25.60 = $2,048,000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Sea days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4,600 nm laden at 12.5 kn + 4,600 nm ballast at 13 kn = 30.1 days; port 9 days; total 39.1 days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Bunkers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30.1 × 27 t + 9 × 4 t = 848 t × $874.94 = $742,000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Port costs and commission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$160,000 + 3.75% × $2,048,000 = $76,800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Net voyage result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$1,069,000</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5176">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b="1" dirty="0">
                          <a:solidFill>
                            <a:srgbClr val="C8102E"/>
                          </a:solidFill>
                          <a:latin typeface="Calibri" pitchFamily="34" charset="0"/>
                          <a:ea typeface="Calibri" pitchFamily="34" charset="-122"/>
                          <a:cs typeface="Calibri" pitchFamily="34" charset="-120"/>
                        </a:rPr>
                        <a:t>$1,069,000 ÷ 39.1 days = about $27,400/day, 19% above the $23,000 base assumption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A6</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News evidence library: which decision each item supports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Clarksons Research news on SIN (article numbers shown), 55 items collected; the 19 below enter the argument. Tags: skip tanker, buy bulk, buy MR, buy Aframax, ship choice, risk.</a:t>
            </a:r>
            <a:endParaRPr lang="en-US" sz="85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914400"/>
        </p:xfrm>
        <a:graphic>
          <a:graphicData uri="http://schemas.openxmlformats.org/drawingml/2006/table">
            <a:tbl>
              <a:tblPr/>
              <a:tblGrid>
                <a:gridCol w="10058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219456">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Date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Clarksons headline and article number</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Point and use</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Supports</a:t>
                      </a:r>
                      <a:endParaRPr lang="en-US" sz="9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04 Mar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Middle East Conflict: Update No.3, #221824</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Day 5 of the conflict, Hormuz transits collapse: the start of the tanker spike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24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Middle East Update: Disruption Doubling Up?, #227050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Red Sea attacks restart in 2026; VLCC Bab el-Mandeb transits fall; supports longer hauls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Sanctioned Vessels Update, #228241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1,004 sanctioned tankers = 20% of crude tanker capacity (Aframax 35%)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skip tanker, buy 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28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Sanctioned Vessels Update, #227115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EU adds 13 ships on 24 Jul: sanctions tighten month by month</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10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Middle East Conflict: Shipping Market Update, #226516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How the conflict feeds through to each segment's rates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skip tanker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07 May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Guinea Bauxite and Iron Ore Exports Update, #224049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Guinea bauxite exports Jan to Apr +29%; Simandou ramping up</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25 Jun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Bulkcarrier Markets Enjoying The Summer Sun, #225971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Clarksons confirms bulk at a two-year high: recovery stage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21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Bulkcarrier Market Outlook, August 2026, #228048</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Ore plus grain on the demand side, moderate ordering on supply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17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 Bumper Year For Grain Trade (So Far), #227870</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2026 a bumper grain year: basis for the Q4 spot Kamsarmax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09 Oct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Ship Recycling: Building Up An Overhang, #229922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Recycling under 0.5% of the fleet a year for five years; the overhang backs the replacement test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 buy Aframax</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22 Dec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Seaborne Oil Trade: Bouncing Back, #219145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Products trade recovering since mid-2025: the MR turning point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28 Jul 2023</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Products Trade: In It For The Long Haul?, #191021</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Refineries moving east lengthen product hauls: the MR long story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MR</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2"/>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17 Oct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US And Chinese Port Fees: Taking Stock, #216732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US fees on China-built ships start, China retaliates: build country becomes a cost variable</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30 Oct 2025</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US-China Policy: 30th Oct Update, #217187</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One-year suspension on both sides; expiry around 10 Nov 2026 inside the presentation window</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4"/>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24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US Section 301 Tariff Update, #227049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Latest 301 developments ahead of the expiry</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21 Jul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EU Review of the Emissions Trading Scheme, #226856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EU ETS review opens: the case for Eco ships under 10 years</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ship choice,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6"/>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14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Russia-Ukraine: Vessel and Infrastructure Attacks, #227789</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Black Sea attacks hit oil and grain exports: cargo flexibility for Kamsarmax #2</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13 Oct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BDI 2,801 (SIN series 17259, refreshed 15 Oct)</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Dry bulk strong but off the September high</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bulk,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8"/>
                  </a:ext>
                </a:extLst>
              </a:tr>
              <a:tr h="219456">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26 Aug 2026</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Torm orders six MR2s (industry news, not SIN)</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dirty="0">
                          <a:solidFill>
                            <a:srgbClr val="1A2433"/>
                          </a:solidFill>
                          <a:latin typeface="Calibri" pitchFamily="34" charset="0"/>
                          <a:ea typeface="Calibri" pitchFamily="34" charset="-122"/>
                          <a:cs typeface="Calibri" pitchFamily="34" charset="-120"/>
                        </a:rPr>
                        <a:t>A leading owner still invests in MR; delivery after 2028, outside our window</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850" b="1" dirty="0">
                          <a:solidFill>
                            <a:srgbClr val="142B4F"/>
                          </a:solidFill>
                          <a:latin typeface="Calibri" pitchFamily="34" charset="0"/>
                          <a:ea typeface="Calibri" pitchFamily="34" charset="-122"/>
                          <a:cs typeface="Calibri" pitchFamily="34" charset="-120"/>
                        </a:rPr>
                        <a:t>buy MR, risk</a:t>
                      </a:r>
                      <a:endParaRPr lang="en-US" sz="85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A7</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Earnings model structure: eight sheets, seven steps</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MT6102_Earnings_Model.xlsx; every input cell carries its SIN series number or fixture.</a:t>
            </a:r>
            <a:endParaRPr lang="en-US" sz="850" dirty="0"/>
          </a:p>
        </p:txBody>
      </p:sp>
      <p:sp>
        <p:nvSpPr>
          <p:cNvPr id="5" name="Panel"/>
          <p:cNvSpPr/>
          <p:nvPr/>
        </p:nvSpPr>
        <p:spPr>
          <a:xfrm>
            <a:off x="502920" y="146304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6" name="Panel title"/>
          <p:cNvSpPr txBox="1"/>
          <p:nvPr/>
        </p:nvSpPr>
        <p:spPr>
          <a:xfrm>
            <a:off x="685800" y="159105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Inputs</a:t>
            </a:r>
            <a:endParaRPr lang="en-US" sz="1250" dirty="0"/>
          </a:p>
        </p:txBody>
      </p:sp>
      <p:sp>
        <p:nvSpPr>
          <p:cNvPr id="7" name="Panel body"/>
          <p:cNvSpPr txBox="1"/>
          <p:nvPr/>
        </p:nvSpPr>
        <p:spPr>
          <a:xfrm>
            <a:off x="685800" y="193852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Every number used, with its source; yellow cells are assumptions</a:t>
            </a:r>
            <a:endParaRPr lang="en-US" sz="1050" dirty="0"/>
          </a:p>
        </p:txBody>
      </p:sp>
      <p:sp>
        <p:nvSpPr>
          <p:cNvPr id="8" name="Panel"/>
          <p:cNvSpPr/>
          <p:nvPr/>
        </p:nvSpPr>
        <p:spPr>
          <a:xfrm>
            <a:off x="4297680" y="146304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9" name="Panel title"/>
          <p:cNvSpPr txBox="1"/>
          <p:nvPr/>
        </p:nvSpPr>
        <p:spPr>
          <a:xfrm>
            <a:off x="4480560" y="159105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Forecast</a:t>
            </a:r>
            <a:endParaRPr lang="en-US" sz="1250" dirty="0"/>
          </a:p>
        </p:txBody>
      </p:sp>
      <p:sp>
        <p:nvSpPr>
          <p:cNvPr id="10" name="Panel body"/>
          <p:cNvSpPr txBox="1"/>
          <p:nvPr/>
        </p:nvSpPr>
        <p:spPr>
          <a:xfrm>
            <a:off x="4480560" y="193852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Per-ship annual earnings, three scenarios, expected value, return, after-OPEX line</a:t>
            </a:r>
            <a:endParaRPr lang="en-US" sz="1050" dirty="0"/>
          </a:p>
        </p:txBody>
      </p:sp>
      <p:sp>
        <p:nvSpPr>
          <p:cNvPr id="11" name="Panel"/>
          <p:cNvSpPr/>
          <p:nvPr/>
        </p:nvSpPr>
        <p:spPr>
          <a:xfrm>
            <a:off x="8092440" y="146304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12" name="Panel title"/>
          <p:cNvSpPr txBox="1"/>
          <p:nvPr/>
        </p:nvSpPr>
        <p:spPr>
          <a:xfrm>
            <a:off x="8275320" y="159105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Monthly</a:t>
            </a:r>
            <a:endParaRPr lang="en-US" sz="1250" dirty="0"/>
          </a:p>
        </p:txBody>
      </p:sp>
      <p:sp>
        <p:nvSpPr>
          <p:cNvPr id="13" name="Panel body"/>
          <p:cNvSpPr txBox="1"/>
          <p:nvPr/>
        </p:nvSpPr>
        <p:spPr>
          <a:xfrm>
            <a:off x="8275320" y="193852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The chosen scenario spread over 12 calendar months</a:t>
            </a:r>
            <a:endParaRPr lang="en-US" sz="1050" dirty="0"/>
          </a:p>
        </p:txBody>
      </p:sp>
      <p:sp>
        <p:nvSpPr>
          <p:cNvPr id="14" name="Panel"/>
          <p:cNvSpPr/>
          <p:nvPr/>
        </p:nvSpPr>
        <p:spPr>
          <a:xfrm>
            <a:off x="502920" y="269748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15" name="Panel title"/>
          <p:cNvSpPr txBox="1"/>
          <p:nvPr/>
        </p:nvSpPr>
        <p:spPr>
          <a:xfrm>
            <a:off x="685800" y="282549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Sensitivity</a:t>
            </a:r>
            <a:endParaRPr lang="en-US" sz="1250" dirty="0"/>
          </a:p>
        </p:txBody>
      </p:sp>
      <p:sp>
        <p:nvSpPr>
          <p:cNvPr id="16" name="Panel body"/>
          <p:cNvSpPr txBox="1"/>
          <p:nvPr/>
        </p:nvSpPr>
        <p:spPr>
          <a:xfrm>
            <a:off x="685800" y="317296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Fleet earnings for any pair of spot rates</a:t>
            </a:r>
            <a:endParaRPr lang="en-US" sz="1050" dirty="0"/>
          </a:p>
        </p:txBody>
      </p:sp>
      <p:sp>
        <p:nvSpPr>
          <p:cNvPr id="17" name="Panel"/>
          <p:cNvSpPr/>
          <p:nvPr/>
        </p:nvSpPr>
        <p:spPr>
          <a:xfrm>
            <a:off x="4297680" y="269748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18" name="Panel title"/>
          <p:cNvSpPr txBox="1"/>
          <p:nvPr/>
        </p:nvSpPr>
        <p:spPr>
          <a:xfrm>
            <a:off x="4480560" y="282549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Voyage_TCE</a:t>
            </a:r>
            <a:endParaRPr lang="en-US" sz="1250" dirty="0"/>
          </a:p>
        </p:txBody>
      </p:sp>
      <p:sp>
        <p:nvSpPr>
          <p:cNvPr id="19" name="Panel body"/>
          <p:cNvSpPr txBox="1"/>
          <p:nvPr/>
        </p:nvSpPr>
        <p:spPr>
          <a:xfrm>
            <a:off x="4480560" y="317296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Converts the coal fixture into a daily rate</a:t>
            </a:r>
            <a:endParaRPr lang="en-US" sz="1050" dirty="0"/>
          </a:p>
        </p:txBody>
      </p:sp>
      <p:sp>
        <p:nvSpPr>
          <p:cNvPr id="20" name="Panel"/>
          <p:cNvSpPr/>
          <p:nvPr/>
        </p:nvSpPr>
        <p:spPr>
          <a:xfrm>
            <a:off x="8092440" y="2697480"/>
            <a:ext cx="3566160" cy="1097280"/>
          </a:xfrm>
          <a:prstGeom prst="roundRect">
            <a:avLst>
              <a:gd name="adj" fmla="val 5000"/>
            </a:avLst>
          </a:prstGeom>
          <a:solidFill>
            <a:srgbClr val="EEF3FA"/>
          </a:solidFill>
          <a:ln w="9525">
            <a:solidFill>
              <a:srgbClr val="D7DEE8"/>
            </a:solidFill>
            <a:prstDash val="solid"/>
          </a:ln>
        </p:spPr>
        <p:txBody>
          <a:bodyPr/>
          <a:lstStyle/>
          <a:p>
            <a:endParaRPr lang="zh-CN" altLang="en-US"/>
          </a:p>
        </p:txBody>
      </p:sp>
      <p:sp>
        <p:nvSpPr>
          <p:cNvPr id="21" name="Panel title"/>
          <p:cNvSpPr txBox="1"/>
          <p:nvPr/>
        </p:nvSpPr>
        <p:spPr>
          <a:xfrm>
            <a:off x="8275320" y="2825496"/>
            <a:ext cx="3200400" cy="310896"/>
          </a:xfrm>
          <a:prstGeom prst="rect">
            <a:avLst/>
          </a:prstGeom>
          <a:noFill/>
          <a:ln/>
        </p:spPr>
        <p:txBody>
          <a:bodyPr wrap="square" lIns="0" tIns="0" rIns="0" bIns="0" rtlCol="0" anchor="t"/>
          <a:lstStyle/>
          <a:p>
            <a:pPr marL="0" indent="0">
              <a:buNone/>
            </a:pPr>
            <a:r>
              <a:rPr lang="en-US" sz="1250" b="1" dirty="0">
                <a:solidFill>
                  <a:srgbClr val="142B4F"/>
                </a:solidFill>
                <a:latin typeface="Calibri" pitchFamily="34" charset="0"/>
                <a:ea typeface="Calibri" pitchFamily="34" charset="-122"/>
                <a:cs typeface="Calibri" pitchFamily="34" charset="-120"/>
              </a:rPr>
              <a:t>Notes and Sources</a:t>
            </a:r>
            <a:endParaRPr lang="en-US" sz="1250" dirty="0"/>
          </a:p>
        </p:txBody>
      </p:sp>
      <p:sp>
        <p:nvSpPr>
          <p:cNvPr id="22" name="Panel body"/>
          <p:cNvSpPr txBox="1"/>
          <p:nvPr/>
        </p:nvSpPr>
        <p:spPr>
          <a:xfrm>
            <a:off x="8275320" y="3172968"/>
            <a:ext cx="3200400" cy="512064"/>
          </a:xfrm>
          <a:prstGeom prst="rect">
            <a:avLst/>
          </a:prstGeom>
          <a:noFill/>
          <a:ln/>
        </p:spPr>
        <p:txBody>
          <a:bodyPr wrap="square" lIns="0" tIns="0" rIns="0" bIns="0" rtlCol="0" anchor="t"/>
          <a:lstStyle/>
          <a:p>
            <a:pPr marL="0" indent="0">
              <a:spcAft>
                <a:spcPts val="400"/>
              </a:spcAft>
              <a:buNone/>
            </a:pPr>
            <a:r>
              <a:rPr lang="en-US" sz="1050" dirty="0">
                <a:solidFill>
                  <a:srgbClr val="1A2433"/>
                </a:solidFill>
                <a:latin typeface="Calibri" pitchFamily="34" charset="0"/>
                <a:ea typeface="Calibri" pitchFamily="34" charset="-122"/>
                <a:cs typeface="Calibri" pitchFamily="34" charset="-120"/>
              </a:rPr>
              <a:t>Formula, caveats, series list</a:t>
            </a:r>
            <a:endParaRPr lang="en-US" sz="1050" dirty="0"/>
          </a:p>
        </p:txBody>
      </p:sp>
      <p:sp>
        <p:nvSpPr>
          <p:cNvPr id="23" name="Number"/>
          <p:cNvSpPr/>
          <p:nvPr/>
        </p:nvSpPr>
        <p:spPr>
          <a:xfrm>
            <a:off x="548640" y="4087368"/>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24" name="Number text"/>
          <p:cNvSpPr txBox="1"/>
          <p:nvPr/>
        </p:nvSpPr>
        <p:spPr>
          <a:xfrm>
            <a:off x="548640" y="4087368"/>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25" name="Text 23"/>
          <p:cNvSpPr txBox="1"/>
          <p:nvPr/>
        </p:nvSpPr>
        <p:spPr>
          <a:xfrm>
            <a:off x="914400" y="4069080"/>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Fix the rates: three ships at their fixture rates, two spot ships at the one-year fixture proxies</a:t>
            </a:r>
            <a:endParaRPr lang="en-US" sz="1050" dirty="0"/>
          </a:p>
        </p:txBody>
      </p:sp>
      <p:sp>
        <p:nvSpPr>
          <p:cNvPr id="26" name="Number"/>
          <p:cNvSpPr/>
          <p:nvPr/>
        </p:nvSpPr>
        <p:spPr>
          <a:xfrm>
            <a:off x="548640" y="4370832"/>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27" name="Number text"/>
          <p:cNvSpPr txBox="1"/>
          <p:nvPr/>
        </p:nvSpPr>
        <p:spPr>
          <a:xfrm>
            <a:off x="548640" y="4370832"/>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28" name="Text 26"/>
          <p:cNvSpPr txBox="1"/>
          <p:nvPr/>
        </p:nvSpPr>
        <p:spPr>
          <a:xfrm>
            <a:off x="914400" y="4352544"/>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Scenario values for the two spot ships: bear 2025 average, base fixture, bull latest week</a:t>
            </a:r>
            <a:endParaRPr lang="en-US" sz="1050" dirty="0"/>
          </a:p>
        </p:txBody>
      </p:sp>
      <p:sp>
        <p:nvSpPr>
          <p:cNvPr id="29" name="Number"/>
          <p:cNvSpPr/>
          <p:nvPr/>
        </p:nvSpPr>
        <p:spPr>
          <a:xfrm>
            <a:off x="548640" y="4654296"/>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30" name="Number text"/>
          <p:cNvSpPr txBox="1"/>
          <p:nvPr/>
        </p:nvSpPr>
        <p:spPr>
          <a:xfrm>
            <a:off x="548640" y="4654296"/>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31" name="Text 29"/>
          <p:cNvSpPr txBox="1"/>
          <p:nvPr/>
        </p:nvSpPr>
        <p:spPr>
          <a:xfrm>
            <a:off x="914400" y="4636008"/>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Each ship: rate × 350 days</a:t>
            </a:r>
            <a:endParaRPr lang="en-US" sz="1050" dirty="0"/>
          </a:p>
        </p:txBody>
      </p:sp>
      <p:sp>
        <p:nvSpPr>
          <p:cNvPr id="32" name="Number"/>
          <p:cNvSpPr/>
          <p:nvPr/>
        </p:nvSpPr>
        <p:spPr>
          <a:xfrm>
            <a:off x="548640" y="4937760"/>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33" name="Number text"/>
          <p:cNvSpPr txBox="1"/>
          <p:nvPr/>
        </p:nvSpPr>
        <p:spPr>
          <a:xfrm>
            <a:off x="548640" y="4937760"/>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34" name="Text 32"/>
          <p:cNvSpPr txBox="1"/>
          <p:nvPr/>
        </p:nvSpPr>
        <p:spPr>
          <a:xfrm>
            <a:off x="914400" y="4919472"/>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Add the five ships: $142,000 × 350 = $49.7m base</a:t>
            </a:r>
            <a:endParaRPr lang="en-US" sz="1050" dirty="0"/>
          </a:p>
        </p:txBody>
      </p:sp>
      <p:sp>
        <p:nvSpPr>
          <p:cNvPr id="35" name="Number"/>
          <p:cNvSpPr/>
          <p:nvPr/>
        </p:nvSpPr>
        <p:spPr>
          <a:xfrm>
            <a:off x="548640" y="5221224"/>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36" name="Number text"/>
          <p:cNvSpPr txBox="1"/>
          <p:nvPr/>
        </p:nvSpPr>
        <p:spPr>
          <a:xfrm>
            <a:off x="548640" y="5221224"/>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37" name="Text 35"/>
          <p:cNvSpPr txBox="1"/>
          <p:nvPr/>
        </p:nvSpPr>
        <p:spPr>
          <a:xfrm>
            <a:off x="914400" y="5202936"/>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Divide by $250m: 19.9%; bear 17.9%, bull 23.7%</a:t>
            </a:r>
            <a:endParaRPr lang="en-US" sz="1050" dirty="0"/>
          </a:p>
        </p:txBody>
      </p:sp>
      <p:sp>
        <p:nvSpPr>
          <p:cNvPr id="38" name="Number"/>
          <p:cNvSpPr/>
          <p:nvPr/>
        </p:nvSpPr>
        <p:spPr>
          <a:xfrm>
            <a:off x="548640" y="5504688"/>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39" name="Number text"/>
          <p:cNvSpPr txBox="1"/>
          <p:nvPr/>
        </p:nvSpPr>
        <p:spPr>
          <a:xfrm>
            <a:off x="548640" y="5504688"/>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40" name="Text 38"/>
          <p:cNvSpPr txBox="1"/>
          <p:nvPr/>
        </p:nvSpPr>
        <p:spPr>
          <a:xfrm>
            <a:off x="914400" y="5486400"/>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Weight 30 / 50 / 20: expected $50.1m, 20.0%</a:t>
            </a:r>
            <a:endParaRPr lang="en-US" sz="1050" dirty="0"/>
          </a:p>
        </p:txBody>
      </p:sp>
      <p:sp>
        <p:nvSpPr>
          <p:cNvPr id="41" name="Number"/>
          <p:cNvSpPr/>
          <p:nvPr/>
        </p:nvSpPr>
        <p:spPr>
          <a:xfrm>
            <a:off x="548640" y="5788152"/>
            <a:ext cx="237744" cy="237744"/>
          </a:xfrm>
          <a:prstGeom prst="ellipse">
            <a:avLst/>
          </a:prstGeom>
          <a:solidFill>
            <a:srgbClr val="142B4F"/>
          </a:solidFill>
          <a:ln w="12700">
            <a:solidFill>
              <a:srgbClr val="142B4F"/>
            </a:solidFill>
            <a:prstDash val="solid"/>
          </a:ln>
        </p:spPr>
        <p:txBody>
          <a:bodyPr/>
          <a:lstStyle/>
          <a:p>
            <a:endParaRPr lang="zh-CN" altLang="en-US"/>
          </a:p>
        </p:txBody>
      </p:sp>
      <p:sp>
        <p:nvSpPr>
          <p:cNvPr id="42" name="Number text"/>
          <p:cNvSpPr txBox="1"/>
          <p:nvPr/>
        </p:nvSpPr>
        <p:spPr>
          <a:xfrm>
            <a:off x="548640" y="5788152"/>
            <a:ext cx="237744"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43" name="Text 41"/>
          <p:cNvSpPr txBox="1"/>
          <p:nvPr/>
        </p:nvSpPr>
        <p:spPr>
          <a:xfrm>
            <a:off x="914400" y="5769864"/>
            <a:ext cx="10698480" cy="274320"/>
          </a:xfrm>
          <a:prstGeom prst="rect">
            <a:avLst/>
          </a:prstGeom>
          <a:noFill/>
          <a:ln/>
        </p:spPr>
        <p:txBody>
          <a:bodyPr wrap="square" lIns="0" tIns="0" rIns="0" bIns="0" rtlCol="0" anchor="ctr"/>
          <a:lstStyle/>
          <a:p>
            <a:pPr marL="0" indent="0">
              <a:buNone/>
            </a:pPr>
            <a:r>
              <a:rPr lang="en-US" sz="1050" dirty="0">
                <a:solidFill>
                  <a:srgbClr val="1A2433"/>
                </a:solidFill>
                <a:latin typeface="Calibri" pitchFamily="34" charset="0"/>
                <a:ea typeface="Calibri" pitchFamily="34" charset="-122"/>
                <a:cs typeface="Calibri" pitchFamily="34" charset="-120"/>
              </a:rPr>
              <a:t>Deduct OPEX of $36,560/day × 350 = $12.8m for the after-OPEX reference: $36.9m, 14.8%</a:t>
            </a:r>
            <a:endParaRPr lang="en-US" sz="1050" dirty="0"/>
          </a:p>
        </p:txBody>
      </p:sp>
      <p:sp>
        <p:nvSpPr>
          <p:cNvPr id="44"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A8</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Course concepts applied in the proposal</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Concepts from the MT6102 lecture series; page references held in the group's working notes.</a:t>
            </a:r>
            <a:endParaRPr lang="en-US" sz="85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3840480">
                  <a:extLst>
                    <a:ext uri="{9D8B030D-6E8A-4147-A177-3AD203B41FA5}">
                      <a16:colId xmlns:a16="http://schemas.microsoft.com/office/drawing/2014/main" val="20000"/>
                    </a:ext>
                  </a:extLst>
                </a:gridCol>
                <a:gridCol w="7315200">
                  <a:extLst>
                    <a:ext uri="{9D8B030D-6E8A-4147-A177-3AD203B41FA5}">
                      <a16:colId xmlns:a16="http://schemas.microsoft.com/office/drawing/2014/main" val="20001"/>
                    </a:ext>
                  </a:extLst>
                </a:gridCol>
              </a:tblGrid>
              <a:tr h="42062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Concept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Where it is used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420624">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Derived demand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Shipping demand follows cargo trade: Part 3 starts from bauxite, products and crude volumes, not from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Four shipping markets and the last-done convention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Part 2: every price is the last transacted sale or fixture, the starting point of any negotiation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420624">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Cost split under a time charter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Owner pays capital and operating costs, charterer pays voyage costs: the before-OPEX convention and the fuel and allowance exposure of the fixed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Cycle stages and peak signals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Secondhand above newbuild, old ships chartered, rates many times OPEX, zero scrapping: the Suezmax diagnosis and the dry bulk recovery call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420624">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Ship price determinants, 5 to 6% a year depreciation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The 5-year-old against 10-year-old comparison and the replacement-cost ratio</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Demand and supply five-factor model, tonne-miles and average haul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Part 3 structure; crude volumes −7.3% with average haul +3.3%</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420624">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Supply is inelastic in the short run; build time one to four years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Why a Hormuz closure multiplies rates, and why the 2027 to 2028 wave is already fixed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0624">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Scrapping determinants: age, obsolescence, scrap price, earnings, expectations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Why scrapping stopped in 2025 and why the overhang will return</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420624">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Financiers prefer predictable earnings; debt means fixed repayments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60% of ship-days fixed; all-equity base case; leverage optional later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20624">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Regulatory cost incidence and marginal abatement cost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Eco ships abate cheaply; on time charter the charterer carries fuel and allowances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A9</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Glossary</a:t>
            </a:r>
            <a:endParaRPr lang="en-US" sz="27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02920" y="1463040"/>
          <a:ext cx="111556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8778240">
                  <a:extLst>
                    <a:ext uri="{9D8B030D-6E8A-4147-A177-3AD203B41FA5}">
                      <a16:colId xmlns:a16="http://schemas.microsoft.com/office/drawing/2014/main" val="20001"/>
                    </a:ext>
                  </a:extLst>
                </a:gridCol>
              </a:tblGrid>
              <a:tr h="365760">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Term</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Meaning</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142B4F"/>
                    </a:solidFill>
                  </a:tcPr>
                </a:tc>
                <a:extLst>
                  <a:ext uri="{0D108BD9-81ED-4DB2-BD59-A6C34878D82A}">
                    <a16:rowId xmlns:a16="http://schemas.microsoft.com/office/drawing/2014/main" val="10000"/>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Time charter (TC)</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The charterer hires the ship for a period at a daily rate and pays voyage costs; the owner pays capital and operating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Spot / voyage charter</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One voyage at a freight rate per tonne or in Worldscale; the owner pays voyage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TCE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Time-charter equivalent: voyage income net of voyage costs, per day, comparable with a TC rate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Worldscale (WS)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Tanker freight index; WS100 is the published flat rate for the route, quotes are a percentage of it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Last done</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The most recent transaction at the time of extraction; the starting point of charter negotiations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Orderbook</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Ships contracted but not yet delivered, as a share of the fleet in dwt or in ships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Tonne-miles, average haul</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Cargo tonnes times distance; average haul = tonne-miles ÷ tonnes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OPEX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Crew, insurance, stores, repair and maintenance; excludes capital and voyage costs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Eco ship</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Post-2013 design with lower fuel consumption; better placed under EU ETS and FuelEU</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BDI</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Baltic Dry Index, a weighted average of Capesize, Panamax and Supramax time-charter averages</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Kamsarmax</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Bulk carrier of about 80,000 to 85,000 dwt, the largest size Port Kamsar in Guinea can load</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65760">
                <a:tc>
                  <a:txBody>
                    <a:bodyPr/>
                    <a:lstStyle/>
                    <a:p>
                      <a:pPr marL="0" indent="0">
                        <a:buNone/>
                      </a:pPr>
                      <a:r>
                        <a:rPr lang="en-US" sz="1000" b="1" dirty="0">
                          <a:solidFill>
                            <a:srgbClr val="142B4F"/>
                          </a:solidFill>
                          <a:latin typeface="Calibri" pitchFamily="34" charset="0"/>
                          <a:ea typeface="Calibri" pitchFamily="34" charset="-122"/>
                          <a:cs typeface="Calibri" pitchFamily="34" charset="-120"/>
                        </a:rPr>
                        <a:t>Replacement cost</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tc>
                  <a:txBody>
                    <a:bodyPr/>
                    <a:lstStyle/>
                    <a:p>
                      <a:pPr marL="0" indent="0">
                        <a:buNone/>
                      </a:pPr>
                      <a:r>
                        <a:rPr lang="en-US" sz="1000" dirty="0">
                          <a:solidFill>
                            <a:srgbClr val="1A2433"/>
                          </a:solidFill>
                          <a:latin typeface="Calibri" pitchFamily="34" charset="0"/>
                          <a:ea typeface="Calibri" pitchFamily="34" charset="-122"/>
                          <a:cs typeface="Calibri" pitchFamily="34" charset="-120"/>
                        </a:rPr>
                        <a:t>The newbuild price of an equivalent ship; secondhand above replacement cost signals over-trading</a:t>
                      </a:r>
                      <a:endParaRPr lang="en-US" sz="1000" dirty="0">
                        <a:latin typeface="Calibri" charset="0"/>
                        <a:ea typeface="Calibri" charset="0"/>
                        <a:cs typeface="Calibri" charset="0"/>
                      </a:endParaRPr>
                    </a:p>
                  </a:txBody>
                  <a:tcPr marL="54864" marR="54864" marT="54864" marB="54864" anchor="ctr">
                    <a:lnL w="6350" cap="flat" cmpd="sng" algn="ctr">
                      <a:solidFill>
                        <a:srgbClr val="D7DEE8"/>
                      </a:solidFill>
                      <a:prstDash val="solid"/>
                      <a:round/>
                      <a:headEnd type="none" w="med" len="med"/>
                      <a:tailEnd type="none" w="med" len="med"/>
                    </a:lnL>
                    <a:lnR w="6350" cap="flat" cmpd="sng" algn="ctr">
                      <a:solidFill>
                        <a:srgbClr val="D7DEE8"/>
                      </a:solidFill>
                      <a:prstDash val="solid"/>
                      <a:round/>
                      <a:headEnd type="none" w="med" len="med"/>
                      <a:tailEnd type="none" w="med" len="med"/>
                    </a:lnR>
                    <a:lnT w="6350" cap="flat" cmpd="sng" algn="ctr">
                      <a:solidFill>
                        <a:srgbClr val="D7DEE8"/>
                      </a:solidFill>
                      <a:prstDash val="solid"/>
                      <a:round/>
                      <a:headEnd type="none" w="med" len="med"/>
                      <a:tailEnd type="none" w="med" len="med"/>
                    </a:lnT>
                    <a:lnB w="6350" cap="flat" cmpd="sng" algn="ctr">
                      <a:solidFill>
                        <a:srgbClr val="D7DEE8"/>
                      </a:solidFill>
                      <a:prstDash val="solid"/>
                      <a:round/>
                      <a:headEnd type="none" w="med" len="med"/>
                      <a:tailEnd type="none" w="med" len="med"/>
                    </a:lnB>
                    <a:solidFill>
                      <a:srgbClr val="F7F9FC"/>
                    </a:solidFill>
                  </a:tcPr>
                </a:tc>
                <a:extLst>
                  <a:ext uri="{0D108BD9-81ED-4DB2-BD59-A6C34878D82A}">
                    <a16:rowId xmlns:a16="http://schemas.microsoft.com/office/drawing/2014/main" val="10012"/>
                  </a:ext>
                </a:extLst>
              </a:tr>
            </a:tbl>
          </a:graphicData>
        </a:graphic>
      </p:graphicFrame>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Eyebrow"/>
          <p:cNvSpPr txBox="1"/>
          <p:nvPr/>
        </p:nvSpPr>
        <p:spPr>
          <a:xfrm>
            <a:off x="502920" y="329184"/>
            <a:ext cx="11155680" cy="274320"/>
          </a:xfrm>
          <a:prstGeom prst="rect">
            <a:avLst/>
          </a:prstGeom>
          <a:noFill/>
          <a:ln/>
        </p:spPr>
        <p:txBody>
          <a:bodyPr wrap="square" lIns="0" tIns="0" rIns="0" bIns="0" rtlCol="0" anchor="ctr"/>
          <a:lstStyle/>
          <a:p>
            <a:pPr marL="0" indent="0">
              <a:buNone/>
            </a:pPr>
            <a:r>
              <a:rPr lang="en-US" sz="1100" b="1" kern="0" spc="200" dirty="0">
                <a:solidFill>
                  <a:srgbClr val="C8102E"/>
                </a:solidFill>
                <a:latin typeface="Calibri" pitchFamily="34" charset="0"/>
                <a:ea typeface="Calibri" pitchFamily="34" charset="-122"/>
                <a:cs typeface="Calibri" pitchFamily="34" charset="-120"/>
              </a:rPr>
              <a:t>APPENDIX A10</a:t>
            </a:r>
            <a:endParaRPr lang="en-US" sz="1100" dirty="0"/>
          </a:p>
        </p:txBody>
      </p:sp>
      <p:sp>
        <p:nvSpPr>
          <p:cNvPr id="3" name="Title"/>
          <p:cNvSpPr txBox="1"/>
          <p:nvPr/>
        </p:nvSpPr>
        <p:spPr>
          <a:xfrm>
            <a:off x="502920" y="603504"/>
            <a:ext cx="11155680" cy="731520"/>
          </a:xfrm>
          <a:prstGeom prst="rect">
            <a:avLst/>
          </a:prstGeom>
          <a:noFill/>
          <a:ln/>
        </p:spPr>
        <p:txBody>
          <a:bodyPr wrap="square" lIns="0" tIns="0" rIns="0" bIns="0" rtlCol="0" anchor="t"/>
          <a:lstStyle/>
          <a:p>
            <a:pPr marL="0" indent="0">
              <a:buNone/>
            </a:pPr>
            <a:r>
              <a:rPr lang="en-US" sz="2700" b="1" dirty="0">
                <a:solidFill>
                  <a:srgbClr val="142B4F"/>
                </a:solidFill>
                <a:latin typeface="Cambria" pitchFamily="34" charset="0"/>
                <a:ea typeface="Cambria" pitchFamily="34" charset="-122"/>
                <a:cs typeface="Cambria" pitchFamily="34" charset="-120"/>
              </a:rPr>
              <a:t>Market backdrop: a supply shock, and a reversible one</a:t>
            </a:r>
            <a:endParaRPr lang="en-US" sz="2700" dirty="0"/>
          </a:p>
        </p:txBody>
      </p:sp>
      <p:sp>
        <p:nvSpPr>
          <p:cNvPr id="4" name="Source"/>
          <p:cNvSpPr txBox="1"/>
          <p:nvPr/>
        </p:nvSpPr>
        <p:spPr>
          <a:xfrm>
            <a:off x="502920" y="6126480"/>
            <a:ext cx="11155680" cy="292608"/>
          </a:xfrm>
          <a:prstGeom prst="rect">
            <a:avLst/>
          </a:prstGeom>
          <a:noFill/>
          <a:ln/>
        </p:spPr>
        <p:txBody>
          <a:bodyPr wrap="square" lIns="0" tIns="0" rIns="0" bIns="0" rtlCol="0" anchor="ctr"/>
          <a:lstStyle/>
          <a:p>
            <a:pPr marL="0" indent="0">
              <a:buNone/>
            </a:pPr>
            <a:r>
              <a:rPr lang="en-US" sz="850" i="1" dirty="0">
                <a:solidFill>
                  <a:srgbClr val="5A6472"/>
                </a:solidFill>
                <a:latin typeface="Calibri" pitchFamily="34" charset="0"/>
                <a:ea typeface="Calibri" pitchFamily="34" charset="-122"/>
                <a:cs typeface="Calibri" pitchFamily="34" charset="-120"/>
              </a:rPr>
              <a:t>Source: SIN series 98801 / 546177 (crude volumes and earnings), L11 (sanctioned fleet), L6 (chokepoint transits), 534438 (crude orderbook); news #221824, #227050, #228241.</a:t>
            </a:r>
            <a:endParaRPr lang="en-US" sz="850" dirty="0"/>
          </a:p>
        </p:txBody>
      </p:sp>
      <p:pic>
        <p:nvPicPr>
          <p:cNvPr id="5" name="02_supply_shock.png" descr="/home/user/MT6102/charts_deck/02_supply_shock.png"/>
          <p:cNvPicPr>
            <a:picLocks noChangeAspect="1"/>
          </p:cNvPicPr>
          <p:nvPr/>
        </p:nvPicPr>
        <p:blipFill>
          <a:blip r:embed="rId3"/>
          <a:srcRect/>
          <a:stretch/>
        </p:blipFill>
        <p:spPr>
          <a:xfrm>
            <a:off x="502920" y="1463040"/>
            <a:ext cx="5486400" cy="2240280"/>
          </a:xfrm>
          <a:prstGeom prst="rect">
            <a:avLst/>
          </a:prstGeom>
        </p:spPr>
      </p:pic>
      <p:pic>
        <p:nvPicPr>
          <p:cNvPr id="6" name="09_chokepoints.png" descr="/home/user/MT6102/charts_deck/09_chokepoints.png"/>
          <p:cNvPicPr>
            <a:picLocks noChangeAspect="1"/>
          </p:cNvPicPr>
          <p:nvPr/>
        </p:nvPicPr>
        <p:blipFill>
          <a:blip r:embed="rId4"/>
          <a:srcRect/>
          <a:stretch/>
        </p:blipFill>
        <p:spPr>
          <a:xfrm>
            <a:off x="6172200" y="1463040"/>
            <a:ext cx="5486400" cy="2240280"/>
          </a:xfrm>
          <a:prstGeom prst="rect">
            <a:avLst/>
          </a:prstGeom>
        </p:spPr>
      </p:pic>
      <p:pic>
        <p:nvPicPr>
          <p:cNvPr id="7" name="10_sanctioned_fleet.png" descr="/home/user/MT6102/charts_deck/10_sanctioned_fleet.png"/>
          <p:cNvPicPr>
            <a:picLocks noChangeAspect="1"/>
          </p:cNvPicPr>
          <p:nvPr/>
        </p:nvPicPr>
        <p:blipFill>
          <a:blip r:embed="rId5"/>
          <a:srcRect/>
          <a:stretch/>
        </p:blipFill>
        <p:spPr>
          <a:xfrm>
            <a:off x="502920" y="3794760"/>
            <a:ext cx="5486400" cy="2240280"/>
          </a:xfrm>
          <a:prstGeom prst="rect">
            <a:avLst/>
          </a:prstGeom>
        </p:spPr>
      </p:pic>
      <p:pic>
        <p:nvPicPr>
          <p:cNvPr id="8" name="04_fleet_growth.png" descr="/home/user/MT6102/charts_deck/04_fleet_growth.png"/>
          <p:cNvPicPr>
            <a:picLocks noChangeAspect="1"/>
          </p:cNvPicPr>
          <p:nvPr/>
        </p:nvPicPr>
        <p:blipFill>
          <a:blip r:embed="rId6"/>
          <a:srcRect/>
          <a:stretch/>
        </p:blipFill>
        <p:spPr>
          <a:xfrm>
            <a:off x="6172200" y="3794760"/>
            <a:ext cx="5486400" cy="2240280"/>
          </a:xfrm>
          <a:prstGeom prst="rect">
            <a:avLst/>
          </a:prstGeom>
        </p:spPr>
      </p:pic>
      <p:sp>
        <p:nvSpPr>
          <p:cNvPr id="25" name="Slide Number Placeholder 0"/>
          <p:cNvSpPr>
            <a:spLocks noGrp="1"/>
          </p:cNvSpPr>
          <p:nvPr>
            <p:ph type="sldNum" sz="quarter" idx="4294967295"/>
          </p:nvPr>
        </p:nvSpPr>
        <p:spPr>
          <a:xfrm>
            <a:off x="11247120" y="6473952"/>
            <a:ext cx="45720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5A6472"/>
                </a:solidFill>
                <a:latin typeface="Calibri"/>
                <a:ea typeface="Calibri"/>
                <a:cs typeface="Calibri"/>
              </a:defRPr>
            </a:lvl1pPr>
          </a:lstStyle>
          <a:p>
            <a:pPr algn="r"/>
            <a:fld id="{F7021451-1387-4CA6-816F-3879F97B5CBC}" type="slidenum">
              <a:rPr lang="en-US" b="0"/>
              <a:t>35</a:t>
            </a:fld>
            <a:endParaRPr lang="en-US"/>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1.6}"/>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356.4,&quot;left&quot;:626.4,&quot;top&quot;:115.2,&quot;width&quot;:296.75}"/>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2.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3.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4.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5.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6.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ags/tag27.xml><?xml version="1.0" encoding="utf-8"?>
<p:tagLst xmlns:a="http://schemas.openxmlformats.org/drawingml/2006/main" xmlns:r="http://schemas.openxmlformats.org/officeDocument/2006/relationships" xmlns:p="http://schemas.openxmlformats.org/presentationml/2006/main">
  <p:tag name="KSO_WM_DIAGRAM_VIRTUALLY_FRAME" val="{&quot;height&quot;:324,&quot;left&quot;:507.6,&quot;top&quot;:144,&quot;width&quot;:410.4}"/>
</p:tagLst>
</file>

<file path=ppt/theme/theme1.xml><?xml version="1.0" encoding="utf-8"?>
<a:theme xmlns:a="http://schemas.openxmlformats.org/drawingml/2006/main" name="MT6102 Proposal">
  <a:themeElements>
    <a:clrScheme name="MT6102 Proposal">
      <a:dk1>
        <a:srgbClr val="1A2433"/>
      </a:dk1>
      <a:lt1>
        <a:srgbClr val="FFFFFF"/>
      </a:lt1>
      <a:dk2>
        <a:srgbClr val="142B4F"/>
      </a:dk2>
      <a:lt2>
        <a:srgbClr val="EEF3FA"/>
      </a:lt2>
      <a:accent1>
        <a:srgbClr val="142B4F"/>
      </a:accent1>
      <a:accent2>
        <a:srgbClr val="C8102E"/>
      </a:accent2>
      <a:accent3>
        <a:srgbClr val="4A6FA5"/>
      </a:accent3>
      <a:accent4>
        <a:srgbClr val="9FB6D9"/>
      </a:accent4>
      <a:accent5>
        <a:srgbClr val="5A6472"/>
      </a:accent5>
      <a:accent6>
        <a:srgbClr val="C9D6EA"/>
      </a:accent6>
      <a:hlink>
        <a:srgbClr val="4A6FA5"/>
      </a:hlink>
      <a:folHlink>
        <a:srgbClr val="5A6472"/>
      </a:folHlink>
    </a:clrScheme>
    <a:fontScheme name="MT6102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9463</Words>
  <Application>Microsoft Office PowerPoint</Application>
  <PresentationFormat>宽屏</PresentationFormat>
  <Paragraphs>1392</Paragraphs>
  <Slides>35</Slides>
  <Notes>35</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35</vt:i4>
      </vt:variant>
    </vt:vector>
  </HeadingPairs>
  <TitlesOfParts>
    <vt:vector size="39" baseType="lpstr">
      <vt:lpstr>Arial</vt:lpstr>
      <vt:lpstr>Calibri</vt:lpstr>
      <vt:lpstr>Cambria</vt:lpstr>
      <vt:lpstr>MT6102 Proposal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USD 250 Million Shipping Investment Proposal</dc:title>
  <dc:subject>PptxGenJS Presentation</dc:subject>
  <dc:creator>MT6102 Group</dc:creator>
  <cp:lastModifiedBy>#LIU ZHANMING#</cp:lastModifiedBy>
  <cp:revision>2</cp:revision>
  <dcterms:created xsi:type="dcterms:W3CDTF">2026-10-18T06:47:12Z</dcterms:created>
  <dcterms:modified xsi:type="dcterms:W3CDTF">2026-10-18T13:15:22Z</dcterms:modified>
</cp:coreProperties>
</file>